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8" r:id="rId3"/>
    <p:sldId id="260" r:id="rId4"/>
    <p:sldId id="302" r:id="rId5"/>
    <p:sldId id="323" r:id="rId6"/>
    <p:sldId id="257" r:id="rId7"/>
    <p:sldId id="343" r:id="rId8"/>
    <p:sldId id="303" r:id="rId9"/>
    <p:sldId id="341" r:id="rId10"/>
    <p:sldId id="342" r:id="rId11"/>
    <p:sldId id="340" r:id="rId12"/>
    <p:sldId id="304" r:id="rId13"/>
    <p:sldId id="344" r:id="rId14"/>
    <p:sldId id="345" r:id="rId15"/>
    <p:sldId id="305" r:id="rId16"/>
    <p:sldId id="306" r:id="rId17"/>
    <p:sldId id="346" r:id="rId18"/>
    <p:sldId id="307" r:id="rId19"/>
    <p:sldId id="308" r:id="rId20"/>
    <p:sldId id="326" r:id="rId21"/>
    <p:sldId id="327" r:id="rId22"/>
    <p:sldId id="347" r:id="rId23"/>
    <p:sldId id="348" r:id="rId24"/>
    <p:sldId id="328" r:id="rId25"/>
    <p:sldId id="329" r:id="rId26"/>
    <p:sldId id="349" r:id="rId27"/>
    <p:sldId id="350" r:id="rId28"/>
    <p:sldId id="264" r:id="rId29"/>
    <p:sldId id="311" r:id="rId30"/>
    <p:sldId id="351" r:id="rId31"/>
    <p:sldId id="352" r:id="rId32"/>
    <p:sldId id="353" r:id="rId33"/>
    <p:sldId id="312" r:id="rId34"/>
    <p:sldId id="354" r:id="rId35"/>
    <p:sldId id="355" r:id="rId36"/>
    <p:sldId id="356" r:id="rId37"/>
    <p:sldId id="321" r:id="rId38"/>
    <p:sldId id="315" r:id="rId39"/>
    <p:sldId id="314" r:id="rId40"/>
    <p:sldId id="357" r:id="rId41"/>
    <p:sldId id="358" r:id="rId42"/>
    <p:sldId id="322" r:id="rId43"/>
    <p:sldId id="334" r:id="rId44"/>
    <p:sldId id="335" r:id="rId45"/>
    <p:sldId id="336" r:id="rId46"/>
    <p:sldId id="337" r:id="rId47"/>
    <p:sldId id="359" r:id="rId48"/>
    <p:sldId id="360" r:id="rId49"/>
    <p:sldId id="362" r:id="rId50"/>
    <p:sldId id="361" r:id="rId51"/>
    <p:sldId id="339" r:id="rId52"/>
    <p:sldId id="296" r:id="rId53"/>
    <p:sldId id="338" r:id="rId54"/>
    <p:sldId id="324" r:id="rId55"/>
    <p:sldId id="363" r:id="rId56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201"/>
    <p:restoredTop sz="94133"/>
  </p:normalViewPr>
  <p:slideViewPr>
    <p:cSldViewPr snapToGrid="0">
      <p:cViewPr>
        <p:scale>
          <a:sx n="96" d="100"/>
          <a:sy n="96" d="100"/>
        </p:scale>
        <p:origin x="344" y="8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F4BB44-11A7-F84B-9744-370DE8E94370}" type="datetimeFigureOut">
              <a:rPr lang="en-CN" smtClean="0"/>
              <a:t>2026/10/18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9225A2-F9FD-7A49-8EA5-2212CD68B0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81978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225A2-F9FD-7A49-8EA5-2212CD68B0DE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24851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BDC21-DA0D-6D0C-F0F5-9569E621A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05883C-A866-1E84-8D68-0D1FB55FE9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A5E714-C17B-5AFF-CEE4-179580CB3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1C95F-94EB-9661-CF86-D28F2BCCDA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225A2-F9FD-7A49-8EA5-2212CD68B0DE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38482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FA4CE-A453-8638-D041-3352B8E17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301731-C58D-4BFD-C6A7-594897584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7E0196-7E4E-625F-6AE8-91157E512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9E0D6-F2FE-264D-631B-35D78D3378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225A2-F9FD-7A49-8EA5-2212CD68B0DE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6339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006143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4D6EC-E2F6-13CC-18DF-632767C7E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95222C-AF00-5CCD-D9D6-5F984FDD4B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F30058-1D60-32A7-9B11-866FA42DC7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47125-136E-B168-81E2-3CD93CD54E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858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784159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7A4BF-3B7A-D1F5-A0C3-38C999C7C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A3BEB6-E0CF-8C34-4D90-4E63C57F35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8360BF-ABD3-3415-D699-C5B0B17A4B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E56B1-AA74-B6A8-2730-F670F2C647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338526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906533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38A2D-5C4B-9A58-6EBF-96DDB71BE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183143-876B-A9FD-E3FA-F620C60A73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2C2092-C4B6-0EB2-D023-7F2D571A1B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36883-463B-F78A-0A29-DE148E2374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209769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E000C-9B58-FF5B-3BF9-DBE2BABD9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6AA416-0FCB-5AD0-B2AF-55906C4D31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B8733C-5E85-0DE3-047D-A9BB05377B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1894B-05BD-2F65-E4FF-BF55B92B34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338411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36CD9-366F-D746-1D7A-BBFB5A37B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AF6E71-A05D-79D0-8FCC-725A924B43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3A3D48-B042-7EF7-FB56-DDC2D3F080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65B00-6C3B-BDAA-42D3-99C12B59F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569040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639383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28DE0-B9E9-2BA3-0D76-5DA302AB8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97C7C1-F390-113E-1AA9-CDCA5CA75E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FB2460-781B-0839-E269-DDAC57E9BE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FFEA9-FFF5-3F84-9155-E4FA2B7E3C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892160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C7BBE-098A-246C-6843-70618B098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B28131-7CFF-5C4B-BFF8-4C4ACD8D4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94C765-83AF-B4ED-2063-25ED683F2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93D93-9AA5-1BDB-5A33-E111CD3A9A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225A2-F9FD-7A49-8EA5-2212CD68B0DE}" type="slidenum">
              <a:rPr lang="en-CN" smtClean="0"/>
              <a:t>14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031317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815012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000285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CF340-9239-AA35-9966-7D6FB4158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8BF60C-376A-F189-9F39-5F05EE72B6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B4CCCA-3D6E-662B-A735-36D6D73840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0AB2C-52FE-98BE-EFB6-162AF32D73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963248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896994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605967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A4DFA-41C7-724D-BF87-0689C0E02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A0E2BB-5738-CC10-1529-BA94A29ECD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6139BC-299C-D7DA-6764-6820B73510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8E6BA1-E2CE-4BD9-E4D5-E62718E98A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635184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CAA15-F7BB-D19B-88D9-3066EAF20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9B0837-60A1-5A67-5D92-ABEC4E2D42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7F3DD7-E4DB-E915-A734-8F68003A8E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DE241-0EED-F91D-1111-F01A9A57B2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956091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81128-740C-A231-5319-A83A49632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7FB019-8B05-13E4-645F-FAC1BA8A4F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36BDF-4544-3916-ECE0-7391725803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1A15B-6534-CC98-766A-2C176882AE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772300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21E92-E6F6-A89A-14F1-2B288BB6A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C0A35-D5AD-EACB-2DB6-37A2C59D04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66071-AF0B-7309-5131-B2E857DCF4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ECA4E-C5A8-59A7-98D2-C8761404C0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626940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DDDFA-D23C-3A4F-9787-AF31F2692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B0ED39-03E3-B713-15A4-A703A8E929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7806F5-D9A8-21A4-35BD-137A2F5570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50D75-04A2-FF06-3B6D-8B4F3EBA32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972457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DAD89-3980-349D-E4BF-6E90F5DB9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170052-DAC9-7C3C-8249-996CE723D4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22A034-329A-9DC4-AF6D-D55E6B4D9A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6EDFB-AD6E-0E1A-B1B5-7C12DF3F8F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781829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9ED93-2C08-E23C-805E-34F4F5F3A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694439-51E5-24F8-A9E5-169120EA2E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930005-6769-D428-4209-55B0DBC1DE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7F644-2944-2A3F-9E87-FFCB152966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351354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8772E-42AD-C2A0-D562-03860951D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2038E0-CE07-72D3-E8FD-8A845B79DD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6A8C-4CF1-4E4D-6B2E-CCBD75EB7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5CE52-1A2F-5621-B844-F8E6E669EA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946011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289200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637139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76FEA-B282-AC3E-80A7-1005B5CBA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DC0FE9-B591-4FE4-BBC9-5FCA32CBE5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E50F64-E214-A1F9-6A99-7EFA0912C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4F046-8196-1F18-6AC5-63F131EEAC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449843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CB6E2-A304-B7F0-D784-13AE2ACB8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6A25ED-C24F-038B-71FD-82B92C28F0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A1FA00-3417-B495-1C96-D554085883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F30BB-10DF-9A8D-BDC4-858522FE36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300173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A568D-EC49-007C-2E46-A66539CB7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830B80-7164-60C6-71B3-03FA643ECD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91D05C-3879-452A-EE28-CC3D6EA5B5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29EF2-0F39-4F99-BEBB-65292529A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491015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928861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863ED-E8D9-8548-AD84-EB4378B50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ED414F-E48F-6C55-E872-3E3AC6BD86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52304-6E50-CCCE-56BE-E1F737E45B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1EA30-9371-D1A5-ED44-312B27DD57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014823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93E26-09AE-0DE5-7937-EE681A9FB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B59C88-3D77-647E-BD19-A6586C4FAC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274B30-57C1-1820-B18D-F1556497C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FC933-065B-6D45-F361-D9E35AD28C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059083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B1BC1-09E1-F639-AE99-0EB2DF29C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99C5C-2074-9420-470A-76FA42DE0E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BF51A3-A939-CFDE-5EB7-0ACA549C1D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6443A-8BA4-893E-1156-6741892196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7160872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3B34F-2D30-CE8B-3CE5-8A3A2B8E7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5FA6E5-0D26-76FD-92EB-63274BD4BB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810A87-DF91-6369-9927-D7628C966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BDB78-C956-BC13-D3F2-87FF8E0B6A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0161620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5441532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291145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594B0-DC8E-6452-9364-82DB557F8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9439B9-45F9-B73E-C2DB-3DA990FB30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F21B14-310C-73E7-8437-2A5A6CA235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73887-8285-6F00-CAC8-264B9FF661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6019589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EEBAB-1EF3-441E-4BF7-E3382EDB9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593195-2FE4-A76C-0532-C434AD3543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4E50F2-AF52-4E13-CA43-C0137668C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B4DBF-E4D1-81AE-58BD-0A68877AAB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4255475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40EDA-C1CC-67FE-820E-95C933F0B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ABF05F-7158-15CE-5D7B-A81CFA50DC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045595-CB9A-98F1-5C6E-3E7D8ECDE6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8CC1D-0017-23E4-4A89-218622A7C0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0747871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BC8AD-E886-3D3E-2AFA-09A7EF9F7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2C7A41-9661-30A1-0130-81CF5E3496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B591C4-B014-EF08-C08A-5346DFE0D9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E4D58-2BD6-A310-CED0-F0BEDAE9F2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4615400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8509C-CD40-8C57-8389-3727D5819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8D820A-9D28-2B16-6E4C-CBF8AB72D9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24B885-04AE-1941-E96C-696CAF72E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763921-7D19-B124-F2E9-A94D878E0B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2918805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FAE61-EA7D-D913-6B94-AB1E85D07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120578-7F14-A5AE-7CE2-56F599776E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2DBABB-022D-BE71-81B4-BA2880163C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ABFC0-72A6-AEC2-1F7B-616611F35E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7923483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1DB39-02F4-D3D3-7DC0-CDF7B569D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28B58C-2900-2914-8188-9CAD07F1D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87F12-0F4F-42F8-4EBE-0AE2E7BE8D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3CE21-2BE7-5623-DC41-032E4BAF15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2665052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60F24-BA37-768F-94FE-17B22D392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396D35-C23C-28F5-A8AE-D81EC1DAE1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30D3B7-D581-D281-CE24-1D25852185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C1151-D859-FBB8-BB1A-3ADDD57760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7365156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7833F-17F4-FAD8-705B-9F8A5C65C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F8C444-220E-608A-8BA2-E5DE849705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90A4FB-16DF-B8D6-28BC-A375DFA431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A54B7-7CF0-A24B-629A-20EDF89754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9285180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A7120-62BE-0830-7368-9906BCFEA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BCEE0D-8E58-671A-B159-E0382222F6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4F5A32-F66E-7EE7-8628-4BB31B555A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63D09-D443-D8A5-34EF-30043866D2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8426055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E5D45-48CE-F901-93E1-04C3C8A7D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FB9A5-6770-96DF-B824-494C2798C3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DCD4E3-D8AC-A4CD-19FF-806698327C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65C51-AB9D-3EA1-E9D1-676FC457A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3078882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4386B-A2F2-6FFE-DC93-1CB8CB81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A8B6D6-6117-8247-758A-37A0ADE58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579041-FB03-41C1-4F2D-54B34F2F9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C0976-731D-2C33-B9B4-8FEC48EB24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225A2-F9FD-7A49-8EA5-2212CD68B0DE}" type="slidenum">
              <a:rPr lang="en-CN" smtClean="0"/>
              <a:t>51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4455401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877B5-4112-ABE7-8C22-CF2BC68C4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B6A4F0-8FD5-DBCC-579C-BAFF70A5F4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9530FF-1B8A-3BFA-98E2-8A3C427344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BEFA5-846F-2CC5-2881-CF2BB90B4B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225A2-F9FD-7A49-8EA5-2212CD68B0DE}" type="slidenum">
              <a:rPr lang="en-CN" smtClean="0"/>
              <a:t>52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8141673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407EA-0089-EAEE-1771-A489CCEB3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27884E-46B5-9F56-0D64-84772131C1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5B48D4-0201-4032-7C20-085A9406B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EC4D3-27B6-9C5B-C6D9-A35A52F63E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225A2-F9FD-7A49-8EA5-2212CD68B0DE}" type="slidenum">
              <a:rPr lang="en-CN" smtClean="0"/>
              <a:t>53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9266811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2EEDB-8C7B-ECA8-0C0B-5DA184FA8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887CE7-5979-E5B3-64A3-C0C290DFCD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3A351E-8394-A764-953B-881DB9FF3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A5249-8F7B-40AB-F167-A218616739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225A2-F9FD-7A49-8EA5-2212CD68B0DE}" type="slidenum">
              <a:rPr lang="en-CN" smtClean="0"/>
              <a:t>54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2335717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57C4F-157B-409E-6314-E7FED1432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F3144A-987A-F154-2338-35428297D4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5FA140-2C64-BA04-C29F-E4FA15016F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1F8CA-D1EB-28A9-1491-1D538B10A2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91797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CD2F9-03D6-E66C-8E5B-E43D938AE1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07541C-2F8B-7982-7846-CB4799251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FA802-48E6-716F-1560-259F63BE5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76322-31B3-7044-9796-7DA918A776A5}" type="datetimeFigureOut">
              <a:rPr lang="en-CN" smtClean="0"/>
              <a:t>2026/10/18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2F863-DDEF-20F8-AAC6-9F12309A2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99AEF-D041-D469-D674-CA959C36D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A5B3-C2B3-FF4B-9169-1FECE2B7B6D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48965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7EB75-AA11-A1C8-79FC-21F875DB5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1FF17-DEAF-46CB-BEE3-EB045B838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9D4E3-CF76-65F4-14DF-5C70D7376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76322-31B3-7044-9796-7DA918A776A5}" type="datetimeFigureOut">
              <a:rPr lang="en-CN" smtClean="0"/>
              <a:t>2026/10/18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FE62C-CB77-FC42-E41E-F1723FC2E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96FB7-FA4F-F1F7-A3ED-F4D29DBDF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A5B3-C2B3-FF4B-9169-1FECE2B7B6D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57111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A365B-C17E-105A-AEC9-3FE8BF770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7A6E8-0B98-BEE3-745C-15AEFAA3B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322A6-4C3A-037D-24FE-1DB62DCAD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76322-31B3-7044-9796-7DA918A776A5}" type="datetimeFigureOut">
              <a:rPr lang="en-CN" smtClean="0"/>
              <a:t>2026/10/18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988AA-AAE2-26BC-D129-E7B4532E1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DB0FB-3114-3507-96AB-0F6B5E8C0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A5B3-C2B3-FF4B-9169-1FECE2B7B6D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74940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274A6-64BC-7EA0-73F0-4A2324492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B2AD3-F8EE-2AFC-0509-3F2D1FBF35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84F171-1061-A67E-FEB0-2D847B5055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924580-C3A9-1EF0-B8DA-2582BFEC2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76322-31B3-7044-9796-7DA918A776A5}" type="datetimeFigureOut">
              <a:rPr lang="en-CN" smtClean="0"/>
              <a:t>2026/10/18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115CF4-3591-860F-F2CA-D3092620C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2FB6-557C-44FB-C7EF-3CB500EFA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A5B3-C2B3-FF4B-9169-1FECE2B7B6D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55093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582B4-5CB7-745E-A2A0-0B7B9998D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C89B4-85E7-DCB5-E4C2-865BE258C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A0EADF-4B02-CA92-2634-9B45D8D91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B740D8-FFE4-EE5E-F496-310916D968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064368-9049-86F6-4EA0-C39D93856B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045C85-D83B-A63B-784F-DAB1A9352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76322-31B3-7044-9796-7DA918A776A5}" type="datetimeFigureOut">
              <a:rPr lang="en-CN" smtClean="0"/>
              <a:t>2026/10/18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62407E-789E-67F4-BFF3-D74F8FBB9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2DC206-878D-C35F-8B40-80B2D6E70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A5B3-C2B3-FF4B-9169-1FECE2B7B6D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99406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720D6-6003-A439-8641-51C6DE8F8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544CB9-2669-0BA7-4BA6-D44AE2AFB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76322-31B3-7044-9796-7DA918A776A5}" type="datetimeFigureOut">
              <a:rPr lang="en-CN" smtClean="0"/>
              <a:t>2026/10/18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FA2402-58A2-B5BA-D0D6-0F4859E74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AD26B5-3801-4C5F-8DE2-43F70A67F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A5B3-C2B3-FF4B-9169-1FECE2B7B6D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57255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C92AF8-5C3F-3ECE-CEF4-58A0F010C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76322-31B3-7044-9796-7DA918A776A5}" type="datetimeFigureOut">
              <a:rPr lang="en-CN" smtClean="0"/>
              <a:t>2026/10/18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0C1A9B-4639-1F0C-C49F-0E5DC2241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AA2A8-49FA-6327-B767-4A6E37CFB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A5B3-C2B3-FF4B-9169-1FECE2B7B6D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357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5C5DA-A2A1-D6D0-13E7-5D001CA31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A8D61-EA6B-D72B-65B5-064B9B00F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E4F61-DD2B-26A2-902F-6B821DD98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AFFD6-855A-85A2-28C4-981C30B2A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76322-31B3-7044-9796-7DA918A776A5}" type="datetimeFigureOut">
              <a:rPr lang="en-CN" smtClean="0"/>
              <a:t>2026/10/18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FC87B3-5406-8DCE-7F0C-141286F0B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8ED106-B876-C6A6-FEC7-C54E8528B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A5B3-C2B3-FF4B-9169-1FECE2B7B6D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97100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BC0D-1DAB-1E1B-C4EE-06239D209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32833E-4B75-E239-8050-162B767BA3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D8299C-A4EC-95F9-1067-1C22568F8E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7995A8-C9C3-436F-4FB9-F5F1FDEF0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76322-31B3-7044-9796-7DA918A776A5}" type="datetimeFigureOut">
              <a:rPr lang="en-CN" smtClean="0"/>
              <a:t>2026/10/18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A7EBD-A986-D77D-2423-F7C57F8B6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6DF881-7440-6A51-CF41-9FBB84040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A5B3-C2B3-FF4B-9169-1FECE2B7B6D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0305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8E3FB-9AD6-985B-70B1-11ECA5AA2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C47CCA-2310-296A-7F17-413A7F550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8CA2B-E822-14ED-3936-AD742782D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76322-31B3-7044-9796-7DA918A776A5}" type="datetimeFigureOut">
              <a:rPr lang="en-CN" smtClean="0"/>
              <a:t>2026/10/18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FB79A-A2B4-55B2-8BE2-5B39F6432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02BB7-74B7-B423-5BDF-6680B4BCE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A5B3-C2B3-FF4B-9169-1FECE2B7B6D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1545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F24440-AD25-4586-7BC8-3EAFD5D93E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E9EACD-90C5-0178-C1F3-9FEC9F2D98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C4E9D-84DF-5B86-C1E8-34D154B02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76322-31B3-7044-9796-7DA918A776A5}" type="datetimeFigureOut">
              <a:rPr lang="en-CN" smtClean="0"/>
              <a:t>2026/10/18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B3FA0-92DE-CF0A-6292-B71DC1653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50233-CF5A-0A0F-9FE5-E36B0A887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A5B3-C2B3-FF4B-9169-1FECE2B7B6D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496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20F8F0-7F65-A5A9-BE23-4AF060E1C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单击编辑母版标题样式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FE508-51CD-3279-3792-DDA4EB1B1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93BBC-08A8-7670-99FC-76F4454E6C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1pPr>
          </a:lstStyle>
          <a:p>
            <a:fld id="{64176322-31B3-7044-9796-7DA918A776A5}" type="datetimeFigureOut">
              <a:rPr lang="en-CN" smtClean="0"/>
              <a:pPr/>
              <a:t>2026/10/18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B7471-123B-2C7C-ED33-76A7FA760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B09B2-1639-FDF0-E76B-4035EF0ABC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1pPr>
          </a:lstStyle>
          <a:p>
            <a:fld id="{734FA5B3-C2B3-FF4B-9169-1FECE2B7B6DC}" type="slidenum">
              <a:rPr lang="en-CN" smtClean="0"/>
              <a:pPr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6923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baseline="0">
          <a:solidFill>
            <a:schemeClr val="tx1"/>
          </a:solidFill>
          <a:latin typeface="Arial" panose="020B0604020202020204" pitchFamily="34" charset="0"/>
          <a:ea typeface="Microsoft YaHei UI" panose="020B0503020204020204" pitchFamily="34" charset="-122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Microsoft YaHei UI" panose="020B0503020204020204" pitchFamily="34" charset="-122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Microsoft YaHei UI" panose="020B0503020204020204" pitchFamily="34" charset="-122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Microsoft YaHei UI" panose="020B0503020204020204" pitchFamily="34" charset="-122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Microsoft YaHei UI" panose="020B0503020204020204" pitchFamily="34" charset="-122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Microsoft YaHei UI" panose="020B0503020204020204" pitchFamily="34" charset="-122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63BA796E-557D-5621-9219-43D1C9E04604}"/>
              </a:ext>
            </a:extLst>
          </p:cNvPr>
          <p:cNvSpPr txBox="1"/>
          <p:nvPr/>
        </p:nvSpPr>
        <p:spPr>
          <a:xfrm>
            <a:off x="901109" y="3136612"/>
            <a:ext cx="103897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StarryOS</a:t>
            </a:r>
            <a:r>
              <a:rPr lang="en-US" altLang="zh-CN" sz="3200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3200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的 </a:t>
            </a:r>
            <a:r>
              <a:rPr lang="en-US" altLang="zh-CN" sz="3200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perf </a:t>
            </a:r>
            <a:r>
              <a:rPr lang="zh-CN" altLang="en-US" sz="3200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支持</a:t>
            </a:r>
            <a:endParaRPr lang="en-US" sz="3200" dirty="0" err="1">
              <a:latin typeface="Arial" panose="020B0604020202020204" pitchFamily="34" charset="0"/>
              <a:ea typeface="Microsoft YaHei U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5B2E0D-69D4-8B75-A8E7-51538B36FADE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1</a:t>
            </a:r>
            <a:endParaRPr lang="en-CN" sz="1100" dirty="0">
              <a:latin typeface="Arial" panose="020B0604020202020204" pitchFamily="34" charset="0"/>
              <a:ea typeface="Microsoft YaHei U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416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8C76F-4401-9176-1C3C-F1F0794CB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73D381E-7324-A600-07AA-0DC72F5FCE07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StarryOS</a:t>
            </a:r>
            <a:r>
              <a:rPr lang="en-US" altLang="zh-CN" sz="3200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3200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与 </a:t>
            </a:r>
            <a:r>
              <a:rPr lang="en-US" altLang="zh-CN" sz="3200" dirty="0" err="1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ArceOS</a:t>
            </a:r>
            <a:endParaRPr lang="en-US" sz="3200" dirty="0">
              <a:latin typeface="Arial" panose="020B0604020202020204" pitchFamily="34" charset="0"/>
              <a:ea typeface="Microsoft YaHei U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621945-D834-F040-070E-647F2650CDBA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D6E528-D8AB-EB1A-7A6C-698C44F73B5F}"/>
              </a:ext>
            </a:extLst>
          </p:cNvPr>
          <p:cNvSpPr/>
          <p:nvPr/>
        </p:nvSpPr>
        <p:spPr>
          <a:xfrm>
            <a:off x="1818290" y="1555531"/>
            <a:ext cx="8429296" cy="7672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用户态程序：</a:t>
            </a:r>
            <a:r>
              <a:rPr lang="en-US" sz="2400" dirty="0"/>
              <a:t>perf、</a:t>
            </a:r>
            <a:r>
              <a:rPr lang="zh-CN" altLang="en-US" sz="2400" dirty="0"/>
              <a:t>机器人程序、</a:t>
            </a:r>
            <a:r>
              <a:rPr lang="en-US" sz="2400" dirty="0" err="1"/>
              <a:t>libc</a:t>
            </a:r>
            <a:endParaRPr lang="en-CN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3F71A0-90BF-F9B1-ABE3-64B321C207D8}"/>
              </a:ext>
            </a:extLst>
          </p:cNvPr>
          <p:cNvSpPr/>
          <p:nvPr/>
        </p:nvSpPr>
        <p:spPr>
          <a:xfrm>
            <a:off x="1818290" y="2648607"/>
            <a:ext cx="8429296" cy="7803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StarryOS：Linux</a:t>
            </a:r>
            <a:r>
              <a:rPr lang="en-US" sz="2400" dirty="0"/>
              <a:t> </a:t>
            </a:r>
            <a:r>
              <a:rPr lang="zh-CN" altLang="en-US" sz="2400" dirty="0"/>
              <a:t>系统调用、进程、地址空间</a:t>
            </a:r>
            <a:endParaRPr lang="en-CN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65985F-B084-E3A2-57C3-1978DF742597}"/>
              </a:ext>
            </a:extLst>
          </p:cNvPr>
          <p:cNvSpPr/>
          <p:nvPr/>
        </p:nvSpPr>
        <p:spPr>
          <a:xfrm>
            <a:off x="1818290" y="3741683"/>
            <a:ext cx="8429296" cy="7672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ArceOS</a:t>
            </a:r>
            <a:r>
              <a:rPr lang="en-US" sz="2400" dirty="0"/>
              <a:t>：</a:t>
            </a:r>
            <a:r>
              <a:rPr lang="zh-CN" altLang="en-US" sz="2400" dirty="0"/>
              <a:t>线程调度、内存管理、设备驱动</a:t>
            </a:r>
            <a:endParaRPr lang="en-CN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61CE5E-3F74-AF3D-FAA8-33277C01157D}"/>
              </a:ext>
            </a:extLst>
          </p:cNvPr>
          <p:cNvSpPr/>
          <p:nvPr/>
        </p:nvSpPr>
        <p:spPr>
          <a:xfrm>
            <a:off x="1818290" y="4824248"/>
            <a:ext cx="8429296" cy="7672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/>
              <a:t>RK3588：CPU、PMU、</a:t>
            </a:r>
            <a:r>
              <a:rPr lang="zh-CN" altLang="en-US" sz="2400" dirty="0"/>
              <a:t>中断控制器</a:t>
            </a:r>
            <a:endParaRPr lang="en-CN" sz="24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F5610A9-B25D-12A9-A41A-C9043E0D0BAD}"/>
              </a:ext>
            </a:extLst>
          </p:cNvPr>
          <p:cNvCxnSpPr>
            <a:stCxn id="2" idx="2"/>
            <a:endCxn id="3" idx="0"/>
          </p:cNvCxnSpPr>
          <p:nvPr/>
        </p:nvCxnSpPr>
        <p:spPr>
          <a:xfrm>
            <a:off x="6032938" y="2322786"/>
            <a:ext cx="0" cy="325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A828C57-B15E-6B09-76EB-B2C26C85DCD5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6032938" y="3429000"/>
            <a:ext cx="0" cy="312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75065B-5042-50C2-27D0-48285C91F013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6032938" y="4508938"/>
            <a:ext cx="0" cy="3153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857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DA577-5662-8609-4DFC-6FB208BA1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BCACC937-1AE1-0122-4FBB-25B13D910C10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测量流程</a:t>
            </a:r>
            <a:endParaRPr lang="en-US" altLang="zh-CN" sz="3200" dirty="0">
              <a:latin typeface="Arial" panose="020B0604020202020204" pitchFamily="34" charset="0"/>
              <a:ea typeface="Microsoft YaHei U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F16068-3A67-6084-3412-25AAB00CDEF1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0473F8-7C8D-DF8A-41C7-5F363C148245}"/>
              </a:ext>
            </a:extLst>
          </p:cNvPr>
          <p:cNvSpPr/>
          <p:nvPr/>
        </p:nvSpPr>
        <p:spPr>
          <a:xfrm>
            <a:off x="1930400" y="1666240"/>
            <a:ext cx="3556000" cy="863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被测程序 </a:t>
            </a:r>
            <a:r>
              <a:rPr lang="en-US" sz="2400" dirty="0"/>
              <a:t>walk</a:t>
            </a:r>
            <a:endParaRPr lang="en-CN" sz="2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9A0AA0-54EF-10C8-E35A-ABD345CFDE6E}"/>
              </a:ext>
            </a:extLst>
          </p:cNvPr>
          <p:cNvSpPr/>
          <p:nvPr/>
        </p:nvSpPr>
        <p:spPr>
          <a:xfrm>
            <a:off x="7010400" y="1666240"/>
            <a:ext cx="3556000" cy="863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perf stat / perf record</a:t>
            </a:r>
            <a:endParaRPr lang="en-CN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B7F555-71AA-60A5-5C36-CCD8B45AE7A6}"/>
              </a:ext>
            </a:extLst>
          </p:cNvPr>
          <p:cNvSpPr/>
          <p:nvPr/>
        </p:nvSpPr>
        <p:spPr>
          <a:xfrm>
            <a:off x="7010400" y="4104640"/>
            <a:ext cx="3556000" cy="863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内核 </a:t>
            </a:r>
            <a:r>
              <a:rPr lang="en-US" sz="2400" dirty="0" err="1"/>
              <a:t>perf_event</a:t>
            </a:r>
            <a:r>
              <a:rPr lang="en-US" sz="2400" dirty="0"/>
              <a:t> </a:t>
            </a:r>
            <a:r>
              <a:rPr lang="zh-CN" altLang="en-US" sz="2400" dirty="0"/>
              <a:t>子系统</a:t>
            </a:r>
            <a:endParaRPr lang="en-CN" sz="2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2BC0C2-3746-02B0-5A1F-48D94E4C4F3C}"/>
              </a:ext>
            </a:extLst>
          </p:cNvPr>
          <p:cNvSpPr/>
          <p:nvPr/>
        </p:nvSpPr>
        <p:spPr>
          <a:xfrm>
            <a:off x="1930400" y="4104640"/>
            <a:ext cx="3556000" cy="863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CPU </a:t>
            </a:r>
            <a:r>
              <a:rPr lang="zh-CN" altLang="en-US" sz="2400" dirty="0"/>
              <a:t>执行指令</a:t>
            </a:r>
          </a:p>
          <a:p>
            <a:pPr algn="ctr"/>
            <a:r>
              <a:rPr lang="en-US" sz="2400" dirty="0"/>
              <a:t>PMU </a:t>
            </a:r>
            <a:r>
              <a:rPr lang="zh-CN" altLang="en-US" sz="2400" dirty="0"/>
              <a:t>记录事件次数</a:t>
            </a:r>
            <a:endParaRPr lang="en-CN" sz="24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949F3D6-FBCB-C64A-6AB2-50F3340FBE24}"/>
              </a:ext>
            </a:extLst>
          </p:cNvPr>
          <p:cNvCxnSpPr>
            <a:stCxn id="9" idx="2"/>
            <a:endCxn id="16" idx="0"/>
          </p:cNvCxnSpPr>
          <p:nvPr/>
        </p:nvCxnSpPr>
        <p:spPr>
          <a:xfrm>
            <a:off x="3708400" y="2529840"/>
            <a:ext cx="0" cy="1574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E188F75-1695-AA22-A217-24CB23A4A8F3}"/>
              </a:ext>
            </a:extLst>
          </p:cNvPr>
          <p:cNvCxnSpPr/>
          <p:nvPr/>
        </p:nvCxnSpPr>
        <p:spPr>
          <a:xfrm>
            <a:off x="8128000" y="2529840"/>
            <a:ext cx="0" cy="1574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1184D92-A2AF-0111-3A50-545DC1914987}"/>
              </a:ext>
            </a:extLst>
          </p:cNvPr>
          <p:cNvCxnSpPr/>
          <p:nvPr/>
        </p:nvCxnSpPr>
        <p:spPr>
          <a:xfrm flipV="1">
            <a:off x="9702800" y="2529840"/>
            <a:ext cx="0" cy="1574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952C3FB-0DB6-8C61-F6A1-7CD4358A8E10}"/>
              </a:ext>
            </a:extLst>
          </p:cNvPr>
          <p:cNvCxnSpPr/>
          <p:nvPr/>
        </p:nvCxnSpPr>
        <p:spPr>
          <a:xfrm flipH="1">
            <a:off x="5486400" y="4409440"/>
            <a:ext cx="15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829D789-3E7B-B2AD-E4FE-345E1E7E8A9B}"/>
              </a:ext>
            </a:extLst>
          </p:cNvPr>
          <p:cNvCxnSpPr/>
          <p:nvPr/>
        </p:nvCxnSpPr>
        <p:spPr>
          <a:xfrm>
            <a:off x="5486400" y="4765040"/>
            <a:ext cx="15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3787519-40B2-DC30-D4E5-5CA8F7B8D196}"/>
              </a:ext>
            </a:extLst>
          </p:cNvPr>
          <p:cNvSpPr txBox="1"/>
          <p:nvPr/>
        </p:nvSpPr>
        <p:spPr>
          <a:xfrm>
            <a:off x="2082800" y="3159760"/>
            <a:ext cx="162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执行程序</a:t>
            </a:r>
            <a:endParaRPr lang="en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17AD3B-DA97-8271-6032-B96E9A7EA5B4}"/>
              </a:ext>
            </a:extLst>
          </p:cNvPr>
          <p:cNvSpPr txBox="1"/>
          <p:nvPr/>
        </p:nvSpPr>
        <p:spPr>
          <a:xfrm>
            <a:off x="5638800" y="2834640"/>
            <a:ext cx="2346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perf_event_open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创建事件</a:t>
            </a:r>
            <a:endParaRPr lang="en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83E67A6-AA72-7216-D1F7-ED7890DEA8F0}"/>
              </a:ext>
            </a:extLst>
          </p:cNvPr>
          <p:cNvSpPr txBox="1"/>
          <p:nvPr/>
        </p:nvSpPr>
        <p:spPr>
          <a:xfrm>
            <a:off x="9804400" y="3159760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read /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mmap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获取结果</a:t>
            </a:r>
            <a:endParaRPr lang="en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CEAA5E-9599-8054-6C58-3C2458E9EEC8}"/>
              </a:ext>
            </a:extLst>
          </p:cNvPr>
          <p:cNvSpPr txBox="1"/>
          <p:nvPr/>
        </p:nvSpPr>
        <p:spPr>
          <a:xfrm>
            <a:off x="5638800" y="4003040"/>
            <a:ext cx="127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配置事件</a:t>
            </a:r>
            <a:endParaRPr lang="en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F2A74D-B7E8-EC60-6649-104F36509D3B}"/>
              </a:ext>
            </a:extLst>
          </p:cNvPr>
          <p:cNvSpPr txBox="1"/>
          <p:nvPr/>
        </p:nvSpPr>
        <p:spPr>
          <a:xfrm>
            <a:off x="5638800" y="4765040"/>
            <a:ext cx="127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读取计数</a:t>
            </a:r>
            <a:endParaRPr lang="en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378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ea typeface="Microsoft YaHei UI"/>
                <a:cs typeface="Arial"/>
              </a:rPr>
              <a:t>访问顺序改变缓存行为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4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E0AE34-DA6B-7D03-90BC-A47C5C246112}"/>
              </a:ext>
            </a:extLst>
          </p:cNvPr>
          <p:cNvSpPr txBox="1"/>
          <p:nvPr/>
        </p:nvSpPr>
        <p:spPr>
          <a:xfrm>
            <a:off x="838200" y="1463040"/>
            <a:ext cx="10744200" cy="42934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1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#define N (</a:t>
            </a:r>
            <a:r>
              <a:rPr lang="en-US" altLang="zh-CN" sz="21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64u &lt;&lt; 20)</a:t>
            </a:r>
            <a:br>
              <a:rPr lang="en-US" altLang="zh-CN" sz="21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1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 </a:t>
            </a:r>
            <a:r>
              <a:rPr lang="en-US" altLang="zh-CN" sz="21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uint32_t a[N];</a:t>
            </a:r>
            <a:br>
              <a:rPr lang="en-US" altLang="zh-CN" sz="21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altLang="zh-CN" sz="21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1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__attribute__((</a:t>
            </a:r>
            <a:r>
              <a:rPr lang="en-US" altLang="zh-CN" sz="21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noipa</a:t>
            </a:r>
            <a:r>
              <a:rPr lang="en-US" altLang="zh-CN" sz="21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  <a:br>
              <a:rPr lang="en-US" altLang="zh-CN" sz="21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1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 </a:t>
            </a:r>
            <a:r>
              <a:rPr lang="en-US" altLang="zh-CN" sz="21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uint64_t </a:t>
            </a:r>
            <a:r>
              <a:rPr lang="en-US" altLang="zh-CN" sz="21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walk(</a:t>
            </a:r>
            <a:r>
              <a:rPr lang="en-US" altLang="zh-CN" sz="21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unsigned stride)</a:t>
            </a:r>
            <a:br>
              <a:rPr lang="en-US" altLang="zh-CN" sz="21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1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altLang="zh-CN" sz="21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1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uint64_t sum = </a:t>
            </a:r>
            <a:r>
              <a:rPr lang="en-US" altLang="zh-CN" sz="21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br>
              <a:rPr lang="en-US" altLang="zh-CN" sz="21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1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sz="21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en-US" altLang="zh-CN" sz="21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unsigned offset = </a:t>
            </a:r>
            <a:r>
              <a:rPr lang="en-US" altLang="zh-CN" sz="21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 offset &lt; stride; ++offset)</a:t>
            </a:r>
            <a:r>
              <a:rPr lang="zh-CN" altLang="en-US" sz="21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1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altLang="zh-CN" sz="21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1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-US" altLang="zh-CN" sz="21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en-US" altLang="zh-CN" sz="21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unsigned </a:t>
            </a:r>
            <a:r>
              <a:rPr lang="en-US" altLang="zh-CN" sz="2100" b="0" i="0" u="none" strike="noStrike" baseline="0" dirty="0" err="1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21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offset; </a:t>
            </a:r>
            <a:r>
              <a:rPr lang="en-US" altLang="zh-CN" sz="2100" b="0" i="0" u="none" strike="noStrike" baseline="0" dirty="0" err="1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21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N; </a:t>
            </a:r>
            <a:r>
              <a:rPr lang="en-US" altLang="zh-CN" sz="2100" b="0" i="0" u="none" strike="noStrike" baseline="0" dirty="0" err="1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21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stride)</a:t>
            </a:r>
            <a:br>
              <a:rPr lang="en-US" altLang="zh-CN" sz="21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1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sum += a[</a:t>
            </a:r>
            <a:r>
              <a:rPr lang="en-US" altLang="zh-CN" sz="2100" b="0" i="0" u="none" strike="noStrike" baseline="0" dirty="0" err="1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21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zh-CN" altLang="en-US" sz="210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210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altLang="zh-CN" sz="21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1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sz="21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sum;</a:t>
            </a:r>
            <a:br>
              <a:rPr lang="en-US" altLang="zh-CN" sz="21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1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CN" sz="2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814EDE-B5BA-009B-F4DE-3C92134951B2}"/>
              </a:ext>
            </a:extLst>
          </p:cNvPr>
          <p:cNvSpPr txBox="1"/>
          <p:nvPr/>
        </p:nvSpPr>
        <p:spPr>
          <a:xfrm>
            <a:off x="838200" y="5721845"/>
            <a:ext cx="10744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./walk 1 8                  ./walk 16 8</a:t>
            </a:r>
            <a:endParaRPr lang="en-CN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057246-8073-341F-3B41-A66071C06A6F}"/>
              </a:ext>
            </a:extLst>
          </p:cNvPr>
          <p:cNvSpPr txBox="1"/>
          <p:nvPr/>
        </p:nvSpPr>
        <p:spPr>
          <a:xfrm>
            <a:off x="6096000" y="1717040"/>
            <a:ext cx="538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256 MiB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数组，每个元素占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 </a:t>
            </a:r>
            <a:r>
              <a:rPr 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</a:t>
            </a:r>
          </a:p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最后一个参数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8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表示遍历轮数</a:t>
            </a:r>
            <a:endParaRPr lang="en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3933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B5B79-BFC7-6D47-68FE-BB1C3299F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84F4B3-4D2D-A9DF-E74F-FFD4E0959C01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ea typeface="Microsoft YaHei UI"/>
                <a:cs typeface="Arial"/>
              </a:rPr>
              <a:t>访问顺序与缓存行复用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49BD7D-6B15-DB93-87E3-44C9FE921639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5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85C89-5969-19D6-8A5D-21F25040D6EC}"/>
              </a:ext>
            </a:extLst>
          </p:cNvPr>
          <p:cNvSpPr txBox="1"/>
          <p:nvPr/>
        </p:nvSpPr>
        <p:spPr>
          <a:xfrm>
            <a:off x="914400" y="1635760"/>
            <a:ext cx="1016000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stride = 1：</a:t>
            </a:r>
            <a:r>
              <a:rPr lang="zh-CN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依次读取同一缓存行中的 </a:t>
            </a:r>
            <a:r>
              <a:rPr lang="en-US" altLang="zh-CN" sz="2300" dirty="0">
                <a:latin typeface="Arial" panose="020B0604020202020204" pitchFamily="34" charset="0"/>
                <a:cs typeface="Arial" panose="020B0604020202020204" pitchFamily="34" charset="0"/>
              </a:rPr>
              <a:t>16 </a:t>
            </a:r>
            <a:r>
              <a:rPr lang="zh-CN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个元素</a:t>
            </a:r>
            <a:endParaRPr lang="en-CN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AF07D8-7C67-2ED7-6122-AF0D584C1179}"/>
              </a:ext>
            </a:extLst>
          </p:cNvPr>
          <p:cNvSpPr/>
          <p:nvPr/>
        </p:nvSpPr>
        <p:spPr>
          <a:xfrm>
            <a:off x="1117600" y="2275840"/>
            <a:ext cx="2997200" cy="76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a[0] … a[15]</a:t>
            </a:r>
            <a:endParaRPr lang="en-CN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302C67-D706-C7B8-E866-B3CD6CE42658}"/>
              </a:ext>
            </a:extLst>
          </p:cNvPr>
          <p:cNvSpPr/>
          <p:nvPr/>
        </p:nvSpPr>
        <p:spPr>
          <a:xfrm>
            <a:off x="4673600" y="2275840"/>
            <a:ext cx="2997200" cy="76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a[16] … a[31]</a:t>
            </a:r>
            <a:endParaRPr lang="en-CN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7F2607-D8ED-F851-D849-39A123E91DE8}"/>
              </a:ext>
            </a:extLst>
          </p:cNvPr>
          <p:cNvSpPr/>
          <p:nvPr/>
        </p:nvSpPr>
        <p:spPr>
          <a:xfrm>
            <a:off x="8229600" y="2275840"/>
            <a:ext cx="2998381" cy="76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a[32] … a[47]</a:t>
            </a:r>
            <a:endParaRPr lang="en-CN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7B4BB6-E72A-770B-ECDB-AE3D8FDFD357}"/>
              </a:ext>
            </a:extLst>
          </p:cNvPr>
          <p:cNvSpPr txBox="1"/>
          <p:nvPr/>
        </p:nvSpPr>
        <p:spPr>
          <a:xfrm>
            <a:off x="914400" y="3614528"/>
            <a:ext cx="1016000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stride = 16：</a:t>
            </a:r>
            <a:r>
              <a:rPr lang="zh-CN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本轮从每条缓存行读取一个元素</a:t>
            </a:r>
            <a:endParaRPr lang="en-CN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D160EE-04A1-609B-B46C-B80293C565CC}"/>
              </a:ext>
            </a:extLst>
          </p:cNvPr>
          <p:cNvSpPr/>
          <p:nvPr/>
        </p:nvSpPr>
        <p:spPr>
          <a:xfrm>
            <a:off x="1117600" y="4210656"/>
            <a:ext cx="2997200" cy="76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/>
              <a:t>a[0]</a:t>
            </a:r>
            <a:endParaRPr lang="en-CN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AA751F-59A9-1650-1792-522366F902C6}"/>
              </a:ext>
            </a:extLst>
          </p:cNvPr>
          <p:cNvSpPr/>
          <p:nvPr/>
        </p:nvSpPr>
        <p:spPr>
          <a:xfrm>
            <a:off x="4673600" y="4210656"/>
            <a:ext cx="2997200" cy="76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a[16]</a:t>
            </a:r>
            <a:endParaRPr lang="en-CN" sz="2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34955D-CE23-8A3B-F962-83E118A6F7F8}"/>
              </a:ext>
            </a:extLst>
          </p:cNvPr>
          <p:cNvSpPr/>
          <p:nvPr/>
        </p:nvSpPr>
        <p:spPr>
          <a:xfrm>
            <a:off x="8229600" y="4210656"/>
            <a:ext cx="2998381" cy="76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a[32]</a:t>
            </a:r>
            <a:endParaRPr lang="en-CN" sz="24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DAC74CA-4004-CDDA-E6E3-70AB65B0507C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4114800" y="265684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75825B4-8EC2-B6FE-A583-C8EF998FFBF5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7670800" y="265684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8F5073E-C7DC-05D1-D194-3BAED0A99EE5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114800" y="4591656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D01432-C2A0-5104-163A-F6A398A43AB4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7670800" y="4591656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468F58A-4261-9BE2-B564-22C766E5155C}"/>
              </a:ext>
            </a:extLst>
          </p:cNvPr>
          <p:cNvSpPr txBox="1"/>
          <p:nvPr/>
        </p:nvSpPr>
        <p:spPr>
          <a:xfrm>
            <a:off x="1016000" y="3037840"/>
            <a:ext cx="983984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900" dirty="0">
                <a:latin typeface="Arial" panose="020B0604020202020204" pitchFamily="34" charset="0"/>
                <a:cs typeface="Arial" panose="020B0604020202020204" pitchFamily="34" charset="0"/>
              </a:rPr>
              <a:t>每个方框表示一条 </a:t>
            </a:r>
            <a:r>
              <a:rPr lang="en-US" altLang="zh-CN" sz="1900" dirty="0">
                <a:latin typeface="Arial" panose="020B0604020202020204" pitchFamily="34" charset="0"/>
                <a:cs typeface="Arial" panose="020B0604020202020204" pitchFamily="34" charset="0"/>
              </a:rPr>
              <a:t>64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zh-CN" altLang="en-US" sz="1900" dirty="0">
                <a:latin typeface="Arial" panose="020B0604020202020204" pitchFamily="34" charset="0"/>
                <a:cs typeface="Arial" panose="020B0604020202020204" pitchFamily="34" charset="0"/>
              </a:rPr>
              <a:t>缓存行，可容纳 </a:t>
            </a:r>
            <a:r>
              <a:rPr lang="en-US" altLang="zh-CN" sz="1900" dirty="0">
                <a:latin typeface="Arial" panose="020B0604020202020204" pitchFamily="34" charset="0"/>
                <a:cs typeface="Arial" panose="020B0604020202020204" pitchFamily="34" charset="0"/>
              </a:rPr>
              <a:t>16 </a:t>
            </a:r>
            <a:r>
              <a:rPr lang="zh-CN" altLang="en-US" sz="1900" dirty="0">
                <a:latin typeface="Arial" panose="020B0604020202020204" pitchFamily="34" charset="0"/>
                <a:cs typeface="Arial" panose="020B0604020202020204" pitchFamily="34" charset="0"/>
              </a:rPr>
              <a:t>个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uint32_t </a:t>
            </a:r>
            <a:r>
              <a:rPr lang="zh-CN" altLang="en-US" sz="1900" dirty="0">
                <a:latin typeface="Arial" panose="020B0604020202020204" pitchFamily="34" charset="0"/>
                <a:cs typeface="Arial" panose="020B0604020202020204" pitchFamily="34" charset="0"/>
              </a:rPr>
              <a:t>元素</a:t>
            </a:r>
            <a:endParaRPr lang="en-CN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194B95-6E0C-C821-D62B-3946C799097E}"/>
              </a:ext>
            </a:extLst>
          </p:cNvPr>
          <p:cNvSpPr txBox="1"/>
          <p:nvPr/>
        </p:nvSpPr>
        <p:spPr>
          <a:xfrm>
            <a:off x="1016000" y="5323840"/>
            <a:ext cx="1046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下一轮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offset = 1：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读取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a[1]、a[17]、a[33]，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继续遍历整个数组</a:t>
            </a:r>
            <a:endParaRPr lang="en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028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ea typeface="Microsoft YaHei UI"/>
                <a:cs typeface="Arial"/>
              </a:rPr>
              <a:t>perf stat </a:t>
            </a:r>
            <a:r>
              <a:rPr lang="zh-CN" altLang="en-US" sz="3200" dirty="0">
                <a:ea typeface="Microsoft YaHei UI"/>
                <a:cs typeface="Arial"/>
              </a:rPr>
              <a:t>的计数结果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6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1480000"/>
            <a:ext cx="10512600" cy="11050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A6A6A6"/>
            </a:solidFill>
          </a:ln>
        </p:spPr>
        <p:txBody>
          <a:bodyPr wrap="square" lIns="90000" tIns="90000" rIns="90000" bIns="90000" anchor="t">
            <a:spAutoFit/>
          </a:bodyPr>
          <a:lstStyle/>
          <a:p>
            <a:r>
              <a:rPr lang="en-US" altLang="zh-CN" sz="2000" dirty="0" err="1">
                <a:latin typeface="Consolas" panose="020B0609020204030204" pitchFamily="49" charset="0"/>
                <a:ea typeface="Consolas"/>
                <a:cs typeface="Consolas" panose="020B0609020204030204" pitchFamily="49" charset="0"/>
              </a:rPr>
              <a:t>sudo</a:t>
            </a:r>
            <a:r>
              <a:rPr lang="en-US" altLang="zh-CN" sz="2000" dirty="0">
                <a:latin typeface="Consolas" panose="020B0609020204030204" pitchFamily="49" charset="0"/>
                <a:ea typeface="Consolas"/>
                <a:cs typeface="Consolas" panose="020B0609020204030204" pitchFamily="49" charset="0"/>
              </a:rPr>
              <a:t> perf stat -r 5 \</a:t>
            </a:r>
          </a:p>
          <a:p>
            <a:r>
              <a:rPr lang="en-US" altLang="zh-CN" sz="2000" dirty="0">
                <a:latin typeface="Consolas" panose="020B0609020204030204" pitchFamily="49" charset="0"/>
                <a:ea typeface="Consolas"/>
                <a:cs typeface="Consolas" panose="020B0609020204030204" pitchFamily="49" charset="0"/>
              </a:rPr>
              <a:t>    -e '{</a:t>
            </a:r>
            <a:r>
              <a:rPr lang="en-US" altLang="zh-CN" sz="2000" dirty="0" err="1">
                <a:latin typeface="Consolas" panose="020B0609020204030204" pitchFamily="49" charset="0"/>
                <a:ea typeface="Consolas"/>
                <a:cs typeface="Consolas" panose="020B0609020204030204" pitchFamily="49" charset="0"/>
              </a:rPr>
              <a:t>cycles:u,instructions:u,cache-misses:u</a:t>
            </a:r>
            <a:r>
              <a:rPr lang="en-US" altLang="zh-CN" sz="2000" dirty="0">
                <a:latin typeface="Consolas" panose="020B0609020204030204" pitchFamily="49" charset="0"/>
                <a:ea typeface="Consolas"/>
                <a:cs typeface="Consolas" panose="020B0609020204030204" pitchFamily="49" charset="0"/>
              </a:rPr>
              <a:t>}' \</a:t>
            </a:r>
          </a:p>
          <a:p>
            <a:r>
              <a:rPr lang="en-US" altLang="zh-CN" sz="2000" dirty="0">
                <a:latin typeface="Consolas" panose="020B0609020204030204" pitchFamily="49" charset="0"/>
                <a:ea typeface="Consolas"/>
                <a:cs typeface="Consolas" panose="020B0609020204030204" pitchFamily="49" charset="0"/>
              </a:rPr>
              <a:t>    taskset -c 0 ./walk 16 8</a:t>
            </a:r>
            <a:endParaRPr lang="zh-CN" altLang="en-US" sz="2000" b="0" dirty="0">
              <a:latin typeface="Consolas" panose="020B0609020204030204" pitchFamily="49" charset="0"/>
              <a:ea typeface="Consolas"/>
              <a:cs typeface="Consolas" panose="020B0609020204030204" pitchFamily="49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5E78F3E-6B5F-BF34-801A-C2372ED41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978129"/>
              </p:ext>
            </p:extLst>
          </p:nvPr>
        </p:nvGraphicFramePr>
        <p:xfrm>
          <a:off x="838200" y="3005666"/>
          <a:ext cx="10517373" cy="23723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05791">
                  <a:extLst>
                    <a:ext uri="{9D8B030D-6E8A-4147-A177-3AD203B41FA5}">
                      <a16:colId xmlns:a16="http://schemas.microsoft.com/office/drawing/2014/main" val="1976461144"/>
                    </a:ext>
                  </a:extLst>
                </a:gridCol>
                <a:gridCol w="3505791">
                  <a:extLst>
                    <a:ext uri="{9D8B030D-6E8A-4147-A177-3AD203B41FA5}">
                      <a16:colId xmlns:a16="http://schemas.microsoft.com/office/drawing/2014/main" val="3328740664"/>
                    </a:ext>
                  </a:extLst>
                </a:gridCol>
                <a:gridCol w="3505791">
                  <a:extLst>
                    <a:ext uri="{9D8B030D-6E8A-4147-A177-3AD203B41FA5}">
                      <a16:colId xmlns:a16="http://schemas.microsoft.com/office/drawing/2014/main" val="3799093311"/>
                    </a:ext>
                  </a:extLst>
                </a:gridCol>
              </a:tblGrid>
              <a:tr h="474467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指标</a:t>
                      </a:r>
                      <a:endParaRPr lang="en-CN" sz="240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stride = 1</a:t>
                      </a:r>
                      <a:endParaRPr lang="en-CN" sz="240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stride = 16</a:t>
                      </a:r>
                      <a:endParaRPr lang="en-CN" sz="240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716750"/>
                  </a:ext>
                </a:extLst>
              </a:tr>
              <a:tr h="474467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指令数</a:t>
                      </a:r>
                      <a:endParaRPr lang="en-CN" sz="240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3,557,062,375</a:t>
                      </a:r>
                      <a:endParaRPr lang="en-CN" sz="240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3,557,063,931</a:t>
                      </a:r>
                      <a:endParaRPr lang="en-CN" sz="240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137159"/>
                  </a:ext>
                </a:extLst>
              </a:tr>
              <a:tr h="474467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周期数</a:t>
                      </a:r>
                      <a:endParaRPr lang="en-CN" sz="240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893,555,122</a:t>
                      </a:r>
                      <a:endParaRPr lang="en-CN" sz="240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6,657,819,890</a:t>
                      </a:r>
                      <a:endParaRPr lang="en-CN" sz="240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4202385"/>
                  </a:ext>
                </a:extLst>
              </a:tr>
              <a:tr h="474467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cache-misses</a:t>
                      </a:r>
                      <a:endParaRPr lang="en-CN" sz="240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7,528,721</a:t>
                      </a:r>
                      <a:endParaRPr lang="en-CN" sz="240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424,897,797</a:t>
                      </a:r>
                      <a:endParaRPr lang="en-CN" sz="240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465388"/>
                  </a:ext>
                </a:extLst>
              </a:tr>
              <a:tr h="474467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耗时</a:t>
                      </a:r>
                      <a:endParaRPr lang="en-CN" sz="240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0.39843 </a:t>
                      </a:r>
                      <a:r>
                        <a:rPr lang="zh-CN" altLang="en-US" sz="240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秒</a:t>
                      </a:r>
                      <a:endParaRPr lang="en-CN" sz="240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2.6306 </a:t>
                      </a:r>
                      <a:r>
                        <a:rPr lang="zh-CN" altLang="en-US" sz="240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秒</a:t>
                      </a:r>
                      <a:endParaRPr lang="en-CN" sz="240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9785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7F27A6A-002D-9F2F-8EF4-3279D544DED6}"/>
              </a:ext>
            </a:extLst>
          </p:cNvPr>
          <p:cNvSpPr txBox="1"/>
          <p:nvPr/>
        </p:nvSpPr>
        <p:spPr>
          <a:xfrm>
            <a:off x="838800" y="5508000"/>
            <a:ext cx="1051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Xeon Gold 5318Y, Linux 6.12, CPU 0，</a:t>
            </a:r>
            <a:r>
              <a:rPr lang="zh-CN" altLang="en-US" dirty="0"/>
              <a:t>包括初始化及 </a:t>
            </a:r>
            <a:r>
              <a:rPr lang="en-US" altLang="zh-CN" dirty="0"/>
              <a:t>8 </a:t>
            </a:r>
            <a:r>
              <a:rPr lang="zh-CN" altLang="en-US" dirty="0"/>
              <a:t>轮遍历，取 </a:t>
            </a:r>
            <a:r>
              <a:rPr lang="en-US" altLang="zh-CN" dirty="0"/>
              <a:t>5 </a:t>
            </a:r>
            <a:r>
              <a:rPr lang="zh-CN" altLang="en-US" dirty="0"/>
              <a:t>次平均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246678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9CD7B-BC2D-43A5-80AB-1B906A844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E5C65F-889C-837A-F767-0E19C6140B37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7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7" name="从样本计算函数占比">
            <a:extLst>
              <a:ext uri="{FF2B5EF4-FFF2-40B4-BE49-F238E27FC236}">
                <a16:creationId xmlns:a16="http://schemas.microsoft.com/office/drawing/2014/main" id="{4CF93B04-D8ED-905C-69C4-2E4C76311533}"/>
              </a:ext>
            </a:extLst>
          </p:cNvPr>
          <p:cNvSpPr txBox="1"/>
          <p:nvPr/>
        </p:nvSpPr>
        <p:spPr>
          <a:xfrm>
            <a:off x="838800" y="684000"/>
            <a:ext cx="61009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/>
              <a:t>每个周期完成的指令数</a:t>
            </a:r>
            <a:endParaRPr lang="en-CN" sz="32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7B58735-E589-9D4B-CF02-FF4A17F7AA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444198"/>
              </p:ext>
            </p:extLst>
          </p:nvPr>
        </p:nvGraphicFramePr>
        <p:xfrm>
          <a:off x="838799" y="1656000"/>
          <a:ext cx="10512000" cy="18720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504000">
                  <a:extLst>
                    <a:ext uri="{9D8B030D-6E8A-4147-A177-3AD203B41FA5}">
                      <a16:colId xmlns:a16="http://schemas.microsoft.com/office/drawing/2014/main" val="364384588"/>
                    </a:ext>
                  </a:extLst>
                </a:gridCol>
                <a:gridCol w="3504000">
                  <a:extLst>
                    <a:ext uri="{9D8B030D-6E8A-4147-A177-3AD203B41FA5}">
                      <a16:colId xmlns:a16="http://schemas.microsoft.com/office/drawing/2014/main" val="393091911"/>
                    </a:ext>
                  </a:extLst>
                </a:gridCol>
                <a:gridCol w="3504000">
                  <a:extLst>
                    <a:ext uri="{9D8B030D-6E8A-4147-A177-3AD203B41FA5}">
                      <a16:colId xmlns:a16="http://schemas.microsoft.com/office/drawing/2014/main" val="3632215602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指标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stride = 1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stride = 16</a:t>
                      </a:r>
                      <a:endParaRPr lang="en-C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901162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指令数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N" sz="2000" dirty="0"/>
                        <a:t>3,557,062,375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N" sz="2000" dirty="0"/>
                        <a:t>3,557,063,931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944650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周期数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N" sz="2000" dirty="0"/>
                        <a:t>893,555,122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N" sz="2000" dirty="0"/>
                        <a:t>6,657,819,890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86153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2000" dirty="0"/>
                        <a:t>IPC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N" sz="2000" dirty="0"/>
                        <a:t>3.98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N" sz="2000" dirty="0"/>
                        <a:t>0.53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822529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DB14040-5F1E-65AE-46FB-76E5CCAC2600}"/>
              </a:ext>
            </a:extLst>
          </p:cNvPr>
          <p:cNvSpPr txBox="1"/>
          <p:nvPr/>
        </p:nvSpPr>
        <p:spPr>
          <a:xfrm>
            <a:off x="838200" y="4428000"/>
            <a:ext cx="107442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IPC = instructions ÷ cycles</a:t>
            </a:r>
          </a:p>
          <a:p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3,557,062,375 ÷ 893,555,122 = 3.98</a:t>
            </a:r>
          </a:p>
          <a:p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3,557,063,931 ÷ 6,657,819,890 = 0.53</a:t>
            </a:r>
            <a:endParaRPr lang="en-CN" sz="2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059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ea typeface="Microsoft YaHei UI"/>
                <a:cs typeface="Arial"/>
              </a:rPr>
              <a:t>perf record </a:t>
            </a:r>
            <a:r>
              <a:rPr lang="zh-CN" altLang="en-US" sz="3200" dirty="0">
                <a:ea typeface="Microsoft YaHei UI"/>
                <a:cs typeface="Arial"/>
              </a:rPr>
              <a:t>采集执行位置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8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832CF5-E682-29DF-EB78-DEAF4EF2A242}"/>
              </a:ext>
            </a:extLst>
          </p:cNvPr>
          <p:cNvSpPr txBox="1"/>
          <p:nvPr/>
        </p:nvSpPr>
        <p:spPr>
          <a:xfrm>
            <a:off x="838200" y="1483360"/>
            <a:ext cx="10744200" cy="11079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sudo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perf record -e </a:t>
            </a:r>
            <a:r>
              <a:rPr lang="en-US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cycles:u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-F 499 -g --sample-</a:t>
            </a:r>
            <a:r>
              <a:rPr lang="en-US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cpu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\</a:t>
            </a:r>
          </a:p>
          <a:p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   -o out/</a:t>
            </a:r>
            <a:r>
              <a:rPr lang="en-US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perf.data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\</a:t>
            </a:r>
          </a:p>
          <a:p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   taskset -c 0 ./walk 16 8</a:t>
            </a:r>
            <a:endParaRPr lang="en-CN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9E1EA3-1785-8CC8-3B70-8C327260EFCA}"/>
              </a:ext>
            </a:extLst>
          </p:cNvPr>
          <p:cNvSpPr txBox="1"/>
          <p:nvPr/>
        </p:nvSpPr>
        <p:spPr>
          <a:xfrm>
            <a:off x="838200" y="2808000"/>
            <a:ext cx="107442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[ perf record: Woken up 2 times to write data ]</a:t>
            </a:r>
          </a:p>
          <a:p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[ perf record: Captured and wrote 0.146 MB out/</a:t>
            </a:r>
            <a:r>
              <a:rPr lang="en-US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perf.data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(1340 samples) ]</a:t>
            </a:r>
            <a:endParaRPr lang="en-CN" sz="17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9E4883-C624-E39A-58E3-C774FD90AC2F}"/>
              </a:ext>
            </a:extLst>
          </p:cNvPr>
          <p:cNvSpPr txBox="1"/>
          <p:nvPr/>
        </p:nvSpPr>
        <p:spPr>
          <a:xfrm>
            <a:off x="838200" y="3888000"/>
            <a:ext cx="107442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-e </a:t>
            </a:r>
            <a:r>
              <a:rPr lang="en-US" altLang="zh-CN" sz="2100" dirty="0" err="1">
                <a:latin typeface="Consolas" panose="020B0609020204030204" pitchFamily="49" charset="0"/>
                <a:cs typeface="Consolas" panose="020B0609020204030204" pitchFamily="49" charset="0"/>
              </a:rPr>
              <a:t>cycles:u</a:t>
            </a:r>
            <a:endParaRPr lang="en-US" altLang="zh-CN" sz="2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800"/>
              </a:lnSpc>
            </a:pP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-F 499</a:t>
            </a:r>
          </a:p>
          <a:p>
            <a:pPr>
              <a:lnSpc>
                <a:spcPts val="2800"/>
              </a:lnSpc>
            </a:pP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-g</a:t>
            </a:r>
          </a:p>
          <a:p>
            <a:pPr>
              <a:lnSpc>
                <a:spcPts val="2800"/>
              </a:lnSpc>
            </a:pP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--sample-</a:t>
            </a:r>
            <a:r>
              <a:rPr lang="en-US" altLang="zh-CN" sz="2100" dirty="0" err="1">
                <a:latin typeface="Consolas" panose="020B0609020204030204" pitchFamily="49" charset="0"/>
                <a:cs typeface="Consolas" panose="020B0609020204030204" pitchFamily="49" charset="0"/>
              </a:rPr>
              <a:t>cpu</a:t>
            </a:r>
            <a:endParaRPr lang="en-CN" sz="2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6A8022-5A35-EAD3-33B7-A28479D3379A}"/>
              </a:ext>
            </a:extLst>
          </p:cNvPr>
          <p:cNvSpPr txBox="1"/>
          <p:nvPr/>
        </p:nvSpPr>
        <p:spPr>
          <a:xfrm>
            <a:off x="3780000" y="3888000"/>
            <a:ext cx="6094800" cy="1488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dirty="0"/>
              <a:t>统计用户态周期</a:t>
            </a:r>
          </a:p>
          <a:p>
            <a:pPr>
              <a:lnSpc>
                <a:spcPts val="2800"/>
              </a:lnSpc>
            </a:pPr>
            <a:r>
              <a:rPr lang="zh-CN" altLang="en-US" dirty="0"/>
              <a:t>每秒采样约 </a:t>
            </a:r>
            <a:r>
              <a:rPr lang="en-US" altLang="zh-CN" dirty="0"/>
              <a:t>499 </a:t>
            </a:r>
            <a:r>
              <a:rPr lang="zh-CN" altLang="en-US" dirty="0"/>
              <a:t>次</a:t>
            </a:r>
          </a:p>
          <a:p>
            <a:pPr>
              <a:lnSpc>
                <a:spcPts val="2800"/>
              </a:lnSpc>
            </a:pPr>
            <a:r>
              <a:rPr lang="zh-CN" altLang="en-US" dirty="0"/>
              <a:t>记录调用关系</a:t>
            </a:r>
          </a:p>
          <a:p>
            <a:pPr>
              <a:lnSpc>
                <a:spcPts val="2800"/>
              </a:lnSpc>
            </a:pPr>
            <a:r>
              <a:rPr lang="zh-CN" altLang="en-US" dirty="0"/>
              <a:t>记录 </a:t>
            </a:r>
            <a:r>
              <a:rPr lang="en-US" dirty="0"/>
              <a:t>CPU </a:t>
            </a:r>
            <a:r>
              <a:rPr lang="zh-CN" altLang="en-US" dirty="0"/>
              <a:t>编号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171418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6B692-9C18-9669-B42E-F9967DA86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43875E-9226-79C9-4FB8-4D1D8CD3F64B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ea typeface="Microsoft YaHei UI"/>
                <a:cs typeface="Arial"/>
              </a:rPr>
              <a:t>采样记录中的执行信息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8D9A64-9B2B-60B7-EA9B-EFEDDA7E9B37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9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8E3EDA-25EA-EC8C-432E-70E7FD3F3B98}"/>
              </a:ext>
            </a:extLst>
          </p:cNvPr>
          <p:cNvSpPr txBox="1"/>
          <p:nvPr/>
        </p:nvSpPr>
        <p:spPr>
          <a:xfrm>
            <a:off x="838200" y="1483360"/>
            <a:ext cx="10744200" cy="6771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900">
                <a:latin typeface="Consolas" panose="020B0609020204030204" pitchFamily="49" charset="0"/>
                <a:cs typeface="Consolas" panose="020B0609020204030204" pitchFamily="49" charset="0"/>
              </a:rPr>
              <a:t>perf script -</a:t>
            </a:r>
            <a:r>
              <a:rPr lang="en-US" sz="19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out/</a:t>
            </a:r>
            <a:r>
              <a:rPr lang="en-US" sz="1900" dirty="0" err="1">
                <a:latin typeface="Consolas" panose="020B0609020204030204" pitchFamily="49" charset="0"/>
                <a:cs typeface="Consolas" panose="020B0609020204030204" pitchFamily="49" charset="0"/>
              </a:rPr>
              <a:t>perf.data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\</a:t>
            </a:r>
          </a:p>
          <a:p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  -F </a:t>
            </a:r>
            <a:r>
              <a:rPr lang="en-US" sz="1900" dirty="0" err="1">
                <a:latin typeface="Consolas" panose="020B0609020204030204" pitchFamily="49" charset="0"/>
                <a:cs typeface="Consolas" panose="020B0609020204030204" pitchFamily="49" charset="0"/>
              </a:rPr>
              <a:t>comm,tid,cpu,time,period,ip,sym</a:t>
            </a:r>
            <a:endParaRPr lang="en-CN" sz="19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9645AA-537A-70F4-262D-9807806F44F5}"/>
              </a:ext>
            </a:extLst>
          </p:cNvPr>
          <p:cNvSpPr txBox="1"/>
          <p:nvPr/>
        </p:nvSpPr>
        <p:spPr>
          <a:xfrm>
            <a:off x="838200" y="2448560"/>
            <a:ext cx="107442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Consolas" panose="020B0609020204030204" pitchFamily="49" charset="0"/>
                <a:cs typeface="Consolas" panose="020B0609020204030204" pitchFamily="49" charset="0"/>
              </a:rPr>
              <a:t>walk 1908981 [000] 1177047.743723: 919167</a:t>
            </a:r>
          </a:p>
          <a:p>
            <a:r>
              <a:rPr lang="en-US" sz="2600" dirty="0">
                <a:latin typeface="Consolas" panose="020B0609020204030204" pitchFamily="49" charset="0"/>
                <a:cs typeface="Consolas" panose="020B0609020204030204" pitchFamily="49" charset="0"/>
              </a:rPr>
              <a:t>    56245fa332a6 initialize</a:t>
            </a:r>
          </a:p>
          <a:p>
            <a:r>
              <a:rPr lang="en-US" sz="2600" dirty="0">
                <a:latin typeface="Consolas" panose="020B0609020204030204" pitchFamily="49" charset="0"/>
                <a:cs typeface="Consolas" panose="020B0609020204030204" pitchFamily="49" charset="0"/>
              </a:rPr>
              <a:t>    7f071d184ca8 [unknown]</a:t>
            </a:r>
            <a:endParaRPr lang="en-CN" sz="2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3BBFD3-C2B9-EEBA-B558-F787A2FEFF57}"/>
              </a:ext>
            </a:extLst>
          </p:cNvPr>
          <p:cNvSpPr txBox="1"/>
          <p:nvPr/>
        </p:nvSpPr>
        <p:spPr>
          <a:xfrm>
            <a:off x="838200" y="3888000"/>
            <a:ext cx="107442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1908981</a:t>
            </a:r>
          </a:p>
          <a:p>
            <a:pPr>
              <a:lnSpc>
                <a:spcPts val="2800"/>
              </a:lnSpc>
            </a:pP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1177047.743723</a:t>
            </a:r>
          </a:p>
          <a:p>
            <a:pPr>
              <a:lnSpc>
                <a:spcPts val="2800"/>
              </a:lnSpc>
            </a:pP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919167</a:t>
            </a:r>
          </a:p>
          <a:p>
            <a:pPr>
              <a:lnSpc>
                <a:spcPts val="2800"/>
              </a:lnSpc>
            </a:pP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56245fa332a6</a:t>
            </a:r>
            <a:endParaRPr lang="en-CN" sz="2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B2A2D1-C41B-FD81-9191-9FF0EE49FF18}"/>
              </a:ext>
            </a:extLst>
          </p:cNvPr>
          <p:cNvSpPr txBox="1"/>
          <p:nvPr/>
        </p:nvSpPr>
        <p:spPr>
          <a:xfrm>
            <a:off x="3780000" y="3888000"/>
            <a:ext cx="7200000" cy="1490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dirty="0"/>
              <a:t>线程编号</a:t>
            </a:r>
          </a:p>
          <a:p>
            <a:pPr>
              <a:lnSpc>
                <a:spcPts val="2800"/>
              </a:lnSpc>
            </a:pPr>
            <a:r>
              <a:rPr lang="zh-CN" altLang="en-US" dirty="0"/>
              <a:t>采样时间，单位为秒</a:t>
            </a:r>
          </a:p>
          <a:p>
            <a:pPr>
              <a:lnSpc>
                <a:spcPts val="2800"/>
              </a:lnSpc>
            </a:pPr>
            <a:r>
              <a:rPr lang="en-US" dirty="0"/>
              <a:t>period，</a:t>
            </a:r>
            <a:r>
              <a:rPr lang="zh-CN" altLang="en-US" dirty="0"/>
              <a:t>单位为用户态周期</a:t>
            </a:r>
          </a:p>
          <a:p>
            <a:pPr>
              <a:lnSpc>
                <a:spcPts val="2800"/>
              </a:lnSpc>
            </a:pPr>
            <a:r>
              <a:rPr lang="en-US" dirty="0"/>
              <a:t>IP，</a:t>
            </a:r>
            <a:r>
              <a:rPr lang="zh-CN" altLang="en-US" dirty="0"/>
              <a:t>位于 </a:t>
            </a:r>
            <a:r>
              <a:rPr lang="en-US" dirty="0"/>
              <a:t>initialize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472521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7E544-594C-A79B-0C43-E9A4C87F0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6006BC-D86B-8F89-24EE-1D26FD5F672D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ea typeface="Microsoft YaHei UI"/>
                <a:cs typeface="Arial"/>
              </a:rPr>
              <a:t>perf report </a:t>
            </a:r>
            <a:r>
              <a:rPr lang="zh-CN" altLang="en-US" sz="3200" dirty="0">
                <a:ea typeface="Microsoft YaHei UI"/>
                <a:cs typeface="Arial"/>
              </a:rPr>
              <a:t>按函数累计周期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2CE85F-E79F-260D-7454-2B7F90351BC9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10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6BF76C-D7E0-1681-38DE-FB6E3417BBA3}"/>
              </a:ext>
            </a:extLst>
          </p:cNvPr>
          <p:cNvSpPr txBox="1"/>
          <p:nvPr/>
        </p:nvSpPr>
        <p:spPr>
          <a:xfrm>
            <a:off x="838200" y="1483360"/>
            <a:ext cx="10744200" cy="6771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900">
                <a:latin typeface="Consolas" panose="020B0609020204030204" pitchFamily="49" charset="0"/>
                <a:cs typeface="Consolas" panose="020B0609020204030204" pitchFamily="49" charset="0"/>
              </a:rPr>
              <a:t>perf report -</a:t>
            </a:r>
            <a:r>
              <a:rPr lang="en-US" sz="19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out/</a:t>
            </a:r>
            <a:r>
              <a:rPr lang="en-US" sz="1900" dirty="0" err="1">
                <a:latin typeface="Consolas" panose="020B0609020204030204" pitchFamily="49" charset="0"/>
                <a:cs typeface="Consolas" panose="020B0609020204030204" pitchFamily="49" charset="0"/>
              </a:rPr>
              <a:t>perf.data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--</a:t>
            </a:r>
            <a:r>
              <a:rPr lang="en-US" sz="1900" dirty="0" err="1">
                <a:latin typeface="Consolas" panose="020B0609020204030204" pitchFamily="49" charset="0"/>
                <a:cs typeface="Consolas" panose="020B0609020204030204" pitchFamily="49" charset="0"/>
              </a:rPr>
              <a:t>stdio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--no-children \</a:t>
            </a:r>
          </a:p>
          <a:p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  --sort </a:t>
            </a:r>
            <a:r>
              <a:rPr lang="en-US" sz="1900" dirty="0" err="1">
                <a:latin typeface="Consolas" panose="020B0609020204030204" pitchFamily="49" charset="0"/>
                <a:cs typeface="Consolas" panose="020B0609020204030204" pitchFamily="49" charset="0"/>
              </a:rPr>
              <a:t>dso,sym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-g none -n --show-total-period</a:t>
            </a:r>
            <a:endParaRPr lang="en-CN" sz="19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4DFA2D-BB3E-BDAD-6C1C-3AF542A70F46}"/>
              </a:ext>
            </a:extLst>
          </p:cNvPr>
          <p:cNvSpPr txBox="1"/>
          <p:nvPr/>
        </p:nvSpPr>
        <p:spPr>
          <a:xfrm>
            <a:off x="838200" y="2448560"/>
            <a:ext cx="107442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Consolas" panose="020B0609020204030204" pitchFamily="49" charset="0"/>
                <a:cs typeface="Consolas" panose="020B0609020204030204" pitchFamily="49" charset="0"/>
              </a:rPr>
              <a:t># Overhead  Samples        Period  Symbol</a:t>
            </a:r>
          </a:p>
          <a:p>
            <a:r>
              <a:rPr lang="en-US" sz="2600" dirty="0">
                <a:latin typeface="Consolas" panose="020B0609020204030204" pitchFamily="49" charset="0"/>
                <a:cs typeface="Consolas" panose="020B0609020204030204" pitchFamily="49" charset="0"/>
              </a:rPr>
              <a:t>    98.79%     1294    6662439286  walk</a:t>
            </a:r>
          </a:p>
          <a:p>
            <a:r>
              <a:rPr lang="en-US" sz="2600" dirty="0">
                <a:latin typeface="Consolas" panose="020B0609020204030204" pitchFamily="49" charset="0"/>
                <a:cs typeface="Consolas" panose="020B0609020204030204" pitchFamily="49" charset="0"/>
              </a:rPr>
              <a:t>     1.21%       46      81561406  initialize</a:t>
            </a:r>
            <a:endParaRPr lang="en-CN" sz="2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525FBD-C6B0-A5DB-EE83-EF9268C46F51}"/>
              </a:ext>
            </a:extLst>
          </p:cNvPr>
          <p:cNvSpPr txBox="1"/>
          <p:nvPr/>
        </p:nvSpPr>
        <p:spPr>
          <a:xfrm>
            <a:off x="838200" y="4428000"/>
            <a:ext cx="10744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# Event count (approx.): 6744000692</a:t>
            </a:r>
          </a:p>
          <a:p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# Total Lost Samples: 0</a:t>
            </a:r>
            <a:endParaRPr lang="en-CN" sz="2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335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50577-455A-D4AE-E9FD-3AA757E90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F899F8-C39A-6F1D-4F30-FC46962D392A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11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7" name="从样本计算函数占比">
            <a:extLst>
              <a:ext uri="{FF2B5EF4-FFF2-40B4-BE49-F238E27FC236}">
                <a16:creationId xmlns:a16="http://schemas.microsoft.com/office/drawing/2014/main" id="{B71DA1F3-F638-0C27-63BE-0377C85D509E}"/>
              </a:ext>
            </a:extLst>
          </p:cNvPr>
          <p:cNvSpPr txBox="1"/>
          <p:nvPr/>
        </p:nvSpPr>
        <p:spPr>
          <a:xfrm>
            <a:off x="838800" y="684000"/>
            <a:ext cx="61009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3200" dirty="0"/>
              <a:t>从样本计算函数占比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A3706D6-728F-2608-B110-652199764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175770"/>
              </p:ext>
            </p:extLst>
          </p:nvPr>
        </p:nvGraphicFramePr>
        <p:xfrm>
          <a:off x="838799" y="1656000"/>
          <a:ext cx="10512000" cy="18720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504000">
                  <a:extLst>
                    <a:ext uri="{9D8B030D-6E8A-4147-A177-3AD203B41FA5}">
                      <a16:colId xmlns:a16="http://schemas.microsoft.com/office/drawing/2014/main" val="364384588"/>
                    </a:ext>
                  </a:extLst>
                </a:gridCol>
                <a:gridCol w="3504000">
                  <a:extLst>
                    <a:ext uri="{9D8B030D-6E8A-4147-A177-3AD203B41FA5}">
                      <a16:colId xmlns:a16="http://schemas.microsoft.com/office/drawing/2014/main" val="393091911"/>
                    </a:ext>
                  </a:extLst>
                </a:gridCol>
                <a:gridCol w="3504000">
                  <a:extLst>
                    <a:ext uri="{9D8B030D-6E8A-4147-A177-3AD203B41FA5}">
                      <a16:colId xmlns:a16="http://schemas.microsoft.com/office/drawing/2014/main" val="3632215602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函数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累计 </a:t>
                      </a:r>
                      <a:r>
                        <a:rPr lang="en-US" sz="2000" dirty="0"/>
                        <a:t>period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估算的周期占比</a:t>
                      </a:r>
                      <a:endParaRPr lang="en-C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901162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2000" dirty="0"/>
                        <a:t>walk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N" sz="2000" dirty="0"/>
                        <a:t>6,662,439,286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N" sz="2000" dirty="0"/>
                        <a:t>98.79%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944650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2000" dirty="0"/>
                        <a:t>initialize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N" sz="2000" dirty="0"/>
                        <a:t>81,561,406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N" sz="2000" dirty="0"/>
                        <a:t>1.21%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86153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合计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N" sz="2000" dirty="0"/>
                        <a:t>6,744,000,692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N" sz="2000" dirty="0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822529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913CCB8-474B-12F5-FF5E-107A23D81311}"/>
              </a:ext>
            </a:extLst>
          </p:cNvPr>
          <p:cNvSpPr txBox="1"/>
          <p:nvPr/>
        </p:nvSpPr>
        <p:spPr>
          <a:xfrm>
            <a:off x="838200" y="4428000"/>
            <a:ext cx="10744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00">
                <a:latin typeface="Consolas" panose="020B0609020204030204" pitchFamily="49" charset="0"/>
                <a:cs typeface="Consolas" panose="020B0609020204030204" pitchFamily="49" charset="0"/>
              </a:rPr>
              <a:t>walk </a:t>
            </a:r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的估算周期占比</a:t>
            </a:r>
          </a:p>
          <a:p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6,662,439,286 ÷ 6,744,000,692 × 100% = 98.79%</a:t>
            </a:r>
            <a:endParaRPr lang="en-CN" sz="2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643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 err="1">
                <a:ea typeface="Microsoft YaHei UI"/>
                <a:cs typeface="Arial"/>
              </a:rPr>
              <a:t>perf_event_open</a:t>
            </a:r>
            <a:r>
              <a:rPr lang="en-US" altLang="zh-CN" sz="3200" dirty="0">
                <a:ea typeface="Microsoft YaHei UI"/>
                <a:cs typeface="Arial"/>
              </a:rPr>
              <a:t> </a:t>
            </a:r>
            <a:r>
              <a:rPr lang="zh-CN" altLang="en-US" sz="3200" dirty="0">
                <a:ea typeface="Microsoft YaHei UI"/>
                <a:cs typeface="Arial"/>
              </a:rPr>
              <a:t>创建事件文件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>
                <a:ea typeface="Microsoft YaHei UI"/>
                <a:cs typeface="Arial"/>
              </a:rPr>
              <a:t>12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150BD2-284F-2323-2069-75E6026A38E5}"/>
              </a:ext>
            </a:extLst>
          </p:cNvPr>
          <p:cNvSpPr txBox="1"/>
          <p:nvPr/>
        </p:nvSpPr>
        <p:spPr>
          <a:xfrm>
            <a:off x="838200" y="1513840"/>
            <a:ext cx="10744200" cy="21236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N" sz="2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perf_event_open</a:t>
            </a:r>
            <a:r>
              <a:rPr lang="en-CN" sz="2200" dirty="0">
                <a:latin typeface="Consolas" panose="020B0609020204030204" pitchFamily="49" charset="0"/>
                <a:cs typeface="Consolas" panose="020B0609020204030204" pitchFamily="49" charset="0"/>
              </a:rPr>
              <a:t>({</a:t>
            </a:r>
          </a:p>
          <a:p>
            <a:r>
              <a:rPr lang="en-CN" sz="2200" dirty="0">
                <a:latin typeface="Consolas" panose="020B0609020204030204" pitchFamily="49" charset="0"/>
                <a:cs typeface="Consolas" panose="020B0609020204030204" pitchFamily="49" charset="0"/>
              </a:rPr>
              <a:t>    type=PERF_TYPE_HARDWARE,</a:t>
            </a:r>
          </a:p>
          <a:p>
            <a:r>
              <a:rPr lang="en-CN" sz="2200" dirty="0">
                <a:latin typeface="Consolas" panose="020B0609020204030204" pitchFamily="49" charset="0"/>
                <a:cs typeface="Consolas" panose="020B0609020204030204" pitchFamily="49" charset="0"/>
              </a:rPr>
              <a:t>    config=PERF_COUNT_HW_CPU_CYCLES,</a:t>
            </a:r>
          </a:p>
          <a:p>
            <a:r>
              <a:rPr lang="en-CN" sz="2200" dirty="0">
                <a:latin typeface="Consolas" panose="020B0609020204030204" pitchFamily="49" charset="0"/>
                <a:cs typeface="Consolas" panose="020B0609020204030204" pitchFamily="49" charset="0"/>
              </a:rPr>
              <a:t>    disabled=1, exclude_kernel=1,</a:t>
            </a:r>
          </a:p>
          <a:p>
            <a:r>
              <a:rPr lang="en-CN" sz="2200" dirty="0">
                <a:latin typeface="Consolas" panose="020B0609020204030204" pitchFamily="49" charset="0"/>
                <a:cs typeface="Consolas" panose="020B0609020204030204" pitchFamily="49" charset="0"/>
              </a:rPr>
              <a:t>    enable_on_exec=1, ...</a:t>
            </a:r>
          </a:p>
          <a:p>
            <a:r>
              <a:rPr lang="en-CN" sz="2200" dirty="0">
                <a:latin typeface="Consolas" panose="020B0609020204030204" pitchFamily="49" charset="0"/>
                <a:cs typeface="Consolas" panose="020B0609020204030204" pitchFamily="49" charset="0"/>
              </a:rPr>
              <a:t>}, 1910302, -1, -1, PERF_FLAG_FD_CLOEXEC)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D2C64A-6A41-C40F-0060-25FA6DBA43E7}"/>
              </a:ext>
            </a:extLst>
          </p:cNvPr>
          <p:cNvSpPr txBox="1"/>
          <p:nvPr/>
        </p:nvSpPr>
        <p:spPr>
          <a:xfrm>
            <a:off x="838200" y="4104640"/>
            <a:ext cx="10517372" cy="1500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100" dirty="0" err="1">
                <a:latin typeface="Arial" panose="020B0604020202020204" pitchFamily="34" charset="0"/>
                <a:cs typeface="Arial" panose="020B0604020202020204" pitchFamily="34" charset="0"/>
              </a:rPr>
              <a:t>pid</a:t>
            </a:r>
            <a:r>
              <a:rPr lang="en-US" altLang="zh-CN" sz="2100" dirty="0">
                <a:latin typeface="Arial" panose="020B0604020202020204" pitchFamily="34" charset="0"/>
                <a:cs typeface="Arial" panose="020B0604020202020204" pitchFamily="34" charset="0"/>
              </a:rPr>
              <a:t> = 1910302</a:t>
            </a:r>
          </a:p>
          <a:p>
            <a:pPr>
              <a:lnSpc>
                <a:spcPts val="2800"/>
              </a:lnSpc>
            </a:pPr>
            <a:r>
              <a:rPr lang="en-US" altLang="zh-CN" sz="2100" dirty="0" err="1">
                <a:latin typeface="Arial" panose="020B0604020202020204" pitchFamily="34" charset="0"/>
                <a:cs typeface="Arial" panose="020B0604020202020204" pitchFamily="34" charset="0"/>
              </a:rPr>
              <a:t>cpu</a:t>
            </a:r>
            <a:r>
              <a:rPr lang="en-US" altLang="zh-CN" sz="2100" dirty="0">
                <a:latin typeface="Arial" panose="020B0604020202020204" pitchFamily="34" charset="0"/>
                <a:cs typeface="Arial" panose="020B0604020202020204" pitchFamily="34" charset="0"/>
              </a:rPr>
              <a:t> = -1</a:t>
            </a:r>
          </a:p>
          <a:p>
            <a:pPr>
              <a:lnSpc>
                <a:spcPts val="2800"/>
              </a:lnSpc>
            </a:pPr>
            <a:r>
              <a:rPr lang="en-US" altLang="zh-CN" sz="2100" dirty="0" err="1">
                <a:latin typeface="Arial" panose="020B0604020202020204" pitchFamily="34" charset="0"/>
                <a:cs typeface="Arial" panose="020B0604020202020204" pitchFamily="34" charset="0"/>
              </a:rPr>
              <a:t>group_fd</a:t>
            </a:r>
            <a:r>
              <a:rPr lang="en-US" altLang="zh-CN" sz="2100" dirty="0">
                <a:latin typeface="Arial" panose="020B0604020202020204" pitchFamily="34" charset="0"/>
                <a:cs typeface="Arial" panose="020B0604020202020204" pitchFamily="34" charset="0"/>
              </a:rPr>
              <a:t> = -1</a:t>
            </a:r>
          </a:p>
          <a:p>
            <a:pPr>
              <a:lnSpc>
                <a:spcPts val="2800"/>
              </a:lnSpc>
            </a:pPr>
            <a:r>
              <a:rPr lang="en-US" altLang="zh-CN" sz="2100" dirty="0" err="1">
                <a:latin typeface="Arial" panose="020B0604020202020204" pitchFamily="34" charset="0"/>
                <a:cs typeface="Arial" panose="020B0604020202020204" pitchFamily="34" charset="0"/>
              </a:rPr>
              <a:t>fd</a:t>
            </a:r>
            <a:r>
              <a:rPr lang="en-US" altLang="zh-CN" sz="2100" dirty="0">
                <a:latin typeface="Arial" panose="020B0604020202020204" pitchFamily="34" charset="0"/>
                <a:cs typeface="Arial" panose="020B0604020202020204" pitchFamily="34" charset="0"/>
              </a:rPr>
              <a:t> = 3</a:t>
            </a:r>
            <a:endParaRPr lang="en-CN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DB3D9-9823-E5B0-5F25-958EBAD9D1C0}"/>
              </a:ext>
            </a:extLst>
          </p:cNvPr>
          <p:cNvSpPr txBox="1"/>
          <p:nvPr/>
        </p:nvSpPr>
        <p:spPr>
          <a:xfrm>
            <a:off x="3780000" y="4104000"/>
            <a:ext cx="6094800" cy="1488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dirty="0"/>
              <a:t>被测线程编号</a:t>
            </a:r>
          </a:p>
          <a:p>
            <a:pPr>
              <a:lnSpc>
                <a:spcPts val="2800"/>
              </a:lnSpc>
            </a:pPr>
            <a:r>
              <a:rPr lang="zh-CN" altLang="en-US" dirty="0"/>
              <a:t>随被测线程迁移</a:t>
            </a:r>
          </a:p>
          <a:p>
            <a:pPr>
              <a:lnSpc>
                <a:spcPts val="2800"/>
              </a:lnSpc>
            </a:pPr>
            <a:r>
              <a:rPr lang="zh-CN" altLang="en-US" dirty="0"/>
              <a:t>创建独立事件</a:t>
            </a:r>
          </a:p>
          <a:p>
            <a:pPr>
              <a:lnSpc>
                <a:spcPts val="2800"/>
              </a:lnSpc>
            </a:pPr>
            <a:r>
              <a:rPr lang="en-US" dirty="0"/>
              <a:t>perf </a:t>
            </a:r>
            <a:r>
              <a:rPr lang="zh-CN" altLang="en-US" dirty="0"/>
              <a:t>进程持有的文件描述符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53804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6B0AD-AB78-8F6D-ED15-359746DB2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3AFE53-860B-7403-40B5-8FA304A27D96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13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7" name="从样本计算函数占比">
            <a:extLst>
              <a:ext uri="{FF2B5EF4-FFF2-40B4-BE49-F238E27FC236}">
                <a16:creationId xmlns:a16="http://schemas.microsoft.com/office/drawing/2014/main" id="{53A93D52-BF91-4BE4-3AE8-1FDA49889FA0}"/>
              </a:ext>
            </a:extLst>
          </p:cNvPr>
          <p:cNvSpPr txBox="1"/>
          <p:nvPr/>
        </p:nvSpPr>
        <p:spPr>
          <a:xfrm>
            <a:off x="838800" y="684000"/>
            <a:ext cx="61009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/>
              <a:t>线程切换时保存和恢复计数</a:t>
            </a:r>
            <a:endParaRPr lang="en-CN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D30315-F3BE-EFD1-4828-6AEED3FC283B}"/>
              </a:ext>
            </a:extLst>
          </p:cNvPr>
          <p:cNvSpPr txBox="1"/>
          <p:nvPr/>
        </p:nvSpPr>
        <p:spPr>
          <a:xfrm>
            <a:off x="838200" y="1513840"/>
            <a:ext cx="10744200" cy="21236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N" sz="2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let</a:t>
            </a:r>
            <a:r>
              <a:rPr lang="en-CN" sz="2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Some(ext) = prev_task.task_ext() {</a:t>
            </a:r>
          </a:p>
          <a:p>
            <a:r>
              <a:rPr lang="en-CN" sz="2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ext.</a:t>
            </a:r>
            <a:r>
              <a:rPr lang="en-CN" sz="22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on_leave</a:t>
            </a:r>
            <a:r>
              <a:rPr lang="en-CN" sz="2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CN" sz="2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CN" sz="2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let</a:t>
            </a:r>
            <a:r>
              <a:rPr lang="en-CN" sz="2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Some(ext) = next_task.task_ext() {</a:t>
            </a:r>
          </a:p>
          <a:p>
            <a:r>
              <a:rPr lang="en-CN" sz="2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ext.</a:t>
            </a:r>
            <a:r>
              <a:rPr lang="en-CN" sz="22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on_enter</a:t>
            </a:r>
            <a:r>
              <a:rPr lang="en-CN" sz="2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CN" sz="2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4CF7B2-2A9E-C6FF-EB42-38E7420CAD01}"/>
              </a:ext>
            </a:extLst>
          </p:cNvPr>
          <p:cNvSpPr txBox="1"/>
          <p:nvPr/>
        </p:nvSpPr>
        <p:spPr>
          <a:xfrm>
            <a:off x="838200" y="4104640"/>
            <a:ext cx="105173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 err="1">
                <a:latin typeface="Arial" panose="020B0604020202020204" pitchFamily="34" charset="0"/>
                <a:cs typeface="Arial" panose="020B0604020202020204" pitchFamily="34" charset="0"/>
              </a:rPr>
              <a:t>on_leave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n-US" altLang="zh-CN" sz="2200" dirty="0" err="1">
                <a:latin typeface="Arial" panose="020B0604020202020204" pitchFamily="34" charset="0"/>
                <a:cs typeface="Arial" panose="020B0604020202020204" pitchFamily="34" charset="0"/>
              </a:rPr>
              <a:t>perf_sched_out</a:t>
            </a:r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：保存计数，释放硬件位置</a:t>
            </a:r>
          </a:p>
          <a:p>
            <a:r>
              <a:rPr lang="en-US" altLang="zh-CN" sz="2200" dirty="0" err="1">
                <a:latin typeface="Arial" panose="020B0604020202020204" pitchFamily="34" charset="0"/>
                <a:cs typeface="Arial" panose="020B0604020202020204" pitchFamily="34" charset="0"/>
              </a:rPr>
              <a:t>on_enter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n-US" altLang="zh-CN" sz="2200" dirty="0" err="1">
                <a:latin typeface="Arial" panose="020B0604020202020204" pitchFamily="34" charset="0"/>
                <a:cs typeface="Arial" panose="020B0604020202020204" pitchFamily="34" charset="0"/>
              </a:rPr>
              <a:t>perf_sched_in</a:t>
            </a:r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：申请位置，恢复测量</a:t>
            </a:r>
            <a:endParaRPr lang="en-C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4778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26F71-3F2C-B9D2-AC62-1A1A72745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C0E3DDA-28D7-2B14-F229-D52A290D865E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事件文件与线程共享计数对象</a:t>
            </a:r>
            <a:endParaRPr lang="en-US" sz="3200" dirty="0">
              <a:latin typeface="Arial" panose="020B0604020202020204" pitchFamily="34" charset="0"/>
              <a:ea typeface="Microsoft YaHei U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D7740D-03CA-5533-674D-3933178FD774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14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1D0B98-A3AC-BAB7-AB89-D52E13CFC5D7}"/>
              </a:ext>
            </a:extLst>
          </p:cNvPr>
          <p:cNvSpPr/>
          <p:nvPr/>
        </p:nvSpPr>
        <p:spPr>
          <a:xfrm>
            <a:off x="1818290" y="1555531"/>
            <a:ext cx="8429296" cy="7672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perf </a:t>
            </a:r>
            <a:r>
              <a:rPr lang="zh-CN" altLang="en-US" sz="2400" dirty="0"/>
              <a:t>进程的 </a:t>
            </a:r>
            <a:r>
              <a:rPr lang="en-US" altLang="zh-CN" sz="2400" dirty="0" err="1"/>
              <a:t>fd</a:t>
            </a:r>
            <a:r>
              <a:rPr lang="en-US" altLang="zh-CN" sz="2400" dirty="0"/>
              <a:t> </a:t>
            </a:r>
            <a:r>
              <a:rPr lang="zh-CN" altLang="en-US" sz="2400" dirty="0"/>
              <a:t>表 </a:t>
            </a:r>
            <a:r>
              <a:rPr lang="en-US" altLang="zh-CN" sz="2400" dirty="0"/>
              <a:t>· </a:t>
            </a:r>
            <a:r>
              <a:rPr lang="en-US" altLang="zh-CN" sz="2400" dirty="0" err="1"/>
              <a:t>fd</a:t>
            </a:r>
            <a:r>
              <a:rPr lang="en-US" altLang="zh-CN" sz="2400" dirty="0"/>
              <a:t> = 3</a:t>
            </a:r>
            <a:endParaRPr lang="en-CN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9061CB-B36D-0B03-F101-E2A2C29D1B78}"/>
              </a:ext>
            </a:extLst>
          </p:cNvPr>
          <p:cNvSpPr/>
          <p:nvPr/>
        </p:nvSpPr>
        <p:spPr>
          <a:xfrm>
            <a:off x="1818290" y="2648607"/>
            <a:ext cx="8429296" cy="7803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PerfEvent</a:t>
            </a:r>
            <a:r>
              <a:rPr lang="en-US" sz="2400" dirty="0"/>
              <a:t> · </a:t>
            </a:r>
            <a:r>
              <a:rPr lang="zh-CN" altLang="en-US" sz="2400" dirty="0"/>
              <a:t>实现 </a:t>
            </a:r>
            <a:r>
              <a:rPr lang="en-US" sz="2400" dirty="0" err="1"/>
              <a:t>FileLike</a:t>
            </a:r>
            <a:endParaRPr lang="en-CN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DEA5F5-1E60-38D2-6A9F-F53A3B808B9A}"/>
              </a:ext>
            </a:extLst>
          </p:cNvPr>
          <p:cNvSpPr/>
          <p:nvPr/>
        </p:nvSpPr>
        <p:spPr>
          <a:xfrm>
            <a:off x="1818290" y="3741683"/>
            <a:ext cx="8429296" cy="7672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/>
              <a:t>PerTaskCounter</a:t>
            </a:r>
            <a:r>
              <a:rPr lang="en-US" sz="2400" dirty="0"/>
              <a:t> · </a:t>
            </a:r>
            <a:r>
              <a:rPr lang="zh-CN" altLang="en-US" sz="2400" dirty="0"/>
              <a:t>配置与累计值</a:t>
            </a:r>
            <a:endParaRPr lang="en-CN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1338ED-347D-C6FD-E9C3-25D25377B5B6}"/>
              </a:ext>
            </a:extLst>
          </p:cNvPr>
          <p:cNvSpPr/>
          <p:nvPr/>
        </p:nvSpPr>
        <p:spPr>
          <a:xfrm>
            <a:off x="1818290" y="4824248"/>
            <a:ext cx="8429296" cy="7672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目标 </a:t>
            </a:r>
            <a:r>
              <a:rPr lang="en-US" sz="2400" dirty="0"/>
              <a:t>Thread · </a:t>
            </a:r>
            <a:r>
              <a:rPr lang="en-US" sz="2400" dirty="0" err="1"/>
              <a:t>perf_counters</a:t>
            </a:r>
            <a:endParaRPr lang="en-CN" sz="24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88708C4-9300-0E9D-6D81-E06EFD5EA290}"/>
              </a:ext>
            </a:extLst>
          </p:cNvPr>
          <p:cNvCxnSpPr>
            <a:stCxn id="2" idx="2"/>
            <a:endCxn id="3" idx="0"/>
          </p:cNvCxnSpPr>
          <p:nvPr/>
        </p:nvCxnSpPr>
        <p:spPr>
          <a:xfrm>
            <a:off x="6032938" y="2322786"/>
            <a:ext cx="0" cy="325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D86665C-AE9C-90EC-BC4A-2E9FAA9B9CFF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6032938" y="3429000"/>
            <a:ext cx="0" cy="312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3D3C444-CB52-30AE-A5FB-BBC6D813D59F}"/>
              </a:ext>
            </a:extLst>
          </p:cNvPr>
          <p:cNvCxnSpPr>
            <a:cxnSpLocks/>
          </p:cNvCxnSpPr>
          <p:nvPr/>
        </p:nvCxnSpPr>
        <p:spPr>
          <a:xfrm flipV="1">
            <a:off x="6032938" y="4508938"/>
            <a:ext cx="0" cy="3153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5725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ea typeface="Microsoft YaHei UI"/>
                <a:cs typeface="Arial"/>
              </a:rPr>
              <a:t>事件文件和线程分别保存引用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15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436FAC-057B-0D40-3CC5-22E6619B1593}"/>
              </a:ext>
            </a:extLst>
          </p:cNvPr>
          <p:cNvSpPr txBox="1"/>
          <p:nvPr/>
        </p:nvSpPr>
        <p:spPr>
          <a:xfrm>
            <a:off x="838200" y="1483360"/>
            <a:ext cx="10744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事件文件持有计数对象；</a:t>
            </a:r>
            <a:r>
              <a:rPr lang="en-US" altLang="zh-CN" sz="2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Arc::clone </a:t>
            </a:r>
            <a:r>
              <a:rPr lang="zh-CN" altLang="en-US" sz="2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增加同一对象的引用</a:t>
            </a:r>
            <a:endParaRPr lang="en-CN" sz="2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3363A0-866D-33F9-65CF-316B9E9B3A5A}"/>
              </a:ext>
            </a:extLst>
          </p:cNvPr>
          <p:cNvSpPr txBox="1"/>
          <p:nvPr/>
        </p:nvSpPr>
        <p:spPr>
          <a:xfrm>
            <a:off x="838200" y="2042160"/>
            <a:ext cx="10744200" cy="11079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2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 </a:t>
            </a:r>
            <a:r>
              <a:rPr lang="en-US" altLang="zh-CN" sz="22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event_arc</a:t>
            </a:r>
            <a:r>
              <a:rPr lang="en-US" altLang="zh-CN" sz="22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Arc&lt;</a:t>
            </a:r>
            <a:r>
              <a:rPr lang="en-US" altLang="zh-CN" sz="22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dyn</a:t>
            </a:r>
            <a:r>
              <a:rPr lang="en-US" altLang="zh-CN" sz="22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200" b="0" i="0" u="none" strike="noStrike" baseline="0" dirty="0" err="1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FileLike</a:t>
            </a:r>
            <a: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= </a:t>
            </a:r>
            <a:r>
              <a:rPr lang="en-US" altLang="zh-CN" sz="2200" b="0" i="0" u="none" strike="noStrike" baseline="0" dirty="0" err="1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perf_event</a:t>
            </a:r>
            <a: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2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 </a:t>
            </a:r>
            <a:r>
              <a:rPr lang="en-US" altLang="zh-CN" sz="22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cloexec</a:t>
            </a:r>
            <a:r>
              <a:rPr lang="en-US" altLang="zh-CN" sz="22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flags &amp; PERF_FLAG_FD_CLOEXEC != </a:t>
            </a:r>
            <a:r>
              <a:rPr lang="en-US" altLang="zh-CN" sz="22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br>
              <a:rPr lang="en-US" altLang="zh-CN" sz="22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2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 </a:t>
            </a:r>
            <a:r>
              <a:rPr lang="en-US" altLang="zh-CN" sz="22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lang="en-US" altLang="zh-CN" sz="22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22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add_file_like</a:t>
            </a:r>
            <a: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2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event_arc.clone</a:t>
            </a:r>
            <a: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(), </a:t>
            </a:r>
            <a:r>
              <a:rPr lang="en-US" altLang="zh-CN" sz="22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cloexec</a:t>
            </a:r>
            <a: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)?;</a:t>
            </a:r>
            <a:endParaRPr lang="en-CN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E7F029-1E1A-9861-C7DA-C00D5F324A8D}"/>
              </a:ext>
            </a:extLst>
          </p:cNvPr>
          <p:cNvSpPr txBox="1"/>
          <p:nvPr/>
        </p:nvSpPr>
        <p:spPr>
          <a:xfrm>
            <a:off x="838200" y="3698240"/>
            <a:ext cx="1074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线程列表持有同一个 </a:t>
            </a:r>
            <a:r>
              <a:rPr lang="en-US" altLang="zh-CN" dirty="0" err="1"/>
              <a:t>PerTaskCounter</a:t>
            </a:r>
            <a:r>
              <a:rPr lang="en-US" altLang="zh-CN" dirty="0"/>
              <a:t> </a:t>
            </a:r>
            <a:r>
              <a:rPr lang="zh-CN" altLang="en-US" dirty="0"/>
              <a:t>的强引用</a:t>
            </a:r>
            <a:endParaRPr lang="en-CN" sz="23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D156511-F4A0-D2DB-70D7-1DE3CA5E897D}"/>
              </a:ext>
            </a:extLst>
          </p:cNvPr>
          <p:cNvSpPr txBox="1"/>
          <p:nvPr/>
        </p:nvSpPr>
        <p:spPr>
          <a:xfrm>
            <a:off x="838200" y="4257040"/>
            <a:ext cx="10744200" cy="14465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2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 </a:t>
            </a:r>
            <a:r>
              <a:rPr lang="en-US" altLang="zh-CN" sz="22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en-US" altLang="zh-CN" sz="22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attach(</a:t>
            </a:r>
            <a:r>
              <a:rPr lang="en-US" altLang="zh-CN" sz="22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</a:t>
            </a:r>
            <a: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&amp;</a:t>
            </a:r>
            <a: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Thread, </a:t>
            </a:r>
            <a:r>
              <a:rPr lang="en-US" altLang="zh-CN" sz="2200" b="0" i="0" u="none" strike="noStrike" baseline="0" dirty="0" err="1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ptc</a:t>
            </a:r>
            <a: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Arc&lt;</a:t>
            </a:r>
            <a:r>
              <a:rPr lang="en-US" altLang="zh-CN" sz="2200" b="0" i="0" u="none" strike="noStrike" baseline="0" dirty="0" err="1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PerTaskCounter</a:t>
            </a:r>
            <a: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&gt;) {</a:t>
            </a:r>
            <a:b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sz="2200" b="0" i="0" u="none" strike="noStrike" baseline="0" dirty="0" err="1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thr.perf_counters.</a:t>
            </a:r>
            <a:r>
              <a:rPr lang="en-US" altLang="zh-CN" sz="22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lock</a:t>
            </a:r>
            <a: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().push(</a:t>
            </a:r>
            <a:r>
              <a:rPr lang="en-US" altLang="zh-CN" sz="22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ptc</a:t>
            </a:r>
            <a: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sz="22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PERF_TASK_ACTIVE.fetch_add</a:t>
            </a:r>
            <a: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2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1, </a:t>
            </a:r>
            <a: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Ordering::</a:t>
            </a:r>
            <a:r>
              <a:rPr lang="en-US" altLang="zh-CN" sz="2200" b="0" i="0" u="none" strike="noStrike" baseline="0" dirty="0" err="1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AcqRel</a:t>
            </a:r>
            <a: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CN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427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ea typeface="Microsoft YaHei UI"/>
                <a:cs typeface="Arial"/>
              </a:rPr>
              <a:t>RK3588 </a:t>
            </a:r>
            <a:r>
              <a:rPr lang="zh-CN" altLang="en-US" sz="3200" dirty="0">
                <a:ea typeface="Microsoft YaHei UI"/>
                <a:cs typeface="Arial"/>
              </a:rPr>
              <a:t>的 </a:t>
            </a:r>
            <a:r>
              <a:rPr lang="en-US" altLang="zh-CN" sz="3200" dirty="0">
                <a:ea typeface="Microsoft YaHei UI"/>
                <a:cs typeface="Arial"/>
              </a:rPr>
              <a:t>ARM PMU </a:t>
            </a:r>
            <a:r>
              <a:rPr lang="zh-CN" altLang="en-US" sz="3200" dirty="0">
                <a:ea typeface="Microsoft YaHei UI"/>
                <a:cs typeface="Arial"/>
              </a:rPr>
              <a:t>计数器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16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56A6D1-982D-4B1A-000A-D34F1DFD535C}"/>
              </a:ext>
            </a:extLst>
          </p:cNvPr>
          <p:cNvSpPr/>
          <p:nvPr/>
        </p:nvSpPr>
        <p:spPr>
          <a:xfrm>
            <a:off x="914400" y="1838960"/>
            <a:ext cx="4724400" cy="11785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CPU 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执行指令</a:t>
            </a:r>
          </a:p>
          <a:p>
            <a:pPr algn="ctr"/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周期 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 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指令完成</a:t>
            </a:r>
            <a:endParaRPr lang="en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C03EA5-1EFB-02DB-631C-C24F89C85AC8}"/>
              </a:ext>
            </a:extLst>
          </p:cNvPr>
          <p:cNvSpPr/>
          <p:nvPr/>
        </p:nvSpPr>
        <p:spPr>
          <a:xfrm>
            <a:off x="6631172" y="1838960"/>
            <a:ext cx="4724400" cy="11785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PMU 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计数器</a:t>
            </a:r>
          </a:p>
          <a:p>
            <a:pPr algn="ctr"/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按选定事件累加</a:t>
            </a:r>
            <a:endParaRPr lang="en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F6956AD-CBE1-9A63-A36D-E881A29097C4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5638800" y="2428240"/>
            <a:ext cx="9923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A487A65-7F1C-CF88-7A83-05A0FAC4E219}"/>
              </a:ext>
            </a:extLst>
          </p:cNvPr>
          <p:cNvSpPr txBox="1"/>
          <p:nvPr/>
        </p:nvSpPr>
        <p:spPr>
          <a:xfrm>
            <a:off x="838200" y="3210560"/>
            <a:ext cx="10744200" cy="14465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Linux config = PERF_COUNT_HW_CPU_CYCLES</a:t>
            </a:r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</a:p>
          <a:p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ARM PMU </a:t>
            </a:r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事件编码 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= 0x11</a:t>
            </a:r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，选择 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CPU </a:t>
            </a:r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周期</a:t>
            </a:r>
          </a:p>
          <a:p>
            <a:r>
              <a:rPr lang="en-US" altLang="zh-CN" sz="2200" dirty="0" err="1">
                <a:latin typeface="Arial" panose="020B0604020202020204" pitchFamily="34" charset="0"/>
                <a:cs typeface="Arial" panose="020B0604020202020204" pitchFamily="34" charset="0"/>
              </a:rPr>
              <a:t>ptc.event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保存硬件事件编码</a:t>
            </a:r>
          </a:p>
          <a:p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计数器编号 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选择位置 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0–5</a:t>
            </a:r>
            <a:endParaRPr lang="en-C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791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11AC4-C0BA-C562-673A-7A8D2C507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4E31A7-1931-30D3-F01F-1D1593D0BD33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ea typeface="Microsoft YaHei UI"/>
                <a:cs typeface="Arial"/>
              </a:rPr>
              <a:t>线程调入时配置计数器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B87341-25A4-700E-9306-E5559048BBC4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17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B7F47D-ED91-4545-E3D8-95EFAEB6A267}"/>
              </a:ext>
            </a:extLst>
          </p:cNvPr>
          <p:cNvSpPr txBox="1"/>
          <p:nvPr/>
        </p:nvSpPr>
        <p:spPr>
          <a:xfrm>
            <a:off x="838200" y="1513840"/>
            <a:ext cx="10744200" cy="24622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ax_cpu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pmu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::counter::</a:t>
            </a:r>
            <a:r>
              <a:rPr lang="en-US" sz="22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configure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   n,</a:t>
            </a:r>
          </a:p>
          <a:p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ptc.event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ptc.exclude_user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ptc.exclude_kernel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ax_cpu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pmu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::counter::</a:t>
            </a:r>
            <a:r>
              <a:rPr lang="en-US" sz="22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enable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(n);</a:t>
            </a:r>
            <a:endParaRPr lang="en-CN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63ED0-6EC7-6997-7372-B0203D1B4B58}"/>
              </a:ext>
            </a:extLst>
          </p:cNvPr>
          <p:cNvSpPr txBox="1"/>
          <p:nvPr/>
        </p:nvSpPr>
        <p:spPr>
          <a:xfrm>
            <a:off x="838200" y="4104640"/>
            <a:ext cx="105173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 err="1">
                <a:latin typeface="Arial" panose="020B0604020202020204" pitchFamily="34" charset="0"/>
                <a:cs typeface="Arial" panose="020B0604020202020204" pitchFamily="34" charset="0"/>
              </a:rPr>
              <a:t>on_enter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n-US" altLang="zh-CN" sz="2200" dirty="0" err="1">
                <a:latin typeface="Arial" panose="020B0604020202020204" pitchFamily="34" charset="0"/>
                <a:cs typeface="Arial" panose="020B0604020202020204" pitchFamily="34" charset="0"/>
              </a:rPr>
              <a:t>perf_sched_in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n-US" altLang="zh-CN" sz="2200" dirty="0" err="1">
                <a:latin typeface="Arial" panose="020B0604020202020204" pitchFamily="34" charset="0"/>
                <a:cs typeface="Arial" panose="020B0604020202020204" pitchFamily="34" charset="0"/>
              </a:rPr>
              <a:t>arm_slice</a:t>
            </a:r>
            <a:endParaRPr lang="en-US" altLang="zh-C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配置事件与过滤条件、清零，然后启用计数</a:t>
            </a:r>
            <a:endParaRPr lang="en-C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338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ea typeface="Microsoft YaHei UI"/>
                <a:cs typeface="Arial"/>
              </a:rPr>
              <a:t>用户态与内核态的事件过滤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18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CE37C1-B22D-686D-9320-152C70F73D13}"/>
              </a:ext>
            </a:extLst>
          </p:cNvPr>
          <p:cNvSpPr txBox="1"/>
          <p:nvPr/>
        </p:nvSpPr>
        <p:spPr>
          <a:xfrm>
            <a:off x="838200" y="1513840"/>
            <a:ext cx="10744200" cy="28007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exclude_el0 {</a:t>
            </a:r>
          </a:p>
          <a:p>
            <a:r>
              <a:rPr lang="en-US" altLang="zh-CN" sz="220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220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evtyper</a:t>
            </a:r>
            <a:r>
              <a:rPr lang="en-US" altLang="zh-CN" sz="220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|= EVTYPER_U_EXCLUDE_EL0;</a:t>
            </a:r>
          </a:p>
          <a:p>
            <a:r>
              <a:rPr lang="en-US" altLang="zh-CN" sz="220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altLang="zh-CN" sz="220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exclude_el1 {</a:t>
            </a:r>
          </a:p>
          <a:p>
            <a:r>
              <a:rPr lang="en-US" altLang="zh-CN" sz="220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220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evtyper</a:t>
            </a:r>
            <a:r>
              <a:rPr lang="en-US" altLang="zh-CN" sz="220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|= EVTYPER_P_EXCLUDE_EL1;</a:t>
            </a:r>
          </a:p>
          <a:p>
            <a:r>
              <a:rPr lang="en-US" altLang="zh-CN" sz="220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altLang="zh-CN" sz="220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write_typer</a:t>
            </a:r>
            <a:r>
              <a:rPr lang="en-US" altLang="zh-CN" sz="220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(n, </a:t>
            </a:r>
            <a:r>
              <a:rPr lang="en-US" altLang="zh-CN" sz="220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evtyper</a:t>
            </a:r>
            <a:r>
              <a:rPr lang="en-US" altLang="zh-CN" sz="220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altLang="zh-CN" sz="220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reset(n);</a:t>
            </a:r>
            <a:endParaRPr lang="en-CN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0AE951-F5EB-7BA4-669C-7647CBAEDF5E}"/>
              </a:ext>
            </a:extLst>
          </p:cNvPr>
          <p:cNvSpPr txBox="1"/>
          <p:nvPr/>
        </p:nvSpPr>
        <p:spPr>
          <a:xfrm>
            <a:off x="7061200" y="1818640"/>
            <a:ext cx="429437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U[30] </a:t>
            </a:r>
            <a:r>
              <a:rPr lang="zh-CN" altLang="en-US" sz="2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排除用户态</a:t>
            </a:r>
            <a:endParaRPr lang="en-CN" sz="21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8F6F97-5810-CC3F-A405-A394CF254094}"/>
              </a:ext>
            </a:extLst>
          </p:cNvPr>
          <p:cNvSpPr txBox="1"/>
          <p:nvPr/>
        </p:nvSpPr>
        <p:spPr>
          <a:xfrm>
            <a:off x="7061200" y="2834640"/>
            <a:ext cx="429437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P[31] </a:t>
            </a:r>
            <a:r>
              <a:rPr lang="zh-CN" altLang="en-US" sz="2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排除内核态</a:t>
            </a:r>
            <a:endParaRPr lang="en-CN" sz="21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A98B6B-ED6A-A2BD-EB43-3A98A851B7FD}"/>
              </a:ext>
            </a:extLst>
          </p:cNvPr>
          <p:cNvSpPr txBox="1"/>
          <p:nvPr/>
        </p:nvSpPr>
        <p:spPr>
          <a:xfrm>
            <a:off x="838200" y="4714240"/>
            <a:ext cx="10744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同一段 </a:t>
            </a:r>
            <a:r>
              <a:rPr lang="en-US" altLang="zh-CN" sz="2000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2000 </a:t>
            </a:r>
            <a:r>
              <a:rPr lang="zh-CN" altLang="en-US" sz="2000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万次计算循环，统计 </a:t>
            </a:r>
            <a:r>
              <a:rPr lang="en-US" altLang="zh-CN" sz="2000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INST_RETIRED</a:t>
            </a:r>
          </a:p>
          <a:p>
            <a:r>
              <a:rPr lang="zh-CN" altLang="en-US" sz="2000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用户态：</a:t>
            </a:r>
            <a:r>
              <a:rPr lang="en-US" altLang="zh-CN" sz="2000" dirty="0" err="1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exclude_user</a:t>
            </a:r>
            <a:r>
              <a:rPr lang="en-US" altLang="zh-CN" sz="2000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=0</a:t>
            </a:r>
            <a:r>
              <a:rPr lang="zh-CN" altLang="en-US" sz="2000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en-US" altLang="zh-CN" sz="2000" dirty="0" err="1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exclude_kernel</a:t>
            </a:r>
            <a:r>
              <a:rPr lang="en-US" altLang="zh-CN" sz="2000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=1    160,000,040</a:t>
            </a:r>
          </a:p>
          <a:p>
            <a:r>
              <a:rPr lang="zh-CN" altLang="en-US" sz="2000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内核态：</a:t>
            </a:r>
            <a:r>
              <a:rPr lang="en-US" altLang="zh-CN" sz="2000" dirty="0" err="1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exclude_user</a:t>
            </a:r>
            <a:r>
              <a:rPr lang="en-US" altLang="zh-CN" sz="2000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=1</a:t>
            </a:r>
            <a:r>
              <a:rPr lang="zh-CN" altLang="en-US" sz="2000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en-US" altLang="zh-CN" sz="2000" dirty="0" err="1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exclude_kernel</a:t>
            </a:r>
            <a:r>
              <a:rPr lang="en-US" altLang="zh-CN" sz="2000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=0    35,034</a:t>
            </a:r>
            <a:endParaRPr lang="en-CN" sz="2000" dirty="0">
              <a:latin typeface="Arial" panose="020B0604020202020204" pitchFamily="34" charset="0"/>
              <a:ea typeface="Microsoft YaHei U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299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ea typeface="Microsoft YaHei UI"/>
                <a:cs typeface="Arial"/>
              </a:rPr>
              <a:t>线程 </a:t>
            </a:r>
            <a:r>
              <a:rPr lang="en-US" altLang="zh-CN" sz="3200" dirty="0">
                <a:ea typeface="Microsoft YaHei UI"/>
                <a:cs typeface="Arial"/>
              </a:rPr>
              <a:t>A </a:t>
            </a:r>
            <a:r>
              <a:rPr lang="zh-CN" altLang="en-US" sz="3200" dirty="0">
                <a:ea typeface="Microsoft YaHei UI"/>
                <a:cs typeface="Arial"/>
              </a:rPr>
              <a:t>开始运行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19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38200" y="1830000"/>
            <a:ext cx="32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en-US" altLang="zh-CN" sz="2200" dirty="0">
                <a:solidFill>
                  <a:srgbClr val="000000"/>
                </a:solidFill>
                <a:ea typeface="Microsoft YaHei UI"/>
                <a:cs typeface="Arial"/>
              </a:rPr>
              <a:t>CPU </a:t>
            </a:r>
            <a:r>
              <a:rPr lang="zh-CN" altLang="en-US" sz="2200" dirty="0">
                <a:solidFill>
                  <a:srgbClr val="000000"/>
                </a:solidFill>
                <a:ea typeface="Microsoft YaHei UI"/>
                <a:cs typeface="Arial"/>
              </a:rPr>
              <a:t>的硬件计数器</a:t>
            </a:r>
            <a:endParaRPr lang="zh-CN" altLang="en-US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938200" y="1830000"/>
            <a:ext cx="3200000" cy="5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en-US" altLang="zh-CN" sz="2200" dirty="0">
                <a:solidFill>
                  <a:srgbClr val="000000"/>
                </a:solidFill>
                <a:ea typeface="Microsoft YaHei UI"/>
                <a:cs typeface="Arial"/>
              </a:rPr>
              <a:t>A </a:t>
            </a:r>
            <a:r>
              <a:rPr lang="zh-CN" altLang="en-US" sz="2200" dirty="0">
                <a:solidFill>
                  <a:srgbClr val="000000"/>
                </a:solidFill>
                <a:ea typeface="Microsoft YaHei UI"/>
                <a:cs typeface="Arial"/>
              </a:rPr>
              <a:t>的软件累计值</a:t>
            </a:r>
            <a:endParaRPr lang="en-US" altLang="zh-CN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38200" y="1830000"/>
            <a:ext cx="32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en-US" altLang="zh-CN" sz="2200" dirty="0">
                <a:solidFill>
                  <a:srgbClr val="000000"/>
                </a:solidFill>
                <a:ea typeface="Microsoft YaHei UI"/>
                <a:cs typeface="Arial"/>
              </a:rPr>
              <a:t>B </a:t>
            </a:r>
            <a:r>
              <a:rPr lang="zh-CN" altLang="en-US" sz="2200" dirty="0">
                <a:solidFill>
                  <a:srgbClr val="000000"/>
                </a:solidFill>
                <a:ea typeface="Microsoft YaHei UI"/>
                <a:cs typeface="Arial"/>
              </a:rPr>
              <a:t>的软件累计值</a:t>
            </a:r>
            <a:endParaRPr lang="zh-CN" altLang="en-US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8200" y="1910000"/>
            <a:ext cx="9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ea typeface="Microsoft YaHei UI"/>
                <a:cs typeface="Arial"/>
              </a:rPr>
              <a:t>CPU 0</a:t>
            </a:r>
            <a:endParaRPr lang="zh-CN" altLang="en-US" sz="14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38200" y="2430000"/>
            <a:ext cx="320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ea typeface="Microsoft YaHei UI"/>
                <a:cs typeface="Arial"/>
              </a:rPr>
              <a:t>H = 0</a:t>
            </a:r>
          </a:p>
          <a:p>
            <a:r>
              <a:rPr lang="zh-CN" altLang="en-US" sz="2200" dirty="0">
                <a:ea typeface="Microsoft YaHei UI"/>
                <a:cs typeface="Arial"/>
              </a:rPr>
              <a:t>当前统计线程 </a:t>
            </a:r>
            <a:r>
              <a:rPr lang="en-US" altLang="zh-CN" sz="2200" dirty="0">
                <a:ea typeface="Microsoft YaHei UI"/>
                <a:cs typeface="Arial"/>
              </a:rPr>
              <a:t>A</a:t>
            </a:r>
            <a:endParaRPr lang="zh-CN" altLang="en-US" sz="2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38200" y="2430000"/>
            <a:ext cx="320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 err="1">
                <a:ea typeface="Microsoft YaHei UI"/>
                <a:cs typeface="Arial"/>
              </a:rPr>
              <a:t>A.total</a:t>
            </a:r>
            <a:r>
              <a:rPr lang="en-US" altLang="zh-CN" sz="2200" dirty="0">
                <a:ea typeface="Microsoft YaHei UI"/>
                <a:cs typeface="Arial"/>
              </a:rPr>
              <a:t> = 0</a:t>
            </a:r>
          </a:p>
          <a:p>
            <a:r>
              <a:rPr lang="zh-CN" altLang="en-US" sz="2200" dirty="0">
                <a:ea typeface="Microsoft YaHei UI"/>
                <a:cs typeface="Arial"/>
              </a:rPr>
              <a:t>保存在 </a:t>
            </a:r>
            <a:r>
              <a:rPr lang="en-US" altLang="zh-CN" sz="2200" dirty="0">
                <a:ea typeface="Microsoft YaHei UI"/>
                <a:cs typeface="Arial"/>
              </a:rPr>
              <a:t>A </a:t>
            </a:r>
            <a:r>
              <a:rPr lang="zh-CN" altLang="en-US" sz="2200" dirty="0">
                <a:ea typeface="Microsoft YaHei UI"/>
                <a:cs typeface="Arial"/>
              </a:rPr>
              <a:t>的事件对象</a:t>
            </a:r>
            <a:endParaRPr lang="zh-CN" altLang="en-US" sz="2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38200" y="2430000"/>
            <a:ext cx="320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 err="1">
                <a:ea typeface="Microsoft YaHei UI"/>
                <a:cs typeface="Arial"/>
              </a:rPr>
              <a:t>B.total</a:t>
            </a:r>
            <a:r>
              <a:rPr lang="en-US" altLang="zh-CN" sz="2200" dirty="0">
                <a:ea typeface="Microsoft YaHei UI"/>
                <a:cs typeface="Arial"/>
              </a:rPr>
              <a:t> = 0</a:t>
            </a:r>
          </a:p>
          <a:p>
            <a:r>
              <a:rPr lang="zh-CN" altLang="en-US" sz="2200" dirty="0">
                <a:ea typeface="Microsoft YaHei UI"/>
                <a:cs typeface="Arial"/>
              </a:rPr>
              <a:t>保存在 </a:t>
            </a:r>
            <a:r>
              <a:rPr lang="en-US" altLang="zh-CN" sz="2200" dirty="0">
                <a:ea typeface="Microsoft YaHei UI"/>
                <a:cs typeface="Arial"/>
              </a:rPr>
              <a:t>B </a:t>
            </a:r>
            <a:r>
              <a:rPr lang="zh-CN" altLang="en-US" sz="2200" dirty="0">
                <a:ea typeface="Microsoft YaHei UI"/>
                <a:cs typeface="Arial"/>
              </a:rPr>
              <a:t>的事件对象</a:t>
            </a:r>
            <a:endParaRPr lang="zh-CN" altLang="en-US" sz="2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39C6A2-3DB5-DBB7-4797-CE97888B6B7F}"/>
              </a:ext>
            </a:extLst>
          </p:cNvPr>
          <p:cNvSpPr txBox="1"/>
          <p:nvPr/>
        </p:nvSpPr>
        <p:spPr>
          <a:xfrm>
            <a:off x="838200" y="3698240"/>
            <a:ext cx="10744200" cy="11541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300" b="0" i="0" u="none" strike="noStrike" baseline="0" dirty="0" err="1">
                <a:latin typeface="Consolas" panose="020B0609020204030204" pitchFamily="49" charset="0"/>
                <a:cs typeface="Consolas" panose="020B0609020204030204" pitchFamily="49" charset="0"/>
              </a:rPr>
              <a:t>ax_cpu</a:t>
            </a:r>
            <a:r>
              <a:rPr lang="en-US" altLang="zh-CN" sz="2300" b="0" i="0" u="none" strike="noStrike" baseline="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altLang="zh-CN" sz="2300" b="0" i="0" u="none" strike="noStrike" baseline="0" dirty="0" err="1">
                <a:latin typeface="Consolas" panose="020B0609020204030204" pitchFamily="49" charset="0"/>
                <a:cs typeface="Consolas" panose="020B0609020204030204" pitchFamily="49" charset="0"/>
              </a:rPr>
              <a:t>pmu</a:t>
            </a:r>
            <a:r>
              <a:rPr lang="en-US" altLang="zh-CN" sz="2300" b="0" i="0" u="none" strike="noStrike" baseline="0" dirty="0">
                <a:latin typeface="Consolas" panose="020B0609020204030204" pitchFamily="49" charset="0"/>
                <a:cs typeface="Consolas" panose="020B0609020204030204" pitchFamily="49" charset="0"/>
              </a:rPr>
              <a:t>::counter::</a:t>
            </a:r>
            <a: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configure(</a:t>
            </a:r>
            <a:b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n, </a:t>
            </a:r>
            <a:r>
              <a:rPr lang="en-US" altLang="zh-CN" sz="23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ptc.event</a:t>
            </a:r>
            <a: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23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ptc.exclude_user</a:t>
            </a:r>
            <a: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23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ptc.exclude_kernel</a:t>
            </a:r>
            <a: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3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ax_cpu</a:t>
            </a:r>
            <a: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altLang="zh-CN" sz="23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pmu</a:t>
            </a:r>
            <a: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::counter::enable(n);</a:t>
            </a:r>
            <a:endParaRPr lang="en-CN" sz="23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504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BEB45-D443-493E-895C-7D2CB6274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03C29A-FA03-1D31-55F2-6B6D3F41BE98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ea typeface="Microsoft YaHei UI"/>
                <a:cs typeface="Arial"/>
              </a:rPr>
              <a:t>调出 </a:t>
            </a:r>
            <a:r>
              <a:rPr lang="en-US" altLang="zh-CN" sz="3200" dirty="0">
                <a:ea typeface="Microsoft YaHei UI"/>
                <a:cs typeface="Arial"/>
              </a:rPr>
              <a:t>A </a:t>
            </a:r>
            <a:r>
              <a:rPr lang="zh-CN" altLang="en-US" sz="3200" dirty="0">
                <a:ea typeface="Microsoft YaHei UI"/>
                <a:cs typeface="Arial"/>
              </a:rPr>
              <a:t>时保存计数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6FA738-7498-8262-D262-7A9A71A36962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20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8E850E-1CF1-95D3-535F-F24B8476B93D}"/>
              </a:ext>
            </a:extLst>
          </p:cNvPr>
          <p:cNvSpPr/>
          <p:nvPr/>
        </p:nvSpPr>
        <p:spPr>
          <a:xfrm>
            <a:off x="1738200" y="1830000"/>
            <a:ext cx="32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en-US" altLang="zh-CN" sz="2200" dirty="0">
                <a:solidFill>
                  <a:srgbClr val="000000"/>
                </a:solidFill>
                <a:ea typeface="Microsoft YaHei UI"/>
                <a:cs typeface="Arial"/>
              </a:rPr>
              <a:t>CPU </a:t>
            </a:r>
            <a:r>
              <a:rPr lang="zh-CN" altLang="en-US" sz="2200" dirty="0">
                <a:solidFill>
                  <a:srgbClr val="000000"/>
                </a:solidFill>
                <a:ea typeface="Microsoft YaHei UI"/>
                <a:cs typeface="Arial"/>
              </a:rPr>
              <a:t>的硬件计数器</a:t>
            </a:r>
            <a:endParaRPr lang="zh-CN" altLang="en-US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C5A798-B051-8289-A4F2-2D38800BFCB3}"/>
              </a:ext>
            </a:extLst>
          </p:cNvPr>
          <p:cNvSpPr/>
          <p:nvPr/>
        </p:nvSpPr>
        <p:spPr>
          <a:xfrm>
            <a:off x="4938200" y="1830000"/>
            <a:ext cx="3200000" cy="5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en-US" altLang="zh-CN" sz="2200" dirty="0">
                <a:solidFill>
                  <a:srgbClr val="000000"/>
                </a:solidFill>
                <a:ea typeface="Microsoft YaHei UI"/>
                <a:cs typeface="Arial"/>
              </a:rPr>
              <a:t>A </a:t>
            </a:r>
            <a:r>
              <a:rPr lang="zh-CN" altLang="en-US" sz="2200" dirty="0">
                <a:solidFill>
                  <a:srgbClr val="000000"/>
                </a:solidFill>
                <a:ea typeface="Microsoft YaHei UI"/>
                <a:cs typeface="Arial"/>
              </a:rPr>
              <a:t>的软件累计值</a:t>
            </a:r>
            <a:endParaRPr lang="en-US" altLang="zh-CN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E2BCF5-B03D-A16C-9F98-966808656EB9}"/>
              </a:ext>
            </a:extLst>
          </p:cNvPr>
          <p:cNvSpPr/>
          <p:nvPr/>
        </p:nvSpPr>
        <p:spPr>
          <a:xfrm>
            <a:off x="8138200" y="1830000"/>
            <a:ext cx="32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en-US" altLang="zh-CN" sz="2200" dirty="0">
                <a:solidFill>
                  <a:srgbClr val="000000"/>
                </a:solidFill>
                <a:ea typeface="Microsoft YaHei UI"/>
                <a:cs typeface="Arial"/>
              </a:rPr>
              <a:t>B </a:t>
            </a:r>
            <a:r>
              <a:rPr lang="zh-CN" altLang="en-US" sz="2200" dirty="0">
                <a:solidFill>
                  <a:srgbClr val="000000"/>
                </a:solidFill>
                <a:ea typeface="Microsoft YaHei UI"/>
                <a:cs typeface="Arial"/>
              </a:rPr>
              <a:t>的软件累计值</a:t>
            </a:r>
            <a:endParaRPr lang="zh-CN" altLang="en-US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C230EA-56F0-A010-F37B-8149EA6C02CE}"/>
              </a:ext>
            </a:extLst>
          </p:cNvPr>
          <p:cNvSpPr txBox="1"/>
          <p:nvPr/>
        </p:nvSpPr>
        <p:spPr>
          <a:xfrm>
            <a:off x="838200" y="1910000"/>
            <a:ext cx="9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ea typeface="Microsoft YaHei UI"/>
                <a:cs typeface="Arial"/>
              </a:rPr>
              <a:t>CPU 0</a:t>
            </a:r>
            <a:endParaRPr lang="zh-CN" altLang="en-US" sz="14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51C329-2B2C-D147-85A1-21690B0F4A82}"/>
              </a:ext>
            </a:extLst>
          </p:cNvPr>
          <p:cNvSpPr txBox="1"/>
          <p:nvPr/>
        </p:nvSpPr>
        <p:spPr>
          <a:xfrm>
            <a:off x="1738200" y="2430000"/>
            <a:ext cx="320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ea typeface="Microsoft YaHei UI"/>
                <a:cs typeface="Arial"/>
              </a:rPr>
              <a:t>H = 120</a:t>
            </a:r>
          </a:p>
          <a:p>
            <a:r>
              <a:rPr lang="zh-CN" altLang="en-US" sz="2200" dirty="0">
                <a:ea typeface="Microsoft YaHei UI"/>
                <a:cs typeface="Arial"/>
              </a:rPr>
              <a:t>读出后停用计数器</a:t>
            </a:r>
            <a:endParaRPr lang="zh-CN" altLang="en-US" sz="2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B62276-2E67-C4EA-3D3C-6B658DF6EFBF}"/>
              </a:ext>
            </a:extLst>
          </p:cNvPr>
          <p:cNvSpPr txBox="1"/>
          <p:nvPr/>
        </p:nvSpPr>
        <p:spPr>
          <a:xfrm>
            <a:off x="4938200" y="2430000"/>
            <a:ext cx="320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 err="1">
                <a:ea typeface="Microsoft YaHei UI"/>
                <a:cs typeface="Arial"/>
              </a:rPr>
              <a:t>A.total</a:t>
            </a:r>
            <a:r>
              <a:rPr lang="en-US" altLang="zh-CN" sz="2200" dirty="0">
                <a:ea typeface="Microsoft YaHei UI"/>
                <a:cs typeface="Arial"/>
              </a:rPr>
              <a:t> = 120</a:t>
            </a:r>
          </a:p>
          <a:p>
            <a:r>
              <a:rPr lang="en-US" altLang="zh-CN" sz="2200" dirty="0">
                <a:ea typeface="Microsoft YaHei UI"/>
                <a:cs typeface="Arial"/>
              </a:rPr>
              <a:t>0 + 120</a:t>
            </a:r>
            <a:endParaRPr lang="zh-CN" altLang="en-US" sz="2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25280E-ECD1-EAD2-D27D-E2BA6B511D8C}"/>
              </a:ext>
            </a:extLst>
          </p:cNvPr>
          <p:cNvSpPr txBox="1"/>
          <p:nvPr/>
        </p:nvSpPr>
        <p:spPr>
          <a:xfrm>
            <a:off x="8138200" y="2430000"/>
            <a:ext cx="320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 err="1">
                <a:ea typeface="Microsoft YaHei UI"/>
                <a:cs typeface="Arial"/>
              </a:rPr>
              <a:t>B.total</a:t>
            </a:r>
            <a:r>
              <a:rPr lang="en-US" altLang="zh-CN" sz="2200" dirty="0">
                <a:ea typeface="Microsoft YaHei UI"/>
                <a:cs typeface="Arial"/>
              </a:rPr>
              <a:t> = 0</a:t>
            </a:r>
          </a:p>
          <a:p>
            <a:r>
              <a:rPr lang="zh-CN" altLang="en-US" sz="2200" dirty="0">
                <a:ea typeface="Microsoft YaHei UI"/>
                <a:cs typeface="Arial"/>
              </a:rPr>
              <a:t>尚未运行</a:t>
            </a:r>
            <a:endParaRPr lang="zh-CN" altLang="en-US" sz="2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DB010E-377A-8FCB-F355-179716D28AE5}"/>
              </a:ext>
            </a:extLst>
          </p:cNvPr>
          <p:cNvSpPr txBox="1"/>
          <p:nvPr/>
        </p:nvSpPr>
        <p:spPr>
          <a:xfrm>
            <a:off x="838200" y="3698240"/>
            <a:ext cx="10744200" cy="18620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3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 delta = </a:t>
            </a:r>
            <a:r>
              <a:rPr lang="en-US" altLang="zh-CN" sz="23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ax_cpu</a:t>
            </a:r>
            <a:r>
              <a:rPr lang="en-US" altLang="zh-CN" sz="23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altLang="zh-CN" sz="23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pmu</a:t>
            </a:r>
            <a:r>
              <a:rPr lang="en-US" altLang="zh-CN" sz="23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::counter::</a:t>
            </a:r>
            <a: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read(n);</a:t>
            </a:r>
            <a:b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3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accumulate {</a:t>
            </a:r>
            <a:br>
              <a:rPr lang="en-US" altLang="zh-CN" sz="23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3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sz="23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ptc.accumulated.</a:t>
            </a:r>
            <a:r>
              <a:rPr lang="en-US" altLang="zh-CN" sz="23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fetch_add</a:t>
            </a:r>
            <a: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(delta, </a:t>
            </a:r>
            <a:r>
              <a:rPr lang="en-US" altLang="zh-CN" sz="23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Ordering::</a:t>
            </a:r>
            <a:r>
              <a:rPr lang="en-US" altLang="zh-CN" sz="2300" b="0" i="0" u="none" strike="noStrike" baseline="0" dirty="0" err="1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AcqRel</a:t>
            </a:r>
            <a:r>
              <a:rPr lang="en-US" altLang="zh-CN" sz="23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altLang="zh-CN" sz="23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3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altLang="zh-CN" sz="23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300" b="0" i="0" u="none" strike="noStrike" baseline="0" dirty="0" err="1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ax_cpu</a:t>
            </a:r>
            <a:r>
              <a:rPr lang="en-US" altLang="zh-CN" sz="23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altLang="zh-CN" sz="2300" b="0" i="0" u="none" strike="noStrike" baseline="0" dirty="0" err="1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pmu</a:t>
            </a:r>
            <a:r>
              <a:rPr lang="en-US" altLang="zh-CN" sz="23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::counter::</a:t>
            </a:r>
            <a: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disable(n);</a:t>
            </a:r>
            <a:endParaRPr lang="en-US" altLang="zh-CN" sz="2300" b="0" i="0" u="none" strike="noStrike" baseline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941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E40C9-FB83-FDEE-7399-1D8C8A546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ED687E-3A23-95AB-0126-93C4DAE2AAF9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ea typeface="Microsoft YaHei UI"/>
                <a:cs typeface="Arial"/>
              </a:rPr>
              <a:t>线程 </a:t>
            </a:r>
            <a:r>
              <a:rPr lang="en-US" altLang="zh-CN" sz="3200" dirty="0">
                <a:ea typeface="Microsoft YaHei UI"/>
                <a:cs typeface="Arial"/>
              </a:rPr>
              <a:t>B </a:t>
            </a:r>
            <a:r>
              <a:rPr lang="zh-CN" altLang="en-US" sz="3200" dirty="0">
                <a:ea typeface="Microsoft YaHei UI"/>
                <a:cs typeface="Arial"/>
              </a:rPr>
              <a:t>使用同一计数器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8957FE-7958-0D3A-E711-8BE272F86A7F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>
                <a:ea typeface="Microsoft YaHei UI"/>
                <a:cs typeface="Arial"/>
              </a:rPr>
              <a:t>21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956653-C8B5-9B56-774F-E0FDB45DA14B}"/>
              </a:ext>
            </a:extLst>
          </p:cNvPr>
          <p:cNvSpPr/>
          <p:nvPr/>
        </p:nvSpPr>
        <p:spPr>
          <a:xfrm>
            <a:off x="1738200" y="1830000"/>
            <a:ext cx="32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en-US" altLang="zh-CN" sz="2200" dirty="0">
                <a:solidFill>
                  <a:srgbClr val="000000"/>
                </a:solidFill>
                <a:ea typeface="Microsoft YaHei UI"/>
                <a:cs typeface="Arial"/>
              </a:rPr>
              <a:t>CPU </a:t>
            </a:r>
            <a:r>
              <a:rPr lang="zh-CN" altLang="en-US" sz="2200" dirty="0">
                <a:solidFill>
                  <a:srgbClr val="000000"/>
                </a:solidFill>
                <a:ea typeface="Microsoft YaHei UI"/>
                <a:cs typeface="Arial"/>
              </a:rPr>
              <a:t>的硬件计数器</a:t>
            </a:r>
            <a:endParaRPr lang="zh-CN" altLang="en-US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70597A-643D-761F-9183-CFE2112E0AA8}"/>
              </a:ext>
            </a:extLst>
          </p:cNvPr>
          <p:cNvSpPr/>
          <p:nvPr/>
        </p:nvSpPr>
        <p:spPr>
          <a:xfrm>
            <a:off x="4938200" y="1830000"/>
            <a:ext cx="3200000" cy="5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en-US" altLang="zh-CN" sz="2200" dirty="0">
                <a:solidFill>
                  <a:srgbClr val="000000"/>
                </a:solidFill>
                <a:ea typeface="Microsoft YaHei UI"/>
                <a:cs typeface="Arial"/>
              </a:rPr>
              <a:t>A </a:t>
            </a:r>
            <a:r>
              <a:rPr lang="zh-CN" altLang="en-US" sz="2200" dirty="0">
                <a:solidFill>
                  <a:srgbClr val="000000"/>
                </a:solidFill>
                <a:ea typeface="Microsoft YaHei UI"/>
                <a:cs typeface="Arial"/>
              </a:rPr>
              <a:t>的软件累计值</a:t>
            </a:r>
            <a:endParaRPr lang="en-US" altLang="zh-CN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425EF9-FAEB-5F60-4852-9B9E2CF9B5CA}"/>
              </a:ext>
            </a:extLst>
          </p:cNvPr>
          <p:cNvSpPr/>
          <p:nvPr/>
        </p:nvSpPr>
        <p:spPr>
          <a:xfrm>
            <a:off x="8138200" y="1830000"/>
            <a:ext cx="32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en-US" altLang="zh-CN" sz="2200" dirty="0">
                <a:solidFill>
                  <a:srgbClr val="000000"/>
                </a:solidFill>
                <a:ea typeface="Microsoft YaHei UI"/>
                <a:cs typeface="Arial"/>
              </a:rPr>
              <a:t>B </a:t>
            </a:r>
            <a:r>
              <a:rPr lang="zh-CN" altLang="en-US" sz="2200" dirty="0">
                <a:solidFill>
                  <a:srgbClr val="000000"/>
                </a:solidFill>
                <a:ea typeface="Microsoft YaHei UI"/>
                <a:cs typeface="Arial"/>
              </a:rPr>
              <a:t>的软件累计值</a:t>
            </a:r>
            <a:endParaRPr lang="zh-CN" altLang="en-US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C70097-3656-CAD5-C232-FB56079D1BA6}"/>
              </a:ext>
            </a:extLst>
          </p:cNvPr>
          <p:cNvSpPr txBox="1"/>
          <p:nvPr/>
        </p:nvSpPr>
        <p:spPr>
          <a:xfrm>
            <a:off x="838200" y="1910000"/>
            <a:ext cx="9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ea typeface="Microsoft YaHei UI"/>
                <a:cs typeface="Arial"/>
              </a:rPr>
              <a:t>CPU 0</a:t>
            </a:r>
            <a:endParaRPr lang="zh-CN" altLang="en-US" sz="14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0C5C2F-3820-EAC9-2A99-879E5A567F02}"/>
              </a:ext>
            </a:extLst>
          </p:cNvPr>
          <p:cNvSpPr txBox="1"/>
          <p:nvPr/>
        </p:nvSpPr>
        <p:spPr>
          <a:xfrm>
            <a:off x="1738200" y="2430000"/>
            <a:ext cx="320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ea typeface="Microsoft YaHei UI"/>
                <a:cs typeface="Arial"/>
              </a:rPr>
              <a:t>H = 50</a:t>
            </a:r>
          </a:p>
          <a:p>
            <a:r>
              <a:rPr lang="zh-CN" altLang="en-US" sz="2200" dirty="0">
                <a:ea typeface="Microsoft YaHei UI"/>
                <a:cs typeface="Arial"/>
              </a:rPr>
              <a:t>当前统计线程 </a:t>
            </a:r>
            <a:r>
              <a:rPr lang="en-US" altLang="zh-CN" sz="2200" dirty="0">
                <a:ea typeface="Microsoft YaHei UI"/>
                <a:cs typeface="Arial"/>
              </a:rPr>
              <a:t>B</a:t>
            </a:r>
            <a:endParaRPr lang="zh-CN" altLang="en-US" sz="2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CA58FF-C6FE-916B-B458-DD487C9ED525}"/>
              </a:ext>
            </a:extLst>
          </p:cNvPr>
          <p:cNvSpPr txBox="1"/>
          <p:nvPr/>
        </p:nvSpPr>
        <p:spPr>
          <a:xfrm>
            <a:off x="4938200" y="2430000"/>
            <a:ext cx="320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 err="1">
                <a:ea typeface="Microsoft YaHei UI"/>
                <a:cs typeface="Arial"/>
              </a:rPr>
              <a:t>A.total</a:t>
            </a:r>
            <a:r>
              <a:rPr lang="en-US" altLang="zh-CN" sz="2200" dirty="0">
                <a:ea typeface="Microsoft YaHei UI"/>
                <a:cs typeface="Arial"/>
              </a:rPr>
              <a:t> = 120</a:t>
            </a:r>
          </a:p>
          <a:p>
            <a:r>
              <a:rPr lang="zh-CN" altLang="en-US" sz="2200" dirty="0">
                <a:ea typeface="Microsoft YaHei UI"/>
                <a:cs typeface="Arial"/>
              </a:rPr>
              <a:t>保留 </a:t>
            </a:r>
            <a:r>
              <a:rPr lang="en-US" altLang="zh-CN" sz="2200" dirty="0">
                <a:ea typeface="Microsoft YaHei UI"/>
                <a:cs typeface="Arial"/>
              </a:rPr>
              <a:t>A </a:t>
            </a:r>
            <a:r>
              <a:rPr lang="zh-CN" altLang="en-US" sz="2200" dirty="0">
                <a:ea typeface="Microsoft YaHei UI"/>
                <a:cs typeface="Arial"/>
              </a:rPr>
              <a:t>的测量结果</a:t>
            </a:r>
            <a:endParaRPr lang="zh-CN" altLang="en-US" sz="2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628B29-5745-8B27-F1FD-5754A54F1F71}"/>
              </a:ext>
            </a:extLst>
          </p:cNvPr>
          <p:cNvSpPr txBox="1"/>
          <p:nvPr/>
        </p:nvSpPr>
        <p:spPr>
          <a:xfrm>
            <a:off x="8138200" y="2430000"/>
            <a:ext cx="320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 err="1">
                <a:ea typeface="Microsoft YaHei UI"/>
                <a:cs typeface="Arial"/>
              </a:rPr>
              <a:t>B.total</a:t>
            </a:r>
            <a:r>
              <a:rPr lang="en-US" altLang="zh-CN" sz="2200" dirty="0">
                <a:ea typeface="Microsoft YaHei UI"/>
                <a:cs typeface="Arial"/>
              </a:rPr>
              <a:t> = 0</a:t>
            </a:r>
          </a:p>
          <a:p>
            <a:r>
              <a:rPr lang="zh-CN" altLang="en-US" sz="2200" dirty="0">
                <a:ea typeface="Microsoft YaHei UI"/>
                <a:cs typeface="Arial"/>
              </a:rPr>
              <a:t>调出 </a:t>
            </a:r>
            <a:r>
              <a:rPr lang="en-US" altLang="zh-CN" sz="2200" dirty="0">
                <a:ea typeface="Microsoft YaHei UI"/>
                <a:cs typeface="Arial"/>
              </a:rPr>
              <a:t>B </a:t>
            </a:r>
            <a:r>
              <a:rPr lang="zh-CN" altLang="en-US" sz="2200" dirty="0">
                <a:ea typeface="Microsoft YaHei UI"/>
                <a:cs typeface="Arial"/>
              </a:rPr>
              <a:t>时才保存 </a:t>
            </a:r>
            <a:r>
              <a:rPr lang="en-US" altLang="zh-CN" sz="2200" dirty="0">
                <a:ea typeface="Microsoft YaHei UI"/>
                <a:cs typeface="Arial"/>
              </a:rPr>
              <a:t>50</a:t>
            </a:r>
            <a:endParaRPr lang="zh-CN" altLang="en-US" sz="2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AC0CEF-E917-15F1-89FE-AB2D47B0A69B}"/>
              </a:ext>
            </a:extLst>
          </p:cNvPr>
          <p:cNvSpPr txBox="1"/>
          <p:nvPr/>
        </p:nvSpPr>
        <p:spPr>
          <a:xfrm>
            <a:off x="838200" y="3698240"/>
            <a:ext cx="10744200" cy="11541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300" b="0" i="0" u="none" strike="noStrike" baseline="0" dirty="0" err="1">
                <a:latin typeface="Consolas" panose="020B0609020204030204" pitchFamily="49" charset="0"/>
                <a:cs typeface="Consolas" panose="020B0609020204030204" pitchFamily="49" charset="0"/>
              </a:rPr>
              <a:t>ax_cpu</a:t>
            </a:r>
            <a:r>
              <a:rPr lang="en-US" altLang="zh-CN" sz="2300" b="0" i="0" u="none" strike="noStrike" baseline="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altLang="zh-CN" sz="2300" b="0" i="0" u="none" strike="noStrike" baseline="0" dirty="0" err="1">
                <a:latin typeface="Consolas" panose="020B0609020204030204" pitchFamily="49" charset="0"/>
                <a:cs typeface="Consolas" panose="020B0609020204030204" pitchFamily="49" charset="0"/>
              </a:rPr>
              <a:t>pmu</a:t>
            </a:r>
            <a:r>
              <a:rPr lang="en-US" altLang="zh-CN" sz="2300" b="0" i="0" u="none" strike="noStrike" baseline="0" dirty="0">
                <a:latin typeface="Consolas" panose="020B0609020204030204" pitchFamily="49" charset="0"/>
                <a:cs typeface="Consolas" panose="020B0609020204030204" pitchFamily="49" charset="0"/>
              </a:rPr>
              <a:t>::counter::</a:t>
            </a:r>
            <a: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configure(</a:t>
            </a:r>
            <a:b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n, </a:t>
            </a:r>
            <a:r>
              <a:rPr lang="en-US" altLang="zh-CN" sz="23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ptc.event</a:t>
            </a:r>
            <a: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23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ptc.exclude_user</a:t>
            </a:r>
            <a: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23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ptc.exclude_kernel</a:t>
            </a:r>
            <a: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3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ax_cpu</a:t>
            </a:r>
            <a: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altLang="zh-CN" sz="23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pmu</a:t>
            </a:r>
            <a: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::counter::enable(n);</a:t>
            </a:r>
            <a:endParaRPr lang="en-US" altLang="zh-CN" sz="2300" b="0" i="0" u="none" strike="noStrike" baseline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9946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054F5-4E6F-9BA2-D7AF-7E78A2837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B76E51-557F-6E33-E01F-20274BFA346E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ea typeface="Microsoft YaHei UI"/>
                <a:cs typeface="Arial"/>
              </a:rPr>
              <a:t>线程 </a:t>
            </a:r>
            <a:r>
              <a:rPr lang="en-US" altLang="zh-CN" sz="3200" dirty="0">
                <a:ea typeface="Microsoft YaHei UI"/>
                <a:cs typeface="Arial"/>
              </a:rPr>
              <a:t>A </a:t>
            </a:r>
            <a:r>
              <a:rPr lang="zh-CN" altLang="en-US" sz="3200" dirty="0">
                <a:ea typeface="Microsoft YaHei UI"/>
                <a:cs typeface="Arial"/>
              </a:rPr>
              <a:t>再次开始运行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57E5CD-4769-182E-E3ED-4693BBD0738C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22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31CEE3-BA5F-8CFD-0897-77929C85336B}"/>
              </a:ext>
            </a:extLst>
          </p:cNvPr>
          <p:cNvSpPr/>
          <p:nvPr/>
        </p:nvSpPr>
        <p:spPr>
          <a:xfrm>
            <a:off x="1738200" y="1830000"/>
            <a:ext cx="32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en-US" altLang="zh-CN" sz="2200" dirty="0">
                <a:solidFill>
                  <a:srgbClr val="000000"/>
                </a:solidFill>
                <a:ea typeface="Microsoft YaHei UI"/>
                <a:cs typeface="Arial"/>
              </a:rPr>
              <a:t>CPU </a:t>
            </a:r>
            <a:r>
              <a:rPr lang="zh-CN" altLang="en-US" sz="2200" dirty="0">
                <a:solidFill>
                  <a:srgbClr val="000000"/>
                </a:solidFill>
                <a:ea typeface="Microsoft YaHei UI"/>
                <a:cs typeface="Arial"/>
              </a:rPr>
              <a:t>的硬件计数器</a:t>
            </a:r>
            <a:endParaRPr lang="zh-CN" altLang="en-US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7FAEE8-0C4B-E1ED-36B2-D7D751777772}"/>
              </a:ext>
            </a:extLst>
          </p:cNvPr>
          <p:cNvSpPr/>
          <p:nvPr/>
        </p:nvSpPr>
        <p:spPr>
          <a:xfrm>
            <a:off x="4938200" y="1830000"/>
            <a:ext cx="3200000" cy="5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en-US" altLang="zh-CN" sz="2200" dirty="0">
                <a:solidFill>
                  <a:srgbClr val="000000"/>
                </a:solidFill>
                <a:ea typeface="Microsoft YaHei UI"/>
                <a:cs typeface="Arial"/>
              </a:rPr>
              <a:t>A </a:t>
            </a:r>
            <a:r>
              <a:rPr lang="zh-CN" altLang="en-US" sz="2200" dirty="0">
                <a:solidFill>
                  <a:srgbClr val="000000"/>
                </a:solidFill>
                <a:ea typeface="Microsoft YaHei UI"/>
                <a:cs typeface="Arial"/>
              </a:rPr>
              <a:t>的软件累计值</a:t>
            </a:r>
            <a:endParaRPr lang="en-US" altLang="zh-CN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E7DDC9-39D1-4ADF-0A94-AC2D329C4158}"/>
              </a:ext>
            </a:extLst>
          </p:cNvPr>
          <p:cNvSpPr/>
          <p:nvPr/>
        </p:nvSpPr>
        <p:spPr>
          <a:xfrm>
            <a:off x="8138200" y="1830000"/>
            <a:ext cx="32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en-US" altLang="zh-CN" sz="2200" dirty="0">
                <a:solidFill>
                  <a:srgbClr val="000000"/>
                </a:solidFill>
                <a:ea typeface="Microsoft YaHei UI"/>
                <a:cs typeface="Arial"/>
              </a:rPr>
              <a:t>B </a:t>
            </a:r>
            <a:r>
              <a:rPr lang="zh-CN" altLang="en-US" sz="2200" dirty="0">
                <a:solidFill>
                  <a:srgbClr val="000000"/>
                </a:solidFill>
                <a:ea typeface="Microsoft YaHei UI"/>
                <a:cs typeface="Arial"/>
              </a:rPr>
              <a:t>的软件累计值</a:t>
            </a:r>
            <a:endParaRPr lang="zh-CN" altLang="en-US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C897D0-362A-EEE9-798E-621F565A5360}"/>
              </a:ext>
            </a:extLst>
          </p:cNvPr>
          <p:cNvSpPr txBox="1"/>
          <p:nvPr/>
        </p:nvSpPr>
        <p:spPr>
          <a:xfrm>
            <a:off x="838200" y="1910000"/>
            <a:ext cx="9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ea typeface="Microsoft YaHei UI"/>
                <a:cs typeface="Arial"/>
              </a:rPr>
              <a:t>CPU 0</a:t>
            </a:r>
            <a:endParaRPr lang="zh-CN" altLang="en-US" sz="14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355960-FDFA-8621-90B0-559AE8BDC420}"/>
              </a:ext>
            </a:extLst>
          </p:cNvPr>
          <p:cNvSpPr txBox="1"/>
          <p:nvPr/>
        </p:nvSpPr>
        <p:spPr>
          <a:xfrm>
            <a:off x="1738200" y="2430000"/>
            <a:ext cx="320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ea typeface="Microsoft YaHei UI"/>
                <a:cs typeface="Arial"/>
              </a:rPr>
              <a:t>H = 0</a:t>
            </a:r>
          </a:p>
          <a:p>
            <a:r>
              <a:rPr lang="zh-CN" altLang="en-US" sz="2200" dirty="0">
                <a:ea typeface="Microsoft YaHei UI"/>
                <a:cs typeface="Arial"/>
              </a:rPr>
              <a:t>当前统计线程 </a:t>
            </a:r>
            <a:r>
              <a:rPr lang="en-US" altLang="zh-CN" sz="2200" dirty="0">
                <a:ea typeface="Microsoft YaHei UI"/>
                <a:cs typeface="Arial"/>
              </a:rPr>
              <a:t>A</a:t>
            </a:r>
            <a:endParaRPr lang="zh-CN" altLang="en-US" sz="2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3BE43C-AB93-8ACC-CA97-A9E0D409F821}"/>
              </a:ext>
            </a:extLst>
          </p:cNvPr>
          <p:cNvSpPr txBox="1"/>
          <p:nvPr/>
        </p:nvSpPr>
        <p:spPr>
          <a:xfrm>
            <a:off x="4938200" y="2430000"/>
            <a:ext cx="320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 err="1">
                <a:ea typeface="Microsoft YaHei UI"/>
                <a:cs typeface="Arial"/>
              </a:rPr>
              <a:t>A.total</a:t>
            </a:r>
            <a:r>
              <a:rPr lang="en-US" altLang="zh-CN" sz="2200" dirty="0">
                <a:ea typeface="Microsoft YaHei UI"/>
                <a:cs typeface="Arial"/>
              </a:rPr>
              <a:t> = 120</a:t>
            </a:r>
          </a:p>
          <a:p>
            <a:r>
              <a:rPr lang="zh-CN" altLang="en-US" sz="2200" dirty="0">
                <a:ea typeface="Microsoft YaHei UI"/>
                <a:cs typeface="Arial"/>
              </a:rPr>
              <a:t>保留前次运行的计数</a:t>
            </a:r>
            <a:endParaRPr lang="zh-CN" altLang="en-US" sz="2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D3689C-1E7C-91C2-9773-D93DEE656277}"/>
              </a:ext>
            </a:extLst>
          </p:cNvPr>
          <p:cNvSpPr txBox="1"/>
          <p:nvPr/>
        </p:nvSpPr>
        <p:spPr>
          <a:xfrm>
            <a:off x="8138200" y="2430000"/>
            <a:ext cx="320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 err="1">
                <a:ea typeface="Microsoft YaHei UI"/>
                <a:cs typeface="Arial"/>
              </a:rPr>
              <a:t>B.total</a:t>
            </a:r>
            <a:r>
              <a:rPr lang="en-US" altLang="zh-CN" sz="2200" dirty="0">
                <a:ea typeface="Microsoft YaHei UI"/>
                <a:cs typeface="Arial"/>
              </a:rPr>
              <a:t> = 50</a:t>
            </a:r>
          </a:p>
          <a:p>
            <a:r>
              <a:rPr lang="en-US" altLang="zh-CN" sz="2200" dirty="0">
                <a:ea typeface="Microsoft YaHei UI"/>
                <a:cs typeface="Arial"/>
              </a:rPr>
              <a:t>B </a:t>
            </a:r>
            <a:r>
              <a:rPr lang="zh-CN" altLang="en-US" sz="2200" dirty="0">
                <a:ea typeface="Microsoft YaHei UI"/>
                <a:cs typeface="Arial"/>
              </a:rPr>
              <a:t>已经调出</a:t>
            </a:r>
            <a:endParaRPr lang="zh-CN" altLang="en-US" sz="2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73FFEC-3CC3-B5FF-9157-73CBC5B51081}"/>
              </a:ext>
            </a:extLst>
          </p:cNvPr>
          <p:cNvSpPr txBox="1"/>
          <p:nvPr/>
        </p:nvSpPr>
        <p:spPr>
          <a:xfrm>
            <a:off x="838200" y="3698240"/>
            <a:ext cx="10744200" cy="11541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300" b="0" i="0" u="none" strike="noStrike" baseline="0" dirty="0" err="1">
                <a:latin typeface="Consolas" panose="020B0609020204030204" pitchFamily="49" charset="0"/>
                <a:cs typeface="Consolas" panose="020B0609020204030204" pitchFamily="49" charset="0"/>
              </a:rPr>
              <a:t>ax_cpu</a:t>
            </a:r>
            <a:r>
              <a:rPr lang="en-US" altLang="zh-CN" sz="2300" b="0" i="0" u="none" strike="noStrike" baseline="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altLang="zh-CN" sz="2300" b="0" i="0" u="none" strike="noStrike" baseline="0" dirty="0" err="1">
                <a:latin typeface="Consolas" panose="020B0609020204030204" pitchFamily="49" charset="0"/>
                <a:cs typeface="Consolas" panose="020B0609020204030204" pitchFamily="49" charset="0"/>
              </a:rPr>
              <a:t>pmu</a:t>
            </a:r>
            <a:r>
              <a:rPr lang="en-US" altLang="zh-CN" sz="2300" b="0" i="0" u="none" strike="noStrike" baseline="0" dirty="0">
                <a:latin typeface="Consolas" panose="020B0609020204030204" pitchFamily="49" charset="0"/>
                <a:cs typeface="Consolas" panose="020B0609020204030204" pitchFamily="49" charset="0"/>
              </a:rPr>
              <a:t>::counter::</a:t>
            </a:r>
            <a: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configure(</a:t>
            </a:r>
            <a:b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n, </a:t>
            </a:r>
            <a:r>
              <a:rPr lang="en-US" altLang="zh-CN" sz="23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ptc.event</a:t>
            </a:r>
            <a: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23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ptc.exclude_user</a:t>
            </a:r>
            <a: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23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ptc.exclude_kernel</a:t>
            </a:r>
            <a: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3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ax_cpu</a:t>
            </a:r>
            <a: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altLang="zh-CN" sz="23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pmu</a:t>
            </a:r>
            <a: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::counter::enable(n);</a:t>
            </a:r>
            <a:endParaRPr lang="en-US" altLang="zh-CN" sz="2300" b="0" i="0" u="none" strike="noStrike" baseline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4934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73196-2E49-397D-DCE4-8C786E83B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354003-04D8-4AD2-DA85-ED460411997B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>
                <a:ea typeface="Microsoft YaHei UI"/>
                <a:cs typeface="Arial"/>
              </a:rPr>
              <a:t>运行中的 </a:t>
            </a:r>
            <a:r>
              <a:rPr lang="en-US" altLang="zh-CN" sz="3200" dirty="0">
                <a:ea typeface="Microsoft YaHei UI"/>
                <a:cs typeface="Arial"/>
              </a:rPr>
              <a:t>read </a:t>
            </a:r>
            <a:r>
              <a:rPr lang="zh-CN" altLang="en-US" sz="3200" dirty="0">
                <a:ea typeface="Microsoft YaHei UI"/>
                <a:cs typeface="Arial"/>
              </a:rPr>
              <a:t>包含当前计数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505A39-DFF0-4D51-BD45-F3C635FF5329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>
                <a:ea typeface="Microsoft YaHei UI"/>
                <a:cs typeface="Arial"/>
              </a:rPr>
              <a:t>23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EDADDE-F5B0-96E2-8384-C02108C680F1}"/>
              </a:ext>
            </a:extLst>
          </p:cNvPr>
          <p:cNvSpPr txBox="1"/>
          <p:nvPr/>
        </p:nvSpPr>
        <p:spPr>
          <a:xfrm>
            <a:off x="838200" y="1513840"/>
            <a:ext cx="10744200" cy="31700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 mut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value =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ptc.accumulated.load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(Ordering::Acquire);</a:t>
            </a:r>
          </a:p>
          <a:p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ptc.running.load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(Ordering::Acquire)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&amp;&amp;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ptc.last_cpu.load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(Ordering::Acquire)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==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ax_hal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percpu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this_cpu_id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n =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ptc.slot.load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(Ordering::Acquire);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n != NO_SLOT 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value +=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ax_cpu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pmu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::counter::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(n);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1D7BE6-F62E-C770-DCFC-54DAF398422E}"/>
              </a:ext>
            </a:extLst>
          </p:cNvPr>
          <p:cNvSpPr txBox="1"/>
          <p:nvPr/>
        </p:nvSpPr>
        <p:spPr>
          <a:xfrm>
            <a:off x="838200" y="5040000"/>
            <a:ext cx="105173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自己读取时，同一 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CPU </a:t>
            </a:r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返回 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120 + 30 = 150</a:t>
            </a:r>
          </a:p>
          <a:p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其他 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CPU </a:t>
            </a:r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在 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仍运行时读取，这段代码返回已保存的 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120</a:t>
            </a:r>
          </a:p>
          <a:p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中途 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read </a:t>
            </a:r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保持 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accumulated = 120</a:t>
            </a:r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，调出时再累计完整片段</a:t>
            </a:r>
            <a:endParaRPr lang="en-C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1355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038FC-46E0-6390-60DA-1AEDFD235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D83555-1121-EA5A-A39A-DEB4742B9E15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ea typeface="Microsoft YaHei UI"/>
                <a:cs typeface="Arial"/>
              </a:rPr>
              <a:t>再次调出 </a:t>
            </a:r>
            <a:r>
              <a:rPr lang="en-US" altLang="zh-CN" sz="3200" dirty="0">
                <a:ea typeface="Microsoft YaHei UI"/>
                <a:cs typeface="Arial"/>
              </a:rPr>
              <a:t>A </a:t>
            </a:r>
            <a:r>
              <a:rPr lang="zh-CN" altLang="en-US" sz="3200" dirty="0">
                <a:ea typeface="Microsoft YaHei UI"/>
                <a:cs typeface="Arial"/>
              </a:rPr>
              <a:t>时累计计数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46FB85-97A7-327C-3511-5DC021B9F45E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24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83320A-8BD3-0C98-3CCF-6205388599A8}"/>
              </a:ext>
            </a:extLst>
          </p:cNvPr>
          <p:cNvSpPr/>
          <p:nvPr/>
        </p:nvSpPr>
        <p:spPr>
          <a:xfrm>
            <a:off x="1738200" y="1830000"/>
            <a:ext cx="32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en-US" altLang="zh-CN" sz="2200" dirty="0">
                <a:solidFill>
                  <a:srgbClr val="000000"/>
                </a:solidFill>
                <a:ea typeface="Microsoft YaHei UI"/>
                <a:cs typeface="Arial"/>
              </a:rPr>
              <a:t>CPU </a:t>
            </a:r>
            <a:r>
              <a:rPr lang="zh-CN" altLang="en-US" sz="2200" dirty="0">
                <a:solidFill>
                  <a:srgbClr val="000000"/>
                </a:solidFill>
                <a:ea typeface="Microsoft YaHei UI"/>
                <a:cs typeface="Arial"/>
              </a:rPr>
              <a:t>的硬件计数器</a:t>
            </a:r>
            <a:endParaRPr lang="zh-CN" altLang="en-US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934760-5F3C-6FFE-F528-2582B928A8A4}"/>
              </a:ext>
            </a:extLst>
          </p:cNvPr>
          <p:cNvSpPr/>
          <p:nvPr/>
        </p:nvSpPr>
        <p:spPr>
          <a:xfrm>
            <a:off x="4938200" y="1830000"/>
            <a:ext cx="3200000" cy="5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en-US" altLang="zh-CN" sz="2200" dirty="0">
                <a:solidFill>
                  <a:srgbClr val="000000"/>
                </a:solidFill>
                <a:ea typeface="Microsoft YaHei UI"/>
                <a:cs typeface="Arial"/>
              </a:rPr>
              <a:t>A </a:t>
            </a:r>
            <a:r>
              <a:rPr lang="zh-CN" altLang="en-US" sz="2200" dirty="0">
                <a:solidFill>
                  <a:srgbClr val="000000"/>
                </a:solidFill>
                <a:ea typeface="Microsoft YaHei UI"/>
                <a:cs typeface="Arial"/>
              </a:rPr>
              <a:t>的软件累计值</a:t>
            </a:r>
            <a:endParaRPr lang="en-US" altLang="zh-CN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321D76-9732-2F70-19E2-C62CC34873BA}"/>
              </a:ext>
            </a:extLst>
          </p:cNvPr>
          <p:cNvSpPr/>
          <p:nvPr/>
        </p:nvSpPr>
        <p:spPr>
          <a:xfrm>
            <a:off x="8138200" y="1830000"/>
            <a:ext cx="32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en-US" altLang="zh-CN" sz="2200" dirty="0">
                <a:solidFill>
                  <a:srgbClr val="000000"/>
                </a:solidFill>
                <a:ea typeface="Microsoft YaHei UI"/>
                <a:cs typeface="Arial"/>
              </a:rPr>
              <a:t>B </a:t>
            </a:r>
            <a:r>
              <a:rPr lang="zh-CN" altLang="en-US" sz="2200" dirty="0">
                <a:solidFill>
                  <a:srgbClr val="000000"/>
                </a:solidFill>
                <a:ea typeface="Microsoft YaHei UI"/>
                <a:cs typeface="Arial"/>
              </a:rPr>
              <a:t>的软件累计值</a:t>
            </a:r>
            <a:endParaRPr lang="zh-CN" altLang="en-US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5F649F-733E-FAE3-8BDA-870F130A9109}"/>
              </a:ext>
            </a:extLst>
          </p:cNvPr>
          <p:cNvSpPr txBox="1"/>
          <p:nvPr/>
        </p:nvSpPr>
        <p:spPr>
          <a:xfrm>
            <a:off x="838200" y="1910000"/>
            <a:ext cx="9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ea typeface="Microsoft YaHei UI"/>
                <a:cs typeface="Arial"/>
              </a:rPr>
              <a:t>CPU 0</a:t>
            </a:r>
            <a:endParaRPr lang="zh-CN" altLang="en-US" sz="14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5EC59A-45F7-EDA7-C683-C77CD8DAF2A0}"/>
              </a:ext>
            </a:extLst>
          </p:cNvPr>
          <p:cNvSpPr txBox="1"/>
          <p:nvPr/>
        </p:nvSpPr>
        <p:spPr>
          <a:xfrm>
            <a:off x="1738200" y="2430000"/>
            <a:ext cx="320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ea typeface="Microsoft YaHei UI"/>
                <a:cs typeface="Arial"/>
              </a:rPr>
              <a:t>H = 80</a:t>
            </a:r>
          </a:p>
          <a:p>
            <a:r>
              <a:rPr lang="zh-CN" altLang="en-US" sz="2200" dirty="0">
                <a:ea typeface="Microsoft YaHei UI"/>
                <a:cs typeface="Arial"/>
              </a:rPr>
              <a:t>读出后停用计数器</a:t>
            </a:r>
            <a:endParaRPr lang="zh-CN" altLang="en-US" sz="2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5F17DA-6E59-49B4-6726-9F7C6DB67E3C}"/>
              </a:ext>
            </a:extLst>
          </p:cNvPr>
          <p:cNvSpPr txBox="1"/>
          <p:nvPr/>
        </p:nvSpPr>
        <p:spPr>
          <a:xfrm>
            <a:off x="4938200" y="2430000"/>
            <a:ext cx="320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 err="1">
                <a:ea typeface="Microsoft YaHei UI"/>
                <a:cs typeface="Arial"/>
              </a:rPr>
              <a:t>A.total</a:t>
            </a:r>
            <a:r>
              <a:rPr lang="en-US" altLang="zh-CN" sz="2200" dirty="0">
                <a:ea typeface="Microsoft YaHei UI"/>
                <a:cs typeface="Arial"/>
              </a:rPr>
              <a:t> = 200</a:t>
            </a:r>
          </a:p>
          <a:p>
            <a:r>
              <a:rPr lang="en-US" altLang="zh-CN" sz="2200" dirty="0">
                <a:ea typeface="Microsoft YaHei UI"/>
                <a:cs typeface="Arial"/>
              </a:rPr>
              <a:t>120 + 80</a:t>
            </a:r>
            <a:endParaRPr lang="zh-CN" altLang="en-US" sz="2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E1B5F8-F2FE-F6C3-7B87-4690A15B2CA0}"/>
              </a:ext>
            </a:extLst>
          </p:cNvPr>
          <p:cNvSpPr txBox="1"/>
          <p:nvPr/>
        </p:nvSpPr>
        <p:spPr>
          <a:xfrm>
            <a:off x="8138200" y="2430000"/>
            <a:ext cx="320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 err="1">
                <a:ea typeface="Microsoft YaHei UI"/>
                <a:cs typeface="Arial"/>
              </a:rPr>
              <a:t>B.total</a:t>
            </a:r>
            <a:r>
              <a:rPr lang="en-US" altLang="zh-CN" sz="2200" dirty="0">
                <a:ea typeface="Microsoft YaHei UI"/>
                <a:cs typeface="Arial"/>
              </a:rPr>
              <a:t> = 50</a:t>
            </a:r>
          </a:p>
          <a:p>
            <a:r>
              <a:rPr lang="en-US" altLang="zh-CN" sz="2200" dirty="0">
                <a:ea typeface="Microsoft YaHei UI"/>
                <a:cs typeface="Arial"/>
              </a:rPr>
              <a:t>B </a:t>
            </a:r>
            <a:r>
              <a:rPr lang="zh-CN" altLang="en-US" sz="2200" dirty="0">
                <a:ea typeface="Microsoft YaHei UI"/>
                <a:cs typeface="Arial"/>
              </a:rPr>
              <a:t>已经调出</a:t>
            </a:r>
            <a:endParaRPr lang="zh-CN" altLang="en-US" sz="2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0C94A6-2B99-FB14-CE91-BA5A7DD2D93D}"/>
              </a:ext>
            </a:extLst>
          </p:cNvPr>
          <p:cNvSpPr txBox="1"/>
          <p:nvPr/>
        </p:nvSpPr>
        <p:spPr>
          <a:xfrm>
            <a:off x="838200" y="3698240"/>
            <a:ext cx="10744200" cy="18620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3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 delta = </a:t>
            </a:r>
            <a:r>
              <a:rPr lang="en-US" altLang="zh-CN" sz="23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ax_cpu</a:t>
            </a:r>
            <a:r>
              <a:rPr lang="en-US" altLang="zh-CN" sz="23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altLang="zh-CN" sz="23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pmu</a:t>
            </a:r>
            <a:r>
              <a:rPr lang="en-US" altLang="zh-CN" sz="23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::counter::</a:t>
            </a:r>
            <a: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read(n);</a:t>
            </a:r>
            <a:b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3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accumulate {</a:t>
            </a:r>
            <a:br>
              <a:rPr lang="en-US" altLang="zh-CN" sz="23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3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sz="23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ptc.accumulated.</a:t>
            </a:r>
            <a:r>
              <a:rPr lang="en-US" altLang="zh-CN" sz="23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fetch_add</a:t>
            </a:r>
            <a: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(delta, </a:t>
            </a:r>
            <a:r>
              <a:rPr lang="en-US" altLang="zh-CN" sz="23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Ordering::</a:t>
            </a:r>
            <a:r>
              <a:rPr lang="en-US" altLang="zh-CN" sz="2300" b="0" i="0" u="none" strike="noStrike" baseline="0" dirty="0" err="1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AcqRel</a:t>
            </a:r>
            <a:r>
              <a:rPr lang="en-US" altLang="zh-CN" sz="23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altLang="zh-CN" sz="23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3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altLang="zh-CN" sz="23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300" b="0" i="0" u="none" strike="noStrike" baseline="0" dirty="0" err="1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ax_cpu</a:t>
            </a:r>
            <a:r>
              <a:rPr lang="en-US" altLang="zh-CN" sz="23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altLang="zh-CN" sz="2300" b="0" i="0" u="none" strike="noStrike" baseline="0" dirty="0" err="1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pmu</a:t>
            </a:r>
            <a:r>
              <a:rPr lang="en-US" altLang="zh-CN" sz="23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::counter::</a:t>
            </a:r>
            <a:r>
              <a:rPr lang="en-US" altLang="zh-CN" sz="23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disable(n);</a:t>
            </a:r>
            <a:endParaRPr lang="en-US" altLang="zh-CN" sz="2300" b="0" i="0" u="none" strike="noStrike" baseline="0" dirty="0">
              <a:solidFill>
                <a:srgbClr val="165AB8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9684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CD12D-3AD6-CF04-35C6-C97CC7706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99BD57-CF84-8959-3148-6367C4F540FF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ea typeface="Microsoft YaHei UI"/>
                <a:cs typeface="Arial"/>
              </a:rPr>
              <a:t>独立事件的轮换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222A0B-683B-7E34-61EA-140CE25AAD06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25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E6425C-4CCB-B22E-6F81-FEB24213D629}"/>
              </a:ext>
            </a:extLst>
          </p:cNvPr>
          <p:cNvSpPr txBox="1"/>
          <p:nvPr/>
        </p:nvSpPr>
        <p:spPr>
          <a:xfrm>
            <a:off x="838200" y="3698240"/>
            <a:ext cx="1074420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同一线程启用 </a:t>
            </a:r>
            <a:r>
              <a:rPr lang="en-US" altLang="zh-CN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E0</a:t>
            </a:r>
            <a:r>
              <a:rPr lang="zh-CN" altLang="en-US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E1</a:t>
            </a:r>
            <a:r>
              <a:rPr lang="zh-CN" altLang="en-US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E2</a:t>
            </a:r>
            <a:r>
              <a:rPr lang="zh-CN" altLang="en-US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，硬件只有 </a:t>
            </a:r>
            <a:r>
              <a:rPr lang="en-US" altLang="zh-CN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C0</a:t>
            </a:r>
            <a:r>
              <a:rPr lang="zh-CN" altLang="en-US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C1 </a:t>
            </a:r>
            <a:r>
              <a:rPr lang="zh-CN" altLang="en-US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这 </a:t>
            </a:r>
            <a:r>
              <a:rPr lang="en-US" altLang="zh-CN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zh-CN" altLang="en-US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个计数器</a:t>
            </a:r>
          </a:p>
          <a:p>
            <a:r>
              <a:rPr lang="en-US" altLang="zh-CN" sz="230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time_enabled</a:t>
            </a:r>
            <a:r>
              <a:rPr lang="en-US" altLang="zh-CN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zh-CN" altLang="en-US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每个事件均为 </a:t>
            </a:r>
            <a:r>
              <a:rPr lang="en-US" altLang="zh-CN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10 </a:t>
            </a:r>
            <a:r>
              <a:rPr lang="en-US" altLang="zh-CN" sz="230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ms</a:t>
            </a:r>
            <a:endParaRPr lang="en-US" altLang="zh-CN" sz="2300" dirty="0">
              <a:latin typeface="Microsoft YaHei UI" panose="020B0503020204020204" pitchFamily="34" charset="-122"/>
              <a:ea typeface="Microsoft YaHei UI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zh-CN" sz="230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time_running</a:t>
            </a:r>
            <a:r>
              <a:rPr lang="en-US" altLang="zh-CN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 E0</a:t>
            </a:r>
            <a:r>
              <a:rPr lang="zh-CN" altLang="en-US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E1 </a:t>
            </a:r>
            <a:r>
              <a:rPr lang="zh-CN" altLang="en-US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占用硬件 </a:t>
            </a:r>
            <a:r>
              <a:rPr lang="en-US" altLang="zh-CN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10 </a:t>
            </a:r>
            <a:r>
              <a:rPr lang="en-US" altLang="zh-CN" sz="230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ms</a:t>
            </a:r>
            <a:r>
              <a:rPr lang="zh-CN" altLang="en-US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，</a:t>
            </a:r>
            <a:r>
              <a:rPr lang="en-US" altLang="zh-CN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E2 </a:t>
            </a:r>
            <a:r>
              <a:rPr lang="zh-CN" altLang="en-US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为 </a:t>
            </a:r>
            <a:r>
              <a:rPr lang="en-US" altLang="zh-CN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0 </a:t>
            </a:r>
            <a:r>
              <a:rPr lang="en-US" altLang="zh-CN" sz="230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ms</a:t>
            </a:r>
            <a:endParaRPr lang="en-CN" sz="2300" dirty="0">
              <a:latin typeface="Microsoft YaHei UI" panose="020B0503020204020204" pitchFamily="34" charset="-122"/>
              <a:ea typeface="Microsoft YaHei UI" panose="020B0503020204020204" pitchFamily="34" charset="-122"/>
              <a:cs typeface="Consolas" panose="020B0609020204030204" pitchFamily="49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6EB54A2-ACCC-8359-8D65-25F00C7E8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944056"/>
              </p:ext>
            </p:extLst>
          </p:nvPr>
        </p:nvGraphicFramePr>
        <p:xfrm>
          <a:off x="838799" y="1656000"/>
          <a:ext cx="10512000" cy="18720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504000">
                  <a:extLst>
                    <a:ext uri="{9D8B030D-6E8A-4147-A177-3AD203B41FA5}">
                      <a16:colId xmlns:a16="http://schemas.microsoft.com/office/drawing/2014/main" val="364384588"/>
                    </a:ext>
                  </a:extLst>
                </a:gridCol>
                <a:gridCol w="3504000">
                  <a:extLst>
                    <a:ext uri="{9D8B030D-6E8A-4147-A177-3AD203B41FA5}">
                      <a16:colId xmlns:a16="http://schemas.microsoft.com/office/drawing/2014/main" val="393091911"/>
                    </a:ext>
                  </a:extLst>
                </a:gridCol>
                <a:gridCol w="3504000">
                  <a:extLst>
                    <a:ext uri="{9D8B030D-6E8A-4147-A177-3AD203B41FA5}">
                      <a16:colId xmlns:a16="http://schemas.microsoft.com/office/drawing/2014/main" val="3632215602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事件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0–10 </a:t>
                      </a:r>
                      <a:r>
                        <a:rPr lang="en-US" sz="2000" dirty="0" err="1"/>
                        <a:t>ms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10–20 </a:t>
                      </a:r>
                      <a:r>
                        <a:rPr lang="en-US" sz="2000" dirty="0" err="1"/>
                        <a:t>ms</a:t>
                      </a:r>
                      <a:endParaRPr lang="en-C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901162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2000" dirty="0"/>
                        <a:t>E0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C0 </a:t>
                      </a:r>
                      <a:r>
                        <a:rPr lang="zh-CN" altLang="en-US" sz="2000" dirty="0"/>
                        <a:t>计数 </a:t>
                      </a:r>
                      <a:r>
                        <a:rPr lang="en-US" altLang="zh-CN" sz="2000" dirty="0"/>
                        <a:t>100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尚未开始</a:t>
                      </a:r>
                      <a:endParaRPr lang="en-C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944650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2000" dirty="0"/>
                        <a:t>E1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C1 </a:t>
                      </a:r>
                      <a:r>
                        <a:rPr lang="zh-CN" altLang="en-US" sz="2000" dirty="0"/>
                        <a:t>计数 </a:t>
                      </a:r>
                      <a:r>
                        <a:rPr lang="en-US" altLang="zh-CN" sz="2000" dirty="0"/>
                        <a:t>60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尚未开始</a:t>
                      </a:r>
                      <a:endParaRPr lang="en-C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86153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2000" dirty="0"/>
                        <a:t>E2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等待 计数 </a:t>
                      </a:r>
                      <a:r>
                        <a:rPr lang="en-US" altLang="zh-CN" sz="2000" dirty="0"/>
                        <a:t>0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尚未开始</a:t>
                      </a:r>
                      <a:endParaRPr lang="en-C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8225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06957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865DE-1D84-77BC-8527-21823FE6C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0979D7-687E-EF58-950B-A4B93B55CB0D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ea typeface="Microsoft YaHei UI"/>
                <a:cs typeface="Arial"/>
              </a:rPr>
              <a:t>下一轮分配硬件位置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CE2026-74D6-E75F-B564-59ED2A512770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26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C909CA-DDE8-F441-3C79-27F01A57F1A3}"/>
              </a:ext>
            </a:extLst>
          </p:cNvPr>
          <p:cNvSpPr txBox="1"/>
          <p:nvPr/>
        </p:nvSpPr>
        <p:spPr>
          <a:xfrm>
            <a:off x="838200" y="3698240"/>
            <a:ext cx="1074420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3 </a:t>
            </a:r>
            <a:r>
              <a:rPr lang="zh-CN" altLang="en-US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个事件的 </a:t>
            </a:r>
            <a:r>
              <a:rPr lang="en-US" altLang="zh-CN" sz="230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time_enabled</a:t>
            </a:r>
            <a:r>
              <a:rPr lang="en-US" altLang="zh-CN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zh-CN" altLang="en-US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均为 </a:t>
            </a:r>
            <a:r>
              <a:rPr lang="en-US" altLang="zh-CN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20 </a:t>
            </a:r>
            <a:r>
              <a:rPr lang="en-US" altLang="zh-CN" sz="230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ms</a:t>
            </a:r>
            <a:endParaRPr lang="en-US" altLang="zh-CN" sz="2300" dirty="0">
              <a:latin typeface="Microsoft YaHei UI" panose="020B0503020204020204" pitchFamily="34" charset="-122"/>
              <a:ea typeface="Microsoft YaHei UI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zh-CN" sz="230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time_running</a:t>
            </a:r>
            <a:r>
              <a:rPr lang="en-US" altLang="zh-CN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  E0 </a:t>
            </a:r>
            <a:r>
              <a:rPr lang="zh-CN" altLang="en-US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为 </a:t>
            </a:r>
            <a:r>
              <a:rPr lang="en-US" altLang="zh-CN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10 </a:t>
            </a:r>
            <a:r>
              <a:rPr lang="en-US" altLang="zh-CN" sz="230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ms</a:t>
            </a:r>
            <a:r>
              <a:rPr lang="zh-CN" altLang="en-US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，</a:t>
            </a:r>
            <a:r>
              <a:rPr lang="en-US" altLang="zh-CN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E1 </a:t>
            </a:r>
            <a:r>
              <a:rPr lang="zh-CN" altLang="en-US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为 </a:t>
            </a:r>
            <a:r>
              <a:rPr lang="en-US" altLang="zh-CN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20 </a:t>
            </a:r>
            <a:r>
              <a:rPr lang="en-US" altLang="zh-CN" sz="230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ms</a:t>
            </a:r>
            <a:r>
              <a:rPr lang="zh-CN" altLang="en-US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，</a:t>
            </a:r>
            <a:r>
              <a:rPr lang="en-US" altLang="zh-CN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E2 </a:t>
            </a:r>
            <a:r>
              <a:rPr lang="zh-CN" altLang="en-US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为 </a:t>
            </a:r>
            <a:r>
              <a:rPr lang="en-US" altLang="zh-CN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10 </a:t>
            </a:r>
            <a:r>
              <a:rPr lang="en-US" altLang="zh-CN" sz="230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ms</a:t>
            </a:r>
            <a:endParaRPr lang="en-US" altLang="zh-CN" sz="2300" dirty="0">
              <a:latin typeface="Microsoft YaHei UI" panose="020B0503020204020204" pitchFamily="34" charset="-122"/>
              <a:ea typeface="Microsoft YaHei UI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累计计数  </a:t>
            </a:r>
            <a:r>
              <a:rPr lang="en-US" altLang="zh-CN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E0 </a:t>
            </a:r>
            <a:r>
              <a:rPr lang="zh-CN" altLang="en-US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为 </a:t>
            </a:r>
            <a:r>
              <a:rPr lang="en-US" altLang="zh-CN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100</a:t>
            </a:r>
            <a:r>
              <a:rPr lang="zh-CN" altLang="en-US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，</a:t>
            </a:r>
            <a:r>
              <a:rPr lang="en-US" altLang="zh-CN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E1 </a:t>
            </a:r>
            <a:r>
              <a:rPr lang="zh-CN" altLang="en-US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为 </a:t>
            </a:r>
            <a:r>
              <a:rPr lang="en-US" altLang="zh-CN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120</a:t>
            </a:r>
            <a:r>
              <a:rPr lang="zh-CN" altLang="en-US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，</a:t>
            </a:r>
            <a:r>
              <a:rPr lang="en-US" altLang="zh-CN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E2 </a:t>
            </a:r>
            <a:r>
              <a:rPr lang="zh-CN" altLang="en-US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为 </a:t>
            </a:r>
            <a:r>
              <a:rPr lang="en-US" altLang="zh-CN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40</a:t>
            </a:r>
            <a:endParaRPr lang="en-CN" sz="2300" dirty="0">
              <a:latin typeface="Microsoft YaHei UI" panose="020B0503020204020204" pitchFamily="34" charset="-122"/>
              <a:ea typeface="Microsoft YaHei UI" panose="020B0503020204020204" pitchFamily="34" charset="-122"/>
              <a:cs typeface="Consolas" panose="020B0609020204030204" pitchFamily="49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84F977B-E62F-352C-BE81-E722E7A75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343482"/>
              </p:ext>
            </p:extLst>
          </p:nvPr>
        </p:nvGraphicFramePr>
        <p:xfrm>
          <a:off x="838799" y="1656000"/>
          <a:ext cx="10512000" cy="18720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504000">
                  <a:extLst>
                    <a:ext uri="{9D8B030D-6E8A-4147-A177-3AD203B41FA5}">
                      <a16:colId xmlns:a16="http://schemas.microsoft.com/office/drawing/2014/main" val="364384588"/>
                    </a:ext>
                  </a:extLst>
                </a:gridCol>
                <a:gridCol w="3504000">
                  <a:extLst>
                    <a:ext uri="{9D8B030D-6E8A-4147-A177-3AD203B41FA5}">
                      <a16:colId xmlns:a16="http://schemas.microsoft.com/office/drawing/2014/main" val="393091911"/>
                    </a:ext>
                  </a:extLst>
                </a:gridCol>
                <a:gridCol w="3504000">
                  <a:extLst>
                    <a:ext uri="{9D8B030D-6E8A-4147-A177-3AD203B41FA5}">
                      <a16:colId xmlns:a16="http://schemas.microsoft.com/office/drawing/2014/main" val="3632215602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事件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0–10 </a:t>
                      </a:r>
                      <a:r>
                        <a:rPr lang="en-US" sz="2000" dirty="0" err="1"/>
                        <a:t>ms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10–20 </a:t>
                      </a:r>
                      <a:r>
                        <a:rPr lang="en-US" sz="2000" dirty="0" err="1"/>
                        <a:t>ms</a:t>
                      </a:r>
                      <a:endParaRPr lang="en-C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901162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2000" dirty="0"/>
                        <a:t>E0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C0 </a:t>
                      </a:r>
                      <a:r>
                        <a:rPr lang="zh-CN" altLang="en-US" sz="2000" dirty="0"/>
                        <a:t>计数 </a:t>
                      </a:r>
                      <a:r>
                        <a:rPr lang="en-US" altLang="zh-CN" sz="2000" dirty="0"/>
                        <a:t>100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等待 计数 </a:t>
                      </a:r>
                      <a:r>
                        <a:rPr lang="en-US" altLang="zh-CN" sz="2000" dirty="0"/>
                        <a:t>0</a:t>
                      </a:r>
                      <a:endParaRPr lang="en-C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944650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2000" dirty="0"/>
                        <a:t>E1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C1 </a:t>
                      </a:r>
                      <a:r>
                        <a:rPr lang="zh-CN" altLang="en-US" sz="2000" dirty="0"/>
                        <a:t>计数 </a:t>
                      </a:r>
                      <a:r>
                        <a:rPr lang="en-US" altLang="zh-CN" sz="2000" dirty="0"/>
                        <a:t>60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C1 </a:t>
                      </a:r>
                      <a:r>
                        <a:rPr lang="zh-CN" altLang="en-US" sz="2000" dirty="0"/>
                        <a:t>计数 </a:t>
                      </a:r>
                      <a:r>
                        <a:rPr lang="en-US" altLang="zh-CN" sz="2000" dirty="0"/>
                        <a:t>60</a:t>
                      </a:r>
                      <a:endParaRPr lang="en-C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86153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2000" dirty="0"/>
                        <a:t>E2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等待 计数 </a:t>
                      </a:r>
                      <a:r>
                        <a:rPr lang="en-US" altLang="zh-CN" sz="2000" dirty="0"/>
                        <a:t>0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C0 </a:t>
                      </a:r>
                      <a:r>
                        <a:rPr lang="zh-CN" altLang="en-US" sz="2000" dirty="0"/>
                        <a:t>计数 </a:t>
                      </a:r>
                      <a:r>
                        <a:rPr lang="en-US" altLang="zh-CN" sz="2000" dirty="0"/>
                        <a:t>40</a:t>
                      </a:r>
                      <a:endParaRPr lang="en-C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8225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93016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634CC-E58B-8EEB-B232-A579BE2D6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9D2AC2-B026-5ECE-5E58-119E7E6A2BB6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ea typeface="Microsoft YaHei UI"/>
                <a:cs typeface="Arial"/>
              </a:rPr>
              <a:t>按实际计数时间估算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7F50D7-47E7-4A13-D3C3-C53594819227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27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A3BFA4-3778-0E9D-8666-A4F4EB097634}"/>
              </a:ext>
            </a:extLst>
          </p:cNvPr>
          <p:cNvSpPr txBox="1"/>
          <p:nvPr/>
        </p:nvSpPr>
        <p:spPr>
          <a:xfrm>
            <a:off x="838200" y="3698240"/>
            <a:ext cx="107442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估算计数 </a:t>
            </a:r>
            <a:r>
              <a:rPr lang="en-US" altLang="zh-CN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= </a:t>
            </a:r>
            <a:r>
              <a:rPr lang="zh-CN" altLang="en-US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累计计数 </a:t>
            </a:r>
            <a:r>
              <a:rPr lang="en-US" altLang="zh-CN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× </a:t>
            </a:r>
            <a:r>
              <a:rPr lang="en-US" altLang="zh-CN" sz="230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time_enabled</a:t>
            </a:r>
            <a:r>
              <a:rPr lang="en-US" altLang="zh-CN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 / </a:t>
            </a:r>
            <a:r>
              <a:rPr lang="en-US" altLang="zh-CN" sz="230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time_running</a:t>
            </a:r>
            <a:endParaRPr lang="en-US" altLang="zh-CN" sz="2300" dirty="0">
              <a:latin typeface="Microsoft YaHei UI" panose="020B0503020204020204" pitchFamily="34" charset="-122"/>
              <a:ea typeface="Microsoft YaHei UI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23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onsolas" panose="020B0609020204030204" pitchFamily="49" charset="0"/>
              </a:rPr>
              <a:t>计数期间的程序行为需要能够代表整个启用期间</a:t>
            </a:r>
            <a:endParaRPr lang="en-CN" sz="2300" dirty="0">
              <a:latin typeface="Microsoft YaHei UI" panose="020B0503020204020204" pitchFamily="34" charset="-122"/>
              <a:ea typeface="Microsoft YaHei UI" panose="020B0503020204020204" pitchFamily="34" charset="-122"/>
              <a:cs typeface="Consolas" panose="020B0609020204030204" pitchFamily="49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E85D758-B41B-258A-15C3-20C8B29C7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364913"/>
              </p:ext>
            </p:extLst>
          </p:nvPr>
        </p:nvGraphicFramePr>
        <p:xfrm>
          <a:off x="838799" y="1656000"/>
          <a:ext cx="10512000" cy="18720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504000">
                  <a:extLst>
                    <a:ext uri="{9D8B030D-6E8A-4147-A177-3AD203B41FA5}">
                      <a16:colId xmlns:a16="http://schemas.microsoft.com/office/drawing/2014/main" val="364384588"/>
                    </a:ext>
                  </a:extLst>
                </a:gridCol>
                <a:gridCol w="3504000">
                  <a:extLst>
                    <a:ext uri="{9D8B030D-6E8A-4147-A177-3AD203B41FA5}">
                      <a16:colId xmlns:a16="http://schemas.microsoft.com/office/drawing/2014/main" val="393091911"/>
                    </a:ext>
                  </a:extLst>
                </a:gridCol>
                <a:gridCol w="3504000">
                  <a:extLst>
                    <a:ext uri="{9D8B030D-6E8A-4147-A177-3AD203B41FA5}">
                      <a16:colId xmlns:a16="http://schemas.microsoft.com/office/drawing/2014/main" val="3632215602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事件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累计计数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缩放计算</a:t>
                      </a:r>
                      <a:endParaRPr lang="en-C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901162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2000" dirty="0"/>
                        <a:t>E0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100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100 × 20/10 = 200</a:t>
                      </a:r>
                      <a:endParaRPr lang="en-C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944650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2000" dirty="0"/>
                        <a:t>E1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120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120 × 20/20 = 120</a:t>
                      </a:r>
                      <a:endParaRPr lang="en-C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86153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2000" dirty="0"/>
                        <a:t>E2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40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40 × 20/10 = 80</a:t>
                      </a:r>
                      <a:endParaRPr lang="en-C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8225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25289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ea typeface="Microsoft YaHei UI"/>
                <a:cs typeface="Arial"/>
              </a:rPr>
              <a:t>定时器推动事件轮换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28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294254-BFC9-B82A-4616-1D16151896A5}"/>
              </a:ext>
            </a:extLst>
          </p:cNvPr>
          <p:cNvSpPr txBox="1"/>
          <p:nvPr/>
        </p:nvSpPr>
        <p:spPr>
          <a:xfrm>
            <a:off x="838200" y="1513840"/>
            <a:ext cx="10744200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 cursor = </a:t>
            </a:r>
            <a:r>
              <a:rPr lang="en-US" altLang="zh-CN" sz="20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ROTATE_CURSOR.</a:t>
            </a:r>
            <a:r>
              <a:rPr lang="en-US" altLang="zh-CN" sz="20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with_current</a:t>
            </a:r>
            <a:r>
              <a:rPr lang="en-US" altLang="zh-CN" sz="20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(|c| {</a:t>
            </a:r>
            <a:br>
              <a:rPr lang="en-US" altLang="zh-CN" sz="20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0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*c = </a:t>
            </a:r>
            <a:r>
              <a:rPr lang="en-US" altLang="zh-CN" sz="20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c.wrapping_add</a:t>
            </a:r>
            <a:r>
              <a:rPr lang="en-US" altLang="zh-CN" sz="20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0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1);</a:t>
            </a:r>
            <a:br>
              <a:rPr lang="en-US" altLang="zh-CN" sz="20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0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*c</a:t>
            </a:r>
            <a:br>
              <a:rPr lang="en-US" altLang="zh-CN" sz="20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0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}) % </a:t>
            </a:r>
            <a:r>
              <a:rPr lang="en-US" altLang="zh-CN" sz="2000" b="0" i="0" u="none" strike="noStrike" baseline="0" dirty="0" err="1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n_eligible</a:t>
            </a:r>
            <a:r>
              <a:rPr lang="en-US" altLang="zh-CN" sz="20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altLang="zh-CN" sz="20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altLang="zh-CN" sz="20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0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 </a:t>
            </a:r>
            <a:r>
              <a:rPr lang="en-US" altLang="zh-CN" sz="20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in_window</a:t>
            </a:r>
            <a:r>
              <a:rPr lang="en-US" altLang="zh-CN" sz="20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(rank + </a:t>
            </a:r>
            <a:r>
              <a:rPr lang="en-US" altLang="zh-CN" sz="20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n_eligible</a:t>
            </a:r>
            <a:r>
              <a:rPr lang="en-US" altLang="zh-CN" sz="20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 cursor) % </a:t>
            </a:r>
            <a:r>
              <a:rPr lang="en-US" altLang="zh-CN" sz="20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n_eligible</a:t>
            </a:r>
            <a:r>
              <a:rPr lang="en-US" altLang="zh-CN" sz="20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free;</a:t>
            </a:r>
            <a:br>
              <a:rPr lang="en-US" altLang="zh-CN" sz="20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0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!</a:t>
            </a:r>
            <a:r>
              <a:rPr lang="en-US" altLang="zh-CN" sz="20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in_window</a:t>
            </a:r>
            <a:r>
              <a:rPr lang="en-US" altLang="zh-CN" sz="20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&amp;&amp; </a:t>
            </a:r>
            <a:r>
              <a:rPr lang="en-US" altLang="zh-CN" sz="20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ptc.running.</a:t>
            </a:r>
            <a:r>
              <a:rPr lang="en-US" altLang="zh-CN" sz="20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load</a:t>
            </a:r>
            <a:r>
              <a:rPr lang="en-US" altLang="zh-CN" sz="20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0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Ordering::Acquire) {</a:t>
            </a:r>
            <a:br>
              <a:rPr lang="en-US" altLang="zh-CN" sz="20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0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sz="20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disarm_slice</a:t>
            </a:r>
            <a:r>
              <a:rPr lang="en-US" altLang="zh-CN" sz="20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0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ptc</a:t>
            </a:r>
            <a:r>
              <a:rPr lang="en-US" altLang="zh-CN" sz="20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now, </a:t>
            </a:r>
            <a:r>
              <a:rPr lang="en-US" altLang="zh-CN" sz="20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true);</a:t>
            </a:r>
            <a:br>
              <a:rPr lang="en-US" altLang="zh-CN" sz="20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0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D5735A-8DE8-4686-8C02-A6B84288B3D8}"/>
              </a:ext>
            </a:extLst>
          </p:cNvPr>
          <p:cNvSpPr txBox="1"/>
          <p:nvPr/>
        </p:nvSpPr>
        <p:spPr>
          <a:xfrm>
            <a:off x="838200" y="4663440"/>
            <a:ext cx="107442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E0、E1、E2 </a:t>
            </a:r>
            <a:r>
              <a:rPr lang="zh-CN" altLang="en-US" sz="21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的 </a:t>
            </a:r>
            <a:r>
              <a:rPr lang="en-US" sz="21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rank = 0、1、2；n_eligible = 3</a:t>
            </a:r>
          </a:p>
          <a:p>
            <a:r>
              <a:rPr lang="en-US" sz="21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cursor = 1 </a:t>
            </a:r>
            <a:r>
              <a:rPr lang="zh-CN" altLang="en-US" sz="21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从 </a:t>
            </a:r>
            <a:r>
              <a:rPr lang="en-US" sz="21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E1 </a:t>
            </a:r>
            <a:r>
              <a:rPr lang="zh-CN" altLang="en-US" sz="21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开始；</a:t>
            </a:r>
            <a:r>
              <a:rPr lang="en-US" sz="21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free = 2 </a:t>
            </a:r>
            <a:r>
              <a:rPr lang="zh-CN" altLang="en-US" sz="21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个可分配位置</a:t>
            </a:r>
          </a:p>
          <a:p>
            <a:r>
              <a:rPr lang="en-US" sz="21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E0 </a:t>
            </a:r>
            <a:r>
              <a:rPr lang="zh-CN" altLang="en-US" sz="21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的距离 </a:t>
            </a:r>
            <a:r>
              <a:rPr lang="en-US" altLang="zh-CN" sz="21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(0 + 3 − 1) % 3 = 2</a:t>
            </a:r>
            <a:r>
              <a:rPr lang="zh-CN" altLang="en-US" sz="21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，本轮选择 </a:t>
            </a:r>
            <a:r>
              <a:rPr lang="en-US" sz="21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E1、E2</a:t>
            </a:r>
            <a:endParaRPr lang="en-CN" sz="2100" dirty="0">
              <a:latin typeface="Microsoft YaHei UI" panose="020B0503020204020204" pitchFamily="34" charset="-122"/>
              <a:ea typeface="Microsoft YaHei U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7882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ea typeface="Microsoft YaHei UI"/>
                <a:cs typeface="Arial"/>
              </a:rPr>
              <a:t>采样计数器的预置值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>
                <a:ea typeface="Microsoft YaHei UI"/>
                <a:cs typeface="Arial"/>
              </a:rPr>
              <a:t>29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8200" y="1780000"/>
            <a:ext cx="3311999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zh-CN" altLang="en-US" sz="2200" dirty="0">
                <a:solidFill>
                  <a:srgbClr val="000000"/>
                </a:solidFill>
                <a:ea typeface="Microsoft YaHei UI"/>
                <a:cs typeface="Arial"/>
              </a:rPr>
              <a:t>计数器</a:t>
            </a:r>
          </a:p>
          <a:p>
            <a:pPr algn="ctr"/>
            <a:r>
              <a:rPr lang="en-US" altLang="zh-CN" sz="2200" dirty="0">
                <a:solidFill>
                  <a:srgbClr val="000000"/>
                </a:solidFill>
                <a:ea typeface="Microsoft YaHei UI"/>
                <a:cs typeface="Arial"/>
              </a:rPr>
              <a:t>H = 236</a:t>
            </a:r>
            <a:endParaRPr lang="zh-CN" altLang="en-US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438800" y="1780000"/>
            <a:ext cx="3311999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zh-CN" altLang="en-US" sz="2200" dirty="0">
                <a:solidFill>
                  <a:srgbClr val="000000"/>
                </a:solidFill>
                <a:ea typeface="Microsoft YaHei UI"/>
                <a:cs typeface="Arial"/>
              </a:rPr>
              <a:t>溢出标志</a:t>
            </a:r>
          </a:p>
          <a:p>
            <a:pPr algn="ctr"/>
            <a:r>
              <a:rPr lang="en-US" altLang="zh-CN" sz="2200" dirty="0">
                <a:solidFill>
                  <a:srgbClr val="000000"/>
                </a:solidFill>
                <a:ea typeface="Microsoft YaHei UI"/>
                <a:cs typeface="Arial"/>
              </a:rPr>
              <a:t>0</a:t>
            </a:r>
            <a:endParaRPr lang="zh-CN" altLang="en-US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038800" y="1780000"/>
            <a:ext cx="3311999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zh-CN" altLang="en-US" sz="2200" dirty="0">
                <a:solidFill>
                  <a:srgbClr val="000000"/>
                </a:solidFill>
                <a:ea typeface="Microsoft YaHei UI"/>
                <a:cs typeface="Arial"/>
              </a:rPr>
              <a:t>已保存的样本</a:t>
            </a:r>
          </a:p>
          <a:p>
            <a:pPr algn="ctr"/>
            <a:r>
              <a:rPr lang="en-US" altLang="zh-CN" sz="2200" dirty="0">
                <a:solidFill>
                  <a:srgbClr val="000000"/>
                </a:solidFill>
                <a:ea typeface="Microsoft YaHei UI"/>
                <a:cs typeface="Arial"/>
              </a:rPr>
              <a:t>0</a:t>
            </a:r>
            <a:endParaRPr lang="zh-CN" altLang="en-US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621749-9801-B7A5-7B74-10B98F658EA3}"/>
              </a:ext>
            </a:extLst>
          </p:cNvPr>
          <p:cNvSpPr txBox="1"/>
          <p:nvPr/>
        </p:nvSpPr>
        <p:spPr>
          <a:xfrm>
            <a:off x="914400" y="4460240"/>
            <a:ext cx="10438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period = 20</a:t>
            </a:r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，每累计 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20 </a:t>
            </a:r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个事件采样 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次</a:t>
            </a:r>
          </a:p>
          <a:p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8 </a:t>
            </a:r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位初值为 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256 − 20 = 236</a:t>
            </a:r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；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32 </a:t>
            </a:r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位初值为 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2³² − period</a:t>
            </a:r>
          </a:p>
          <a:p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板级 </a:t>
            </a:r>
            <a:r>
              <a:rPr lang="en-US" altLang="zh-CN" sz="2200" dirty="0" err="1">
                <a:latin typeface="Arial" panose="020B0604020202020204" pitchFamily="34" charset="0"/>
                <a:cs typeface="Arial" panose="020B0604020202020204" pitchFamily="34" charset="0"/>
              </a:rPr>
              <a:t>freq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=2000 </a:t>
            </a:r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检查取得 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条，要求至少 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条</a:t>
            </a:r>
            <a:endParaRPr lang="en-C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66BA3D-0E77-D2DA-F8EF-68A9B3937A44}"/>
              </a:ext>
            </a:extLst>
          </p:cNvPr>
          <p:cNvSpPr txBox="1"/>
          <p:nvPr/>
        </p:nvSpPr>
        <p:spPr>
          <a:xfrm>
            <a:off x="838200" y="3139440"/>
            <a:ext cx="10744200" cy="11079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2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 </a:t>
            </a:r>
            <a:r>
              <a:rPr lang="en-US" altLang="zh-CN" sz="22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en-US" altLang="zh-CN" sz="22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preload(n: </a:t>
            </a:r>
            <a:r>
              <a:rPr lang="en-US" altLang="zh-CN" sz="2200" b="0" i="0" u="none" strike="noStrike" baseline="0" dirty="0" err="1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usize</a:t>
            </a:r>
            <a: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period: u32) {</a:t>
            </a:r>
            <a:b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write(n, (</a:t>
            </a:r>
            <a:r>
              <a:rPr lang="en-US" altLang="zh-CN" sz="22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0u32).</a:t>
            </a:r>
            <a:r>
              <a:rPr lang="en-US" altLang="zh-CN" sz="22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wrapping_sub</a:t>
            </a:r>
            <a: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(period) </a:t>
            </a:r>
            <a:r>
              <a:rPr lang="en-US" altLang="zh-CN" sz="22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 </a:t>
            </a:r>
            <a: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u64);</a:t>
            </a:r>
            <a:b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2200" b="0" i="0" u="none" strike="noStrike" baseline="0" dirty="0">
              <a:solidFill>
                <a:srgbClr val="165AB8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3459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8ACFB-744C-F551-CBDB-B59498FCB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C39531-AB24-D179-4200-B5BD207D54B9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ea typeface="Microsoft YaHei UI"/>
                <a:cs typeface="Arial"/>
              </a:rPr>
              <a:t>19 </a:t>
            </a:r>
            <a:r>
              <a:rPr lang="zh-CN" altLang="en-US" sz="3200" dirty="0">
                <a:ea typeface="Microsoft YaHei UI"/>
                <a:cs typeface="Arial"/>
              </a:rPr>
              <a:t>次事件后的计数值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0F38A9-90F0-E97E-68A8-C73EBA4B6BC6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30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1BA5AF-43F9-E8B5-50E4-D1A4847957CB}"/>
              </a:ext>
            </a:extLst>
          </p:cNvPr>
          <p:cNvSpPr/>
          <p:nvPr/>
        </p:nvSpPr>
        <p:spPr>
          <a:xfrm>
            <a:off x="838200" y="1780000"/>
            <a:ext cx="3311999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zh-CN" altLang="en-US" sz="2200" dirty="0">
                <a:solidFill>
                  <a:srgbClr val="000000"/>
                </a:solidFill>
                <a:ea typeface="Microsoft YaHei UI"/>
                <a:cs typeface="Arial"/>
              </a:rPr>
              <a:t>计数器</a:t>
            </a:r>
          </a:p>
          <a:p>
            <a:pPr algn="ctr"/>
            <a:r>
              <a:rPr lang="en-US" altLang="zh-CN" sz="2200" dirty="0">
                <a:solidFill>
                  <a:srgbClr val="000000"/>
                </a:solidFill>
                <a:ea typeface="Microsoft YaHei UI"/>
                <a:cs typeface="Arial"/>
              </a:rPr>
              <a:t>H = 255</a:t>
            </a:r>
            <a:endParaRPr lang="zh-CN" altLang="en-US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A65608-C5AF-6B96-99B2-ACF87EED2429}"/>
              </a:ext>
            </a:extLst>
          </p:cNvPr>
          <p:cNvSpPr/>
          <p:nvPr/>
        </p:nvSpPr>
        <p:spPr>
          <a:xfrm>
            <a:off x="4438800" y="1780000"/>
            <a:ext cx="3311999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zh-CN" altLang="en-US" sz="2200" dirty="0">
                <a:solidFill>
                  <a:srgbClr val="000000"/>
                </a:solidFill>
                <a:ea typeface="Microsoft YaHei UI"/>
                <a:cs typeface="Arial"/>
              </a:rPr>
              <a:t>溢出标志</a:t>
            </a:r>
          </a:p>
          <a:p>
            <a:pPr algn="ctr"/>
            <a:r>
              <a:rPr lang="en-US" altLang="zh-CN" sz="2200" dirty="0">
                <a:solidFill>
                  <a:srgbClr val="000000"/>
                </a:solidFill>
                <a:ea typeface="Microsoft YaHei UI"/>
                <a:cs typeface="Arial"/>
              </a:rPr>
              <a:t>0</a:t>
            </a:r>
            <a:endParaRPr lang="zh-CN" altLang="en-US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6D9003-54E9-7DBD-D622-CAE9F2F79BBE}"/>
              </a:ext>
            </a:extLst>
          </p:cNvPr>
          <p:cNvSpPr/>
          <p:nvPr/>
        </p:nvSpPr>
        <p:spPr>
          <a:xfrm>
            <a:off x="8038800" y="1780000"/>
            <a:ext cx="3311999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zh-CN" altLang="en-US" sz="2200" dirty="0">
                <a:solidFill>
                  <a:srgbClr val="000000"/>
                </a:solidFill>
                <a:ea typeface="Microsoft YaHei UI"/>
                <a:cs typeface="Arial"/>
              </a:rPr>
              <a:t>已保存的样本</a:t>
            </a:r>
          </a:p>
          <a:p>
            <a:pPr algn="ctr"/>
            <a:r>
              <a:rPr lang="en-US" altLang="zh-CN" sz="2200" dirty="0">
                <a:solidFill>
                  <a:srgbClr val="000000"/>
                </a:solidFill>
                <a:ea typeface="Microsoft YaHei UI"/>
                <a:cs typeface="Arial"/>
              </a:rPr>
              <a:t>0</a:t>
            </a:r>
            <a:endParaRPr lang="zh-CN" altLang="en-US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45694A-438A-DF24-E4B0-EDC62AB910B0}"/>
              </a:ext>
            </a:extLst>
          </p:cNvPr>
          <p:cNvSpPr txBox="1"/>
          <p:nvPr/>
        </p:nvSpPr>
        <p:spPr>
          <a:xfrm>
            <a:off x="914400" y="3132000"/>
            <a:ext cx="10438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236 + 19 = 255</a:t>
            </a:r>
          </a:p>
          <a:p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硬件每发生一次所选事件，计数器递增</a:t>
            </a:r>
          </a:p>
          <a:p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此时计数器尚未回绕</a:t>
            </a:r>
            <a:endParaRPr lang="en-C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9310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2C6B2-3BD7-93E2-B079-766CB22B8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963684-0E55-5709-CFFA-B0345B4B0044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ea typeface="Microsoft YaHei UI"/>
                <a:cs typeface="Arial"/>
              </a:rPr>
              <a:t>第 </a:t>
            </a:r>
            <a:r>
              <a:rPr lang="en-US" altLang="zh-CN" sz="3200" dirty="0">
                <a:ea typeface="Microsoft YaHei UI"/>
                <a:cs typeface="Arial"/>
              </a:rPr>
              <a:t>20 </a:t>
            </a:r>
            <a:r>
              <a:rPr lang="zh-CN" altLang="en-US" sz="3200" dirty="0">
                <a:ea typeface="Microsoft YaHei UI"/>
                <a:cs typeface="Arial"/>
              </a:rPr>
              <a:t>次事件触发溢出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886DD4-A025-1694-0968-70B023450378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31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6154F5-FC5C-AA35-E4BE-E6FFCEDF4579}"/>
              </a:ext>
            </a:extLst>
          </p:cNvPr>
          <p:cNvSpPr/>
          <p:nvPr/>
        </p:nvSpPr>
        <p:spPr>
          <a:xfrm>
            <a:off x="838200" y="1780000"/>
            <a:ext cx="3311999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zh-CN" altLang="en-US" sz="2200" dirty="0">
                <a:solidFill>
                  <a:srgbClr val="000000"/>
                </a:solidFill>
                <a:ea typeface="Microsoft YaHei UI"/>
                <a:cs typeface="Arial"/>
              </a:rPr>
              <a:t>计数器</a:t>
            </a:r>
          </a:p>
          <a:p>
            <a:pPr algn="ctr"/>
            <a:r>
              <a:rPr lang="en-US" altLang="zh-CN" sz="2200" dirty="0">
                <a:solidFill>
                  <a:srgbClr val="000000"/>
                </a:solidFill>
                <a:ea typeface="Microsoft YaHei UI"/>
                <a:cs typeface="Arial"/>
              </a:rPr>
              <a:t>H = 0</a:t>
            </a:r>
            <a:endParaRPr lang="zh-CN" altLang="en-US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FEC6D0-7C0B-61C6-E8AE-31559B806488}"/>
              </a:ext>
            </a:extLst>
          </p:cNvPr>
          <p:cNvSpPr/>
          <p:nvPr/>
        </p:nvSpPr>
        <p:spPr>
          <a:xfrm>
            <a:off x="4438800" y="1780000"/>
            <a:ext cx="3311999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zh-CN" altLang="en-US" sz="2200" dirty="0">
                <a:solidFill>
                  <a:srgbClr val="000000"/>
                </a:solidFill>
                <a:ea typeface="Microsoft YaHei UI"/>
                <a:cs typeface="Arial"/>
              </a:rPr>
              <a:t>溢出标志</a:t>
            </a:r>
          </a:p>
          <a:p>
            <a:pPr algn="ctr"/>
            <a:r>
              <a:rPr lang="en-US" altLang="zh-CN" sz="2200" dirty="0">
                <a:solidFill>
                  <a:srgbClr val="000000"/>
                </a:solidFill>
                <a:ea typeface="Microsoft YaHei UI"/>
                <a:cs typeface="Arial"/>
              </a:rPr>
              <a:t>1</a:t>
            </a:r>
            <a:endParaRPr lang="zh-CN" altLang="en-US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19F21E-C217-18E3-AAE2-2349AAC08D39}"/>
              </a:ext>
            </a:extLst>
          </p:cNvPr>
          <p:cNvSpPr/>
          <p:nvPr/>
        </p:nvSpPr>
        <p:spPr>
          <a:xfrm>
            <a:off x="8038800" y="1780000"/>
            <a:ext cx="3311999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zh-CN" altLang="en-US" sz="2200" dirty="0">
                <a:solidFill>
                  <a:srgbClr val="000000"/>
                </a:solidFill>
                <a:ea typeface="Microsoft YaHei UI"/>
                <a:cs typeface="Arial"/>
              </a:rPr>
              <a:t>已保存的样本</a:t>
            </a:r>
          </a:p>
          <a:p>
            <a:pPr algn="ctr"/>
            <a:r>
              <a:rPr lang="en-US" altLang="zh-CN" sz="2200" dirty="0">
                <a:solidFill>
                  <a:srgbClr val="000000"/>
                </a:solidFill>
                <a:ea typeface="Microsoft YaHei UI"/>
                <a:cs typeface="Arial"/>
              </a:rPr>
              <a:t>0</a:t>
            </a:r>
            <a:endParaRPr lang="zh-CN" altLang="en-US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19F7D3-1D3B-2289-127E-6B7EB55CBDEA}"/>
              </a:ext>
            </a:extLst>
          </p:cNvPr>
          <p:cNvSpPr txBox="1"/>
          <p:nvPr/>
        </p:nvSpPr>
        <p:spPr>
          <a:xfrm>
            <a:off x="914400" y="3132000"/>
            <a:ext cx="10438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255 + 1 </a:t>
            </a:r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按 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8 </a:t>
            </a:r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位回绕为 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硬件设置溢出标志，并触发 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PMU </a:t>
            </a:r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中断</a:t>
            </a:r>
          </a:p>
          <a:p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CPU </a:t>
            </a:r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保存被中断程序的现场</a:t>
            </a:r>
            <a:endParaRPr lang="en-C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5263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EE206-3614-003A-5BE7-865B491AD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6E0F14-C280-C90B-AC43-1A376F7AFE90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ea typeface="Microsoft YaHei UI"/>
                <a:cs typeface="Arial"/>
              </a:rPr>
              <a:t>中断处理后重新预置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7C60C1-D08F-D152-E431-3F11E9EFEEE2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32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646148-AABE-4D2E-6550-DCB78FDD3EA5}"/>
              </a:ext>
            </a:extLst>
          </p:cNvPr>
          <p:cNvSpPr/>
          <p:nvPr/>
        </p:nvSpPr>
        <p:spPr>
          <a:xfrm>
            <a:off x="838200" y="1780000"/>
            <a:ext cx="3311999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zh-CN" altLang="en-US" sz="2200" dirty="0">
                <a:solidFill>
                  <a:srgbClr val="000000"/>
                </a:solidFill>
                <a:ea typeface="Microsoft YaHei UI"/>
                <a:cs typeface="Arial"/>
              </a:rPr>
              <a:t>计数器</a:t>
            </a:r>
          </a:p>
          <a:p>
            <a:pPr algn="ctr"/>
            <a:r>
              <a:rPr lang="en-US" altLang="zh-CN" sz="2200" dirty="0">
                <a:solidFill>
                  <a:srgbClr val="000000"/>
                </a:solidFill>
                <a:ea typeface="Microsoft YaHei UI"/>
                <a:cs typeface="Arial"/>
              </a:rPr>
              <a:t>H = 236</a:t>
            </a:r>
            <a:endParaRPr lang="zh-CN" altLang="en-US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BEF2B9-17C9-BA12-0C17-B5E4E8921FAC}"/>
              </a:ext>
            </a:extLst>
          </p:cNvPr>
          <p:cNvSpPr/>
          <p:nvPr/>
        </p:nvSpPr>
        <p:spPr>
          <a:xfrm>
            <a:off x="4438800" y="1780000"/>
            <a:ext cx="3311999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zh-CN" altLang="en-US" sz="2200" dirty="0">
                <a:solidFill>
                  <a:srgbClr val="000000"/>
                </a:solidFill>
                <a:ea typeface="Microsoft YaHei UI"/>
                <a:cs typeface="Arial"/>
              </a:rPr>
              <a:t>溢出标志</a:t>
            </a:r>
          </a:p>
          <a:p>
            <a:pPr algn="ctr"/>
            <a:r>
              <a:rPr lang="en-US" altLang="zh-CN" sz="2200" dirty="0">
                <a:solidFill>
                  <a:srgbClr val="000000"/>
                </a:solidFill>
                <a:ea typeface="Microsoft YaHei UI"/>
                <a:cs typeface="Arial"/>
              </a:rPr>
              <a:t>0</a:t>
            </a:r>
            <a:endParaRPr lang="zh-CN" altLang="en-US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DA0D95-FBE9-689E-2EE6-78079A316710}"/>
              </a:ext>
            </a:extLst>
          </p:cNvPr>
          <p:cNvSpPr/>
          <p:nvPr/>
        </p:nvSpPr>
        <p:spPr>
          <a:xfrm>
            <a:off x="8038800" y="1780000"/>
            <a:ext cx="3311999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zh-CN" altLang="en-US" sz="2200" dirty="0">
                <a:solidFill>
                  <a:srgbClr val="000000"/>
                </a:solidFill>
                <a:ea typeface="Microsoft YaHei UI"/>
                <a:cs typeface="Arial"/>
              </a:rPr>
              <a:t>已保存的样本</a:t>
            </a:r>
          </a:p>
          <a:p>
            <a:pPr algn="ctr"/>
            <a:r>
              <a:rPr lang="en-US" altLang="zh-CN" sz="2200" dirty="0">
                <a:solidFill>
                  <a:srgbClr val="000000"/>
                </a:solidFill>
                <a:ea typeface="Microsoft YaHei UI"/>
                <a:cs typeface="Arial"/>
              </a:rPr>
              <a:t>1</a:t>
            </a:r>
            <a:endParaRPr lang="zh-CN" altLang="en-US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B360F4-21BC-A5E1-A105-96BF005A140A}"/>
              </a:ext>
            </a:extLst>
          </p:cNvPr>
          <p:cNvSpPr txBox="1"/>
          <p:nvPr/>
        </p:nvSpPr>
        <p:spPr>
          <a:xfrm>
            <a:off x="914400" y="3132000"/>
            <a:ext cx="10438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构造并写入采样记录</a:t>
            </a:r>
          </a:p>
          <a:p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调用 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preload </a:t>
            </a:r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设置下一次采样间隔</a:t>
            </a:r>
          </a:p>
          <a:p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清除 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PMU </a:t>
            </a:r>
            <a:r>
              <a:rPr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溢出标志，随后继续执行程序</a:t>
            </a:r>
            <a:endParaRPr lang="en-C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7444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ea typeface="Microsoft YaHei UI"/>
                <a:cs typeface="Arial"/>
              </a:rPr>
              <a:t>PMU </a:t>
            </a:r>
            <a:r>
              <a:rPr lang="zh-CN" altLang="en-US" sz="3200" dirty="0">
                <a:ea typeface="Microsoft YaHei UI"/>
                <a:cs typeface="Arial"/>
              </a:rPr>
              <a:t>中断入口取得指令地址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>
                <a:ea typeface="Microsoft YaHei UI"/>
                <a:cs typeface="Arial"/>
              </a:rPr>
              <a:t>33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5E6020-8202-C299-ED7A-BF52CE897772}"/>
              </a:ext>
            </a:extLst>
          </p:cNvPr>
          <p:cNvSpPr txBox="1"/>
          <p:nvPr/>
        </p:nvSpPr>
        <p:spPr>
          <a:xfrm>
            <a:off x="838200" y="1513840"/>
            <a:ext cx="10744200" cy="14465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dirty="0">
                <a:solidFill>
                  <a:schemeClr val="tx2"/>
                </a:solidFill>
                <a:latin typeface="Consolas" panose="020B0609020204030204" pitchFamily="49" charset="0"/>
                <a:ea typeface="DengXian" panose="02010600030101010101" pitchFamily="2" charset="-122"/>
              </a:rPr>
              <a:t>let</a:t>
            </a:r>
            <a:r>
              <a:rPr lang="en-US" sz="2200" dirty="0">
                <a:latin typeface="Consolas" panose="020B0609020204030204" pitchFamily="49" charset="0"/>
                <a:ea typeface="DengXian" panose="02010600030101010101" pitchFamily="2" charset="-122"/>
              </a:rPr>
              <a:t> </a:t>
            </a:r>
            <a:r>
              <a:rPr lang="en-US" sz="2200" dirty="0" err="1">
                <a:latin typeface="Consolas" panose="020B0609020204030204" pitchFamily="49" charset="0"/>
                <a:ea typeface="DengXian" panose="02010600030101010101" pitchFamily="2" charset="-122"/>
              </a:rPr>
              <a:t>ip</a:t>
            </a:r>
            <a:r>
              <a:rPr lang="en-US" sz="2200" dirty="0">
                <a:latin typeface="Consolas" panose="020B0609020204030204" pitchFamily="49" charset="0"/>
                <a:ea typeface="DengXian" panose="02010600030101010101" pitchFamily="2" charset="-122"/>
              </a:rPr>
              <a:t> = </a:t>
            </a:r>
            <a:r>
              <a:rPr lang="en-US" sz="2200" dirty="0" err="1">
                <a:latin typeface="Consolas" panose="020B0609020204030204" pitchFamily="49" charset="0"/>
                <a:ea typeface="DengXian" panose="02010600030101010101" pitchFamily="2" charset="-122"/>
              </a:rPr>
              <a:t>ax_cpu</a:t>
            </a:r>
            <a:r>
              <a:rPr lang="en-US" sz="2200" dirty="0">
                <a:latin typeface="Consolas" panose="020B0609020204030204" pitchFamily="49" charset="0"/>
                <a:ea typeface="DengXian" panose="02010600030101010101" pitchFamily="2" charset="-122"/>
              </a:rPr>
              <a:t>::</a:t>
            </a:r>
            <a:r>
              <a:rPr lang="en-US" sz="2200" dirty="0" err="1">
                <a:latin typeface="Consolas" panose="020B0609020204030204" pitchFamily="49" charset="0"/>
                <a:ea typeface="DengXian" panose="02010600030101010101" pitchFamily="2" charset="-122"/>
              </a:rPr>
              <a:t>pmu</a:t>
            </a:r>
            <a:r>
              <a:rPr lang="en-US" sz="2200" dirty="0">
                <a:latin typeface="Consolas" panose="020B0609020204030204" pitchFamily="49" charset="0"/>
                <a:ea typeface="DengXian" panose="02010600030101010101" pitchFamily="2" charset="-122"/>
              </a:rPr>
              <a:t>::</a:t>
            </a:r>
            <a:r>
              <a:rPr lang="en-US" sz="2200" dirty="0" err="1">
                <a:latin typeface="Consolas" panose="020B0609020204030204" pitchFamily="49" charset="0"/>
                <a:ea typeface="DengXian" panose="02010600030101010101" pitchFamily="2" charset="-122"/>
              </a:rPr>
              <a:t>interrupted_pc</a:t>
            </a:r>
            <a:r>
              <a:rPr lang="en-US" sz="2200" dirty="0">
                <a:latin typeface="Consolas" panose="020B0609020204030204" pitchFamily="49" charset="0"/>
                <a:ea typeface="DengXian" panose="02010600030101010101" pitchFamily="2" charset="-122"/>
              </a:rPr>
              <a:t>();</a:t>
            </a:r>
          </a:p>
          <a:p>
            <a:pPr>
              <a:buNone/>
            </a:pPr>
            <a:r>
              <a:rPr lang="en-US" sz="2200" dirty="0">
                <a:solidFill>
                  <a:schemeClr val="tx2"/>
                </a:solidFill>
                <a:latin typeface="Consolas" panose="020B0609020204030204" pitchFamily="49" charset="0"/>
                <a:ea typeface="DengXian" panose="02010600030101010101" pitchFamily="2" charset="-122"/>
              </a:rPr>
              <a:t>let</a:t>
            </a:r>
            <a:r>
              <a:rPr lang="en-US" sz="2200" dirty="0">
                <a:latin typeface="Consolas" panose="020B0609020204030204" pitchFamily="49" charset="0"/>
                <a:ea typeface="DengXian" panose="02010600030101010101" pitchFamily="2" charset="-122"/>
              </a:rPr>
              <a:t> </a:t>
            </a:r>
            <a:r>
              <a:rPr lang="en-US" sz="2200" dirty="0" err="1">
                <a:latin typeface="Consolas" panose="020B0609020204030204" pitchFamily="49" charset="0"/>
                <a:ea typeface="DengXian" panose="02010600030101010101" pitchFamily="2" charset="-122"/>
              </a:rPr>
              <a:t>is_user</a:t>
            </a:r>
            <a:r>
              <a:rPr lang="en-US" sz="2200" dirty="0">
                <a:latin typeface="Consolas" panose="020B0609020204030204" pitchFamily="49" charset="0"/>
                <a:ea typeface="DengXian" panose="02010600030101010101" pitchFamily="2" charset="-122"/>
              </a:rPr>
              <a:t> = </a:t>
            </a:r>
            <a:r>
              <a:rPr lang="en-US" sz="2200" dirty="0" err="1">
                <a:latin typeface="Consolas" panose="020B0609020204030204" pitchFamily="49" charset="0"/>
                <a:ea typeface="DengXian" panose="02010600030101010101" pitchFamily="2" charset="-122"/>
              </a:rPr>
              <a:t>ax_cpu</a:t>
            </a:r>
            <a:r>
              <a:rPr lang="en-US" sz="2200" dirty="0">
                <a:latin typeface="Consolas" panose="020B0609020204030204" pitchFamily="49" charset="0"/>
                <a:ea typeface="DengXian" panose="02010600030101010101" pitchFamily="2" charset="-122"/>
              </a:rPr>
              <a:t>::</a:t>
            </a:r>
            <a:r>
              <a:rPr lang="en-US" sz="2200" dirty="0" err="1">
                <a:latin typeface="Consolas" panose="020B0609020204030204" pitchFamily="49" charset="0"/>
                <a:ea typeface="DengXian" panose="02010600030101010101" pitchFamily="2" charset="-122"/>
              </a:rPr>
              <a:t>pmu</a:t>
            </a:r>
            <a:r>
              <a:rPr lang="en-US" sz="2200" dirty="0">
                <a:latin typeface="Consolas" panose="020B0609020204030204" pitchFamily="49" charset="0"/>
                <a:ea typeface="DengXian" panose="02010600030101010101" pitchFamily="2" charset="-122"/>
              </a:rPr>
              <a:t>::</a:t>
            </a:r>
            <a:r>
              <a:rPr lang="en-US" sz="2200" dirty="0" err="1">
                <a:latin typeface="Consolas" panose="020B0609020204030204" pitchFamily="49" charset="0"/>
                <a:ea typeface="DengXian" panose="02010600030101010101" pitchFamily="2" charset="-122"/>
              </a:rPr>
              <a:t>interrupted_is_user</a:t>
            </a:r>
            <a:r>
              <a:rPr lang="en-US" sz="2200" dirty="0">
                <a:latin typeface="Consolas" panose="020B0609020204030204" pitchFamily="49" charset="0"/>
                <a:ea typeface="DengXian" panose="02010600030101010101" pitchFamily="2" charset="-122"/>
              </a:rPr>
              <a:t>();</a:t>
            </a:r>
          </a:p>
          <a:p>
            <a:pPr>
              <a:buNone/>
            </a:pPr>
            <a:endParaRPr lang="en-US" sz="2200" dirty="0">
              <a:latin typeface="Consolas" panose="020B0609020204030204" pitchFamily="49" charset="0"/>
              <a:ea typeface="DengXian" panose="02010600030101010101" pitchFamily="2" charset="-122"/>
            </a:endParaRPr>
          </a:p>
          <a:p>
            <a:pPr>
              <a:buNone/>
            </a:pPr>
            <a:r>
              <a:rPr lang="en-US" sz="2200" dirty="0">
                <a:solidFill>
                  <a:schemeClr val="tx2"/>
                </a:solidFill>
                <a:latin typeface="Consolas" panose="020B0609020204030204" pitchFamily="49" charset="0"/>
                <a:ea typeface="DengXian" panose="02010600030101010101" pitchFamily="2" charset="-122"/>
              </a:rPr>
              <a:t>let</a:t>
            </a:r>
            <a:r>
              <a:rPr lang="en-US" sz="2200" dirty="0">
                <a:latin typeface="Consolas" panose="020B0609020204030204" pitchFamily="49" charset="0"/>
                <a:ea typeface="DengXian" panose="02010600030101010101" pitchFamily="2" charset="-122"/>
              </a:rPr>
              <a:t> </a:t>
            </a:r>
            <a:r>
              <a:rPr lang="en-US" sz="2200" dirty="0" err="1">
                <a:latin typeface="Consolas" panose="020B0609020204030204" pitchFamily="49" charset="0"/>
                <a:ea typeface="DengXian" panose="02010600030101010101" pitchFamily="2" charset="-122"/>
              </a:rPr>
              <a:t>ovf</a:t>
            </a:r>
            <a:r>
              <a:rPr lang="en-US" sz="2200" dirty="0">
                <a:latin typeface="Consolas" panose="020B0609020204030204" pitchFamily="49" charset="0"/>
                <a:ea typeface="DengXian" panose="02010600030101010101" pitchFamily="2" charset="-122"/>
              </a:rPr>
              <a:t> = </a:t>
            </a:r>
            <a:r>
              <a:rPr lang="en-US" sz="2200" dirty="0" err="1">
                <a:latin typeface="Consolas" panose="020B0609020204030204" pitchFamily="49" charset="0"/>
                <a:ea typeface="DengXian" panose="02010600030101010101" pitchFamily="2" charset="-122"/>
              </a:rPr>
              <a:t>ax_cpu</a:t>
            </a:r>
            <a:r>
              <a:rPr lang="en-US" sz="2200" dirty="0">
                <a:latin typeface="Consolas" panose="020B0609020204030204" pitchFamily="49" charset="0"/>
                <a:ea typeface="DengXian" panose="02010600030101010101" pitchFamily="2" charset="-122"/>
              </a:rPr>
              <a:t>::</a:t>
            </a:r>
            <a:r>
              <a:rPr lang="en-US" sz="2200" dirty="0" err="1">
                <a:latin typeface="Consolas" panose="020B0609020204030204" pitchFamily="49" charset="0"/>
                <a:ea typeface="DengXian" panose="02010600030101010101" pitchFamily="2" charset="-122"/>
              </a:rPr>
              <a:t>pmu</a:t>
            </a:r>
            <a:r>
              <a:rPr lang="en-US" sz="2200" dirty="0">
                <a:latin typeface="Consolas" panose="020B0609020204030204" pitchFamily="49" charset="0"/>
                <a:ea typeface="DengXian" panose="02010600030101010101" pitchFamily="2" charset="-122"/>
              </a:rPr>
              <a:t>::overflow::status();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2E5310-9F98-9EAD-B7A3-A303861CD659}"/>
              </a:ext>
            </a:extLst>
          </p:cNvPr>
          <p:cNvSpPr txBox="1"/>
          <p:nvPr/>
        </p:nvSpPr>
        <p:spPr>
          <a:xfrm>
            <a:off x="838200" y="3708000"/>
            <a:ext cx="10744200" cy="24622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2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 </a:t>
            </a:r>
            <a:r>
              <a:rPr lang="en-US" altLang="zh-CN" sz="22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en-US" altLang="zh-CN" sz="22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2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interrupted_pc</a:t>
            </a:r>
            <a: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-&gt; </a:t>
            </a:r>
            <a: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u64 {</a:t>
            </a:r>
            <a:b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sz="22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 value;</a:t>
            </a:r>
            <a:br>
              <a:rPr lang="en-US" altLang="zh-CN" sz="22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2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unsafe {</a:t>
            </a:r>
            <a:br>
              <a:rPr lang="en-US" altLang="zh-CN" sz="22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2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-US" altLang="zh-CN" sz="22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asm</a:t>
            </a:r>
            <a: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!(</a:t>
            </a:r>
            <a:r>
              <a:rPr lang="en-US" altLang="zh-CN" sz="2200" b="0" i="0" u="none" strike="noStrike" baseline="0" dirty="0">
                <a:solidFill>
                  <a:srgbClr val="A03C3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2200" b="0" i="0" u="none" strike="noStrike" baseline="0" dirty="0" err="1">
                <a:solidFill>
                  <a:srgbClr val="A03C3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mrs</a:t>
            </a:r>
            <a:r>
              <a:rPr lang="en-US" altLang="zh-CN" sz="2200" b="0" i="0" u="none" strike="noStrike" baseline="0" dirty="0">
                <a:solidFill>
                  <a:srgbClr val="A03C3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{}, ELR_EL1", </a:t>
            </a:r>
            <a: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out(reg) value);</a:t>
            </a:r>
            <a:b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}</a:t>
            </a:r>
            <a:b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value</a:t>
            </a:r>
            <a:b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CN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6D6029-10B6-7BD5-7867-20F6147F4F5E}"/>
              </a:ext>
            </a:extLst>
          </p:cNvPr>
          <p:cNvSpPr txBox="1"/>
          <p:nvPr/>
        </p:nvSpPr>
        <p:spPr>
          <a:xfrm>
            <a:off x="838800" y="3096000"/>
            <a:ext cx="1074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AArch64 </a:t>
            </a:r>
            <a:r>
              <a:rPr lang="zh-CN" altLang="en-US" dirty="0"/>
              <a:t>进入异常时，</a:t>
            </a:r>
            <a:r>
              <a:rPr lang="en-US" dirty="0"/>
              <a:t>ELR_EL1 </a:t>
            </a:r>
            <a:r>
              <a:rPr lang="zh-CN" altLang="en-US" dirty="0"/>
              <a:t>保存异常返回地址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4518824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61BE6-8267-9EC7-A6E3-8CEC0A9D5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211193-F285-2BF0-C6C7-ABC83B47EC60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ea typeface="Microsoft YaHei UI"/>
                <a:cs typeface="Arial"/>
              </a:rPr>
              <a:t>按计数器编号查找采样事件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15EC27-4B74-0880-F036-28F128D725C0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34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62E2EC-35AC-AF24-FC2F-CE72F07D50A8}"/>
              </a:ext>
            </a:extLst>
          </p:cNvPr>
          <p:cNvSpPr txBox="1"/>
          <p:nvPr/>
        </p:nvSpPr>
        <p:spPr>
          <a:xfrm>
            <a:off x="838200" y="1513840"/>
            <a:ext cx="10744200" cy="17851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dirty="0">
                <a:solidFill>
                  <a:srgbClr val="002060"/>
                </a:solidFill>
                <a:latin typeface="Consolas" panose="020B0609020204030204" pitchFamily="49" charset="0"/>
                <a:ea typeface="DengXian" panose="02010600030101010101" pitchFamily="2" charset="-122"/>
              </a:rPr>
              <a:t>for</a:t>
            </a:r>
            <a:r>
              <a:rPr lang="en-US" sz="2200" dirty="0">
                <a:latin typeface="Consolas" panose="020B0609020204030204" pitchFamily="49" charset="0"/>
                <a:ea typeface="DengXian" panose="02010600030101010101" pitchFamily="2" charset="-122"/>
              </a:rPr>
              <a:t> n in 0..=MAX_COUNTER {</a:t>
            </a:r>
          </a:p>
          <a:p>
            <a:pPr>
              <a:buNone/>
            </a:pPr>
            <a:r>
              <a:rPr lang="en-US" sz="2200" dirty="0">
                <a:latin typeface="Consolas" panose="020B0609020204030204" pitchFamily="49" charset="0"/>
                <a:ea typeface="DengXian" panose="02010600030101010101" pitchFamily="2" charset="-122"/>
              </a:rPr>
              <a:t>    </a:t>
            </a:r>
            <a:r>
              <a:rPr lang="en-US" sz="2200" dirty="0">
                <a:solidFill>
                  <a:srgbClr val="002060"/>
                </a:solidFill>
                <a:latin typeface="Consolas" panose="020B0609020204030204" pitchFamily="49" charset="0"/>
                <a:ea typeface="DengXian" panose="02010600030101010101" pitchFamily="2" charset="-122"/>
              </a:rPr>
              <a:t>if</a:t>
            </a:r>
            <a:r>
              <a:rPr lang="en-US" sz="2200" dirty="0">
                <a:latin typeface="Consolas" panose="020B0609020204030204" pitchFamily="49" charset="0"/>
                <a:ea typeface="DengXian" panose="02010600030101010101" pitchFamily="2" charset="-122"/>
              </a:rPr>
              <a:t> </a:t>
            </a:r>
            <a:r>
              <a:rPr lang="en-US" sz="2200" dirty="0" err="1">
                <a:latin typeface="Consolas" panose="020B0609020204030204" pitchFamily="49" charset="0"/>
                <a:ea typeface="DengXian" panose="02010600030101010101" pitchFamily="2" charset="-122"/>
              </a:rPr>
              <a:t>ovf</a:t>
            </a:r>
            <a:r>
              <a:rPr lang="en-US" sz="2200" dirty="0">
                <a:latin typeface="Consolas" panose="020B0609020204030204" pitchFamily="49" charset="0"/>
                <a:ea typeface="DengXian" panose="02010600030101010101" pitchFamily="2" charset="-122"/>
              </a:rPr>
              <a:t> &amp; (1 &lt;&lt; n) == 0 {</a:t>
            </a:r>
          </a:p>
          <a:p>
            <a:pPr>
              <a:buNone/>
            </a:pPr>
            <a:r>
              <a:rPr lang="en-US" sz="2200" dirty="0">
                <a:latin typeface="Consolas" panose="020B0609020204030204" pitchFamily="49" charset="0"/>
                <a:ea typeface="DengXian" panose="02010600030101010101" pitchFamily="2" charset="-122"/>
              </a:rPr>
              <a:t>        </a:t>
            </a:r>
            <a:r>
              <a:rPr lang="en-US" sz="2200" dirty="0">
                <a:solidFill>
                  <a:srgbClr val="002060"/>
                </a:solidFill>
                <a:latin typeface="Consolas" panose="020B0609020204030204" pitchFamily="49" charset="0"/>
                <a:ea typeface="DengXian" panose="02010600030101010101" pitchFamily="2" charset="-122"/>
              </a:rPr>
              <a:t>continue</a:t>
            </a:r>
            <a:r>
              <a:rPr lang="en-US" sz="2200" dirty="0">
                <a:latin typeface="Consolas" panose="020B0609020204030204" pitchFamily="49" charset="0"/>
                <a:ea typeface="DengXian" panose="02010600030101010101" pitchFamily="2" charset="-122"/>
              </a:rPr>
              <a:t>;</a:t>
            </a:r>
          </a:p>
          <a:p>
            <a:pPr>
              <a:buNone/>
            </a:pPr>
            <a:r>
              <a:rPr lang="en-US" sz="2200" dirty="0">
                <a:latin typeface="Consolas" panose="020B0609020204030204" pitchFamily="49" charset="0"/>
                <a:ea typeface="DengXian" panose="02010600030101010101" pitchFamily="2" charset="-122"/>
              </a:rPr>
              <a:t>    }</a:t>
            </a:r>
          </a:p>
          <a:p>
            <a:pPr>
              <a:buNone/>
            </a:pPr>
            <a:r>
              <a:rPr lang="en-US" sz="2200" dirty="0">
                <a:latin typeface="Consolas" panose="020B0609020204030204" pitchFamily="49" charset="0"/>
                <a:ea typeface="DengXian" panose="02010600030101010101" pitchFamily="2" charset="-122"/>
              </a:rPr>
              <a:t>    handled |= 1 &lt;&lt; n;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3A127E-9530-993F-5690-63D56537BAB3}"/>
              </a:ext>
            </a:extLst>
          </p:cNvPr>
          <p:cNvSpPr txBox="1"/>
          <p:nvPr/>
        </p:nvSpPr>
        <p:spPr>
          <a:xfrm>
            <a:off x="1450800" y="3348000"/>
            <a:ext cx="10134000" cy="28007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 registry = </a:t>
            </a:r>
            <a:r>
              <a:rPr lang="en-US" altLang="zh-CN" sz="2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unsafe</a:t>
            </a:r>
            <a:r>
              <a:rPr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 { </a:t>
            </a:r>
            <a:r>
              <a:rPr lang="en-US" altLang="zh-CN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REGISTRY.current_ref_mut_raw</a:t>
            </a:r>
            <a:r>
              <a:rPr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() };</a:t>
            </a:r>
          </a:p>
          <a:p>
            <a:r>
              <a:rPr lang="en-US" altLang="zh-CN" sz="2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 Some(slot) = registry[n].</a:t>
            </a:r>
            <a:r>
              <a:rPr lang="en-US" altLang="zh-CN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as_mut</a:t>
            </a:r>
            <a:r>
              <a:rPr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en-US" altLang="zh-CN" sz="2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2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continue</a:t>
            </a:r>
            <a:r>
              <a:rPr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endParaRPr lang="en-US" altLang="zh-CN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2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sample_type</a:t>
            </a:r>
            <a:r>
              <a:rPr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slot.sample_type</a:t>
            </a:r>
            <a:r>
              <a:rPr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2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ring_vaddr</a:t>
            </a:r>
            <a:r>
              <a:rPr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slot.ring_vaddr</a:t>
            </a:r>
            <a:r>
              <a:rPr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2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ring_len</a:t>
            </a:r>
            <a:r>
              <a:rPr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slot.ring_len</a:t>
            </a:r>
            <a:r>
              <a:rPr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CN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5734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CF1A5-568F-2499-0C1D-358CB14CA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EE2788-311F-E151-AD29-A6828400FDC7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ea typeface="Microsoft YaHei UI"/>
                <a:cs typeface="Arial"/>
              </a:rPr>
              <a:t>采样记录的写入与丢失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93AD4A-94E1-7D8A-8C16-AE62E4C44B69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35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5D077C-20C5-CF11-021F-534662D0C3F0}"/>
              </a:ext>
            </a:extLst>
          </p:cNvPr>
          <p:cNvSpPr txBox="1"/>
          <p:nvPr/>
        </p:nvSpPr>
        <p:spPr>
          <a:xfrm>
            <a:off x="1450800" y="1519200"/>
            <a:ext cx="10134000" cy="1323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ea typeface="DengXian" panose="02010600030101010101" pitchFamily="2" charset="-122"/>
              </a:rPr>
              <a:t>let</a:t>
            </a:r>
            <a:r>
              <a:rPr lang="en-US" sz="2000" dirty="0">
                <a:latin typeface="Consolas" panose="020B0609020204030204" pitchFamily="49" charset="0"/>
                <a:ea typeface="DengXian" panose="02010600030101010101" pitchFamily="2" charset="-122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DengXian" panose="02010600030101010101" pitchFamily="2" charset="-122"/>
              </a:rPr>
              <a:t>len</a:t>
            </a:r>
            <a:r>
              <a:rPr lang="en-US" sz="2000" dirty="0">
                <a:latin typeface="Consolas" panose="020B0609020204030204" pitchFamily="49" charset="0"/>
                <a:ea typeface="DengXian" panose="02010600030101010101" pitchFamily="2" charset="-122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ea typeface="DengXian" panose="02010600030101010101" pitchFamily="2" charset="-122"/>
              </a:rPr>
              <a:t>build_sample</a:t>
            </a:r>
            <a:r>
              <a:rPr lang="en-US" sz="2000" dirty="0">
                <a:latin typeface="Consolas" panose="020B0609020204030204" pitchFamily="49" charset="0"/>
                <a:ea typeface="DengXian" panose="02010600030101010101" pitchFamily="2" charset="-122"/>
              </a:rPr>
              <a:t>(&amp;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ea typeface="DengXian" panose="02010600030101010101" pitchFamily="2" charset="-122"/>
              </a:rPr>
              <a:t>mut</a:t>
            </a:r>
            <a:r>
              <a:rPr lang="en-US" sz="2000" dirty="0">
                <a:latin typeface="Consolas" panose="020B0609020204030204" pitchFamily="49" charset="0"/>
                <a:ea typeface="DengXian" panose="02010600030101010101" pitchFamily="2" charset="-122"/>
              </a:rPr>
              <a:t> record[..], </a:t>
            </a:r>
            <a:r>
              <a:rPr lang="en-US" sz="2000" dirty="0" err="1">
                <a:latin typeface="Consolas" panose="020B0609020204030204" pitchFamily="49" charset="0"/>
                <a:ea typeface="DengXian" panose="02010600030101010101" pitchFamily="2" charset="-122"/>
              </a:rPr>
              <a:t>sample_type</a:t>
            </a:r>
            <a:r>
              <a:rPr lang="en-US" sz="2000" dirty="0">
                <a:latin typeface="Consolas" panose="020B0609020204030204" pitchFamily="49" charset="0"/>
                <a:ea typeface="DengXian" panose="02010600030101010101" pitchFamily="2" charset="-122"/>
              </a:rPr>
              <a:t>, </a:t>
            </a:r>
            <a:r>
              <a:rPr lang="en-US" sz="2000" dirty="0" err="1">
                <a:latin typeface="Consolas" panose="020B0609020204030204" pitchFamily="49" charset="0"/>
                <a:ea typeface="DengXian" panose="02010600030101010101" pitchFamily="2" charset="-122"/>
              </a:rPr>
              <a:t>misc</a:t>
            </a:r>
            <a:r>
              <a:rPr lang="en-US" sz="2000" dirty="0">
                <a:latin typeface="Consolas" panose="020B0609020204030204" pitchFamily="49" charset="0"/>
                <a:ea typeface="DengXian" panose="02010600030101010101" pitchFamily="2" charset="-122"/>
              </a:rPr>
              <a:t>, &amp;data);</a:t>
            </a:r>
          </a:p>
          <a:p>
            <a:pPr>
              <a:buNone/>
            </a:pP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ea typeface="DengXian" panose="02010600030101010101" pitchFamily="2" charset="-122"/>
              </a:rPr>
              <a:t>let</a:t>
            </a:r>
            <a:r>
              <a:rPr lang="en-US" sz="2000" dirty="0">
                <a:latin typeface="Consolas" panose="020B0609020204030204" pitchFamily="49" charset="0"/>
                <a:ea typeface="DengXian" panose="02010600030101010101" pitchFamily="2" charset="-122"/>
              </a:rPr>
              <a:t> wrote = 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ea typeface="DengXian" panose="02010600030101010101" pitchFamily="2" charset="-122"/>
              </a:rPr>
              <a:t>unsafe</a:t>
            </a:r>
            <a:r>
              <a:rPr lang="en-US" sz="2000" dirty="0">
                <a:latin typeface="Consolas" panose="020B0609020204030204" pitchFamily="49" charset="0"/>
                <a:ea typeface="DengXian" panose="02010600030101010101" pitchFamily="2" charset="-122"/>
              </a:rPr>
              <a:t> {</a:t>
            </a:r>
          </a:p>
          <a:p>
            <a:pPr>
              <a:buNone/>
            </a:pPr>
            <a:r>
              <a:rPr lang="en-US" sz="2000" dirty="0">
                <a:latin typeface="Consolas" panose="020B0609020204030204" pitchFamily="49" charset="0"/>
                <a:ea typeface="DengXian" panose="02010600030101010101" pitchFamily="2" charset="-122"/>
              </a:rPr>
              <a:t>    </a:t>
            </a:r>
            <a:r>
              <a:rPr lang="en-US" sz="2000" dirty="0" err="1">
                <a:latin typeface="Consolas" panose="020B0609020204030204" pitchFamily="49" charset="0"/>
                <a:ea typeface="DengXian" panose="02010600030101010101" pitchFamily="2" charset="-122"/>
              </a:rPr>
              <a:t>ring_write</a:t>
            </a:r>
            <a:r>
              <a:rPr lang="en-US" sz="2000" dirty="0">
                <a:latin typeface="Consolas" panose="020B0609020204030204" pitchFamily="49" charset="0"/>
                <a:ea typeface="DengXian" panose="02010600030101010101" pitchFamily="2" charset="-122"/>
              </a:rPr>
              <a:t>(</a:t>
            </a:r>
            <a:r>
              <a:rPr lang="en-US" sz="2000" dirty="0" err="1">
                <a:latin typeface="Consolas" panose="020B0609020204030204" pitchFamily="49" charset="0"/>
                <a:ea typeface="DengXian" panose="02010600030101010101" pitchFamily="2" charset="-122"/>
              </a:rPr>
              <a:t>ring_vaddr</a:t>
            </a:r>
            <a:r>
              <a:rPr lang="en-US" sz="2000" dirty="0">
                <a:latin typeface="Consolas" panose="020B0609020204030204" pitchFamily="49" charset="0"/>
                <a:ea typeface="DengXian" panose="02010600030101010101" pitchFamily="2" charset="-122"/>
              </a:rPr>
              <a:t>, </a:t>
            </a:r>
            <a:r>
              <a:rPr lang="en-US" sz="2000" dirty="0" err="1">
                <a:latin typeface="Consolas" panose="020B0609020204030204" pitchFamily="49" charset="0"/>
                <a:ea typeface="DengXian" panose="02010600030101010101" pitchFamily="2" charset="-122"/>
              </a:rPr>
              <a:t>ring_len</a:t>
            </a:r>
            <a:r>
              <a:rPr lang="en-US" sz="2000" dirty="0">
                <a:latin typeface="Consolas" panose="020B0609020204030204" pitchFamily="49" charset="0"/>
                <a:ea typeface="DengXian" panose="02010600030101010101" pitchFamily="2" charset="-122"/>
              </a:rPr>
              <a:t>, &amp;record[..</a:t>
            </a:r>
            <a:r>
              <a:rPr lang="en-US" sz="2000" dirty="0" err="1">
                <a:latin typeface="Consolas" panose="020B0609020204030204" pitchFamily="49" charset="0"/>
                <a:ea typeface="DengXian" panose="02010600030101010101" pitchFamily="2" charset="-122"/>
              </a:rPr>
              <a:t>len</a:t>
            </a:r>
            <a:r>
              <a:rPr lang="en-US" sz="2000" dirty="0">
                <a:latin typeface="Consolas" panose="020B0609020204030204" pitchFamily="49" charset="0"/>
                <a:ea typeface="DengXian" panose="02010600030101010101" pitchFamily="2" charset="-122"/>
              </a:rPr>
              <a:t>])</a:t>
            </a:r>
          </a:p>
          <a:p>
            <a:pPr>
              <a:buNone/>
            </a:pPr>
            <a:r>
              <a:rPr lang="en-US" sz="2000" dirty="0">
                <a:latin typeface="Consolas" panose="020B0609020204030204" pitchFamily="49" charset="0"/>
                <a:ea typeface="DengXian" panose="02010600030101010101" pitchFamily="2" charset="-122"/>
              </a:rPr>
              <a:t>};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B6B6C7-8E2D-127C-5FF4-18F0DE9EEFA8}"/>
              </a:ext>
            </a:extLst>
          </p:cNvPr>
          <p:cNvSpPr txBox="1"/>
          <p:nvPr/>
        </p:nvSpPr>
        <p:spPr>
          <a:xfrm>
            <a:off x="1450800" y="3348000"/>
            <a:ext cx="10134000" cy="25545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!wrote &amp;&amp; !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lost_ptr.is_null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unsafe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(*(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lost_ptr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as *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AtomicU64))</a:t>
            </a:r>
          </a:p>
          <a:p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    .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fetch_add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(1, Ordering::Relaxed)</a:t>
            </a:r>
          </a:p>
          <a:p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   };</a:t>
            </a:r>
          </a:p>
          <a:p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ax_cpu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pmu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::counter::preload(n, 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next_period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4728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1D850-ECEF-DE57-7D2A-4E5486AE8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B2C8E0-02AC-B238-962E-9E08D3EBB62F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ea typeface="Microsoft YaHei UI"/>
                <a:cs typeface="Arial"/>
              </a:rPr>
              <a:t>Linux </a:t>
            </a:r>
            <a:r>
              <a:rPr lang="zh-CN" altLang="en-US" sz="3200" dirty="0">
                <a:ea typeface="Microsoft YaHei UI"/>
                <a:cs typeface="Arial"/>
              </a:rPr>
              <a:t>上采集的 </a:t>
            </a:r>
            <a:r>
              <a:rPr lang="en-US" altLang="zh-CN" sz="3200" dirty="0">
                <a:ea typeface="Microsoft YaHei UI"/>
                <a:cs typeface="Arial"/>
              </a:rPr>
              <a:t>80 B </a:t>
            </a:r>
            <a:r>
              <a:rPr lang="zh-CN" altLang="en-US" sz="3200" dirty="0">
                <a:ea typeface="Microsoft YaHei UI"/>
                <a:cs typeface="Arial"/>
              </a:rPr>
              <a:t>样本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588449-C72D-9C9A-E0A9-F04EA19CE59B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36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B8A1514-1316-C16F-7D5D-790E9E8FD9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992879"/>
              </p:ext>
            </p:extLst>
          </p:nvPr>
        </p:nvGraphicFramePr>
        <p:xfrm>
          <a:off x="838799" y="1656000"/>
          <a:ext cx="10512000" cy="4269599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504000">
                  <a:extLst>
                    <a:ext uri="{9D8B030D-6E8A-4147-A177-3AD203B41FA5}">
                      <a16:colId xmlns:a16="http://schemas.microsoft.com/office/drawing/2014/main" val="364384588"/>
                    </a:ext>
                  </a:extLst>
                </a:gridCol>
                <a:gridCol w="3504000">
                  <a:extLst>
                    <a:ext uri="{9D8B030D-6E8A-4147-A177-3AD203B41FA5}">
                      <a16:colId xmlns:a16="http://schemas.microsoft.com/office/drawing/2014/main" val="393091911"/>
                    </a:ext>
                  </a:extLst>
                </a:gridCol>
                <a:gridCol w="3504000">
                  <a:extLst>
                    <a:ext uri="{9D8B030D-6E8A-4147-A177-3AD203B41FA5}">
                      <a16:colId xmlns:a16="http://schemas.microsoft.com/office/drawing/2014/main" val="3632215602"/>
                    </a:ext>
                  </a:extLst>
                </a:gridCol>
              </a:tblGrid>
              <a:tr h="422622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偏移（</a:t>
                      </a:r>
                      <a:r>
                        <a:rPr lang="en-US" sz="2000" dirty="0"/>
                        <a:t>B）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字段与长度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实际取值</a:t>
                      </a:r>
                      <a:endParaRPr lang="en-C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9011626"/>
                  </a:ext>
                </a:extLst>
              </a:tr>
              <a:tr h="422622">
                <a:tc>
                  <a:txBody>
                    <a:bodyPr/>
                    <a:lstStyle/>
                    <a:p>
                      <a:r>
                        <a:rPr lang="en-CN" sz="2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HEADER  8 B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type 9 · </a:t>
                      </a:r>
                      <a:r>
                        <a:rPr lang="en-US" sz="2000" dirty="0" err="1"/>
                        <a:t>misc</a:t>
                      </a:r>
                      <a:r>
                        <a:rPr lang="en-US" sz="2000" dirty="0"/>
                        <a:t> 2 · size 80</a:t>
                      </a:r>
                      <a:endParaRPr lang="en-C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9446508"/>
                  </a:ext>
                </a:extLst>
              </a:tr>
              <a:tr h="422622">
                <a:tc>
                  <a:txBody>
                    <a:bodyPr/>
                    <a:lstStyle/>
                    <a:p>
                      <a:r>
                        <a:rPr lang="en-CN" sz="20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IP  8 B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0x56245fa332a6</a:t>
                      </a:r>
                      <a:endParaRPr lang="en-C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861535"/>
                  </a:ext>
                </a:extLst>
              </a:tr>
              <a:tr h="422622">
                <a:tc>
                  <a:txBody>
                    <a:bodyPr/>
                    <a:lstStyle/>
                    <a:p>
                      <a:r>
                        <a:rPr lang="en-CN" sz="20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PID / TID  8 B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N" sz="2000" dirty="0"/>
                        <a:t>1908981 / 1908981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8225293"/>
                  </a:ext>
                </a:extLst>
              </a:tr>
              <a:tr h="422622">
                <a:tc>
                  <a:txBody>
                    <a:bodyPr/>
                    <a:lstStyle/>
                    <a:p>
                      <a:r>
                        <a:rPr lang="en-CN" sz="2000" dirty="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TIME  8 B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1177047743723600 ns</a:t>
                      </a:r>
                      <a:endParaRPr lang="en-C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5551663"/>
                  </a:ext>
                </a:extLst>
              </a:tr>
              <a:tr h="422622">
                <a:tc>
                  <a:txBody>
                    <a:bodyPr/>
                    <a:lstStyle/>
                    <a:p>
                      <a:r>
                        <a:rPr lang="en-CN" sz="20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CPU / </a:t>
                      </a:r>
                      <a:r>
                        <a:rPr lang="zh-CN" altLang="en-US" sz="2000" dirty="0"/>
                        <a:t>保留字段  </a:t>
                      </a:r>
                      <a:r>
                        <a:rPr lang="en-US" altLang="zh-CN" sz="2000" dirty="0"/>
                        <a:t>8 </a:t>
                      </a:r>
                      <a:r>
                        <a:rPr lang="en-US" sz="2000" dirty="0"/>
                        <a:t>B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N" sz="2000" dirty="0"/>
                        <a:t>0 /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4300127"/>
                  </a:ext>
                </a:extLst>
              </a:tr>
              <a:tr h="422622">
                <a:tc>
                  <a:txBody>
                    <a:bodyPr/>
                    <a:lstStyle/>
                    <a:p>
                      <a:r>
                        <a:rPr lang="en-CN" sz="2000" dirty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PERIOD  8 B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N" sz="2000" dirty="0"/>
                        <a:t>919167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5687258"/>
                  </a:ext>
                </a:extLst>
              </a:tr>
              <a:tr h="1311245">
                <a:tc>
                  <a:txBody>
                    <a:bodyPr/>
                    <a:lstStyle/>
                    <a:p>
                      <a:r>
                        <a:rPr lang="en-CN" sz="2000" dirty="0"/>
                        <a:t>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CALLCHAIN  32 B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nr = 3</a:t>
                      </a:r>
                    </a:p>
                    <a:p>
                      <a:r>
                        <a:rPr lang="en-US" sz="2000" dirty="0"/>
                        <a:t>0xfffffffffffffe00</a:t>
                      </a:r>
                    </a:p>
                    <a:p>
                      <a:r>
                        <a:rPr lang="en-US" sz="2000" dirty="0"/>
                        <a:t>0x56245fa332a6</a:t>
                      </a:r>
                    </a:p>
                    <a:p>
                      <a:r>
                        <a:rPr lang="en-US" sz="2000" dirty="0"/>
                        <a:t>0x7f071d184ca8</a:t>
                      </a:r>
                      <a:endParaRPr lang="en-C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1431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84552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2CA1-65D1-9983-0BD7-7275F3B43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172822-CBB1-C23A-2349-E89F65E993C9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 err="1">
                <a:ea typeface="Microsoft YaHei UI"/>
                <a:cs typeface="Arial"/>
              </a:rPr>
              <a:t>sample_type</a:t>
            </a:r>
            <a:r>
              <a:rPr lang="en-US" altLang="zh-CN" sz="3200" dirty="0">
                <a:ea typeface="Microsoft YaHei UI"/>
                <a:cs typeface="Arial"/>
              </a:rPr>
              <a:t> </a:t>
            </a:r>
            <a:r>
              <a:rPr lang="zh-CN" altLang="en-US" sz="3200" dirty="0">
                <a:ea typeface="Microsoft YaHei UI"/>
                <a:cs typeface="Arial"/>
              </a:rPr>
              <a:t>选择记录字段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94F736-BE84-6CEE-E724-B1294340749F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37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B356AC-EB2B-80CC-1A1C-540B6CCFDE90}"/>
              </a:ext>
            </a:extLst>
          </p:cNvPr>
          <p:cNvSpPr txBox="1"/>
          <p:nvPr/>
        </p:nvSpPr>
        <p:spPr>
          <a:xfrm>
            <a:off x="838200" y="1513840"/>
            <a:ext cx="107442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altLang="zh-CN" sz="21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sample_type</a:t>
            </a:r>
            <a:r>
              <a:rPr lang="en-US" altLang="zh-CN" sz="21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&amp; PERF_SAMPLE_IP != </a:t>
            </a:r>
            <a:r>
              <a:rPr lang="en-US" altLang="zh-CN" sz="21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 {</a:t>
            </a:r>
            <a:br>
              <a:rPr lang="en-US" altLang="zh-CN" sz="21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1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sz="21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put!(</a:t>
            </a:r>
            <a:r>
              <a:rPr lang="en-US" altLang="zh-CN" sz="21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d.ip</a:t>
            </a:r>
            <a:r>
              <a:rPr lang="en-US" altLang="zh-CN" sz="21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altLang="zh-CN" sz="21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1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altLang="zh-CN" sz="21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1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altLang="zh-CN" sz="21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sample_type</a:t>
            </a:r>
            <a:r>
              <a:rPr lang="en-US" altLang="zh-CN" sz="21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&amp; PERF_SAMPLE_TID != </a:t>
            </a:r>
            <a:r>
              <a:rPr lang="en-US" altLang="zh-CN" sz="21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 {</a:t>
            </a:r>
            <a:br>
              <a:rPr lang="en-US" altLang="zh-CN" sz="21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1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sz="21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put!(</a:t>
            </a:r>
            <a:r>
              <a:rPr lang="en-US" altLang="zh-CN" sz="21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d.pid</a:t>
            </a:r>
            <a:r>
              <a:rPr lang="en-US" altLang="zh-CN" sz="21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altLang="zh-CN" sz="21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1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put!(</a:t>
            </a:r>
            <a:r>
              <a:rPr lang="en-US" altLang="zh-CN" sz="21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d.tid</a:t>
            </a:r>
            <a:r>
              <a:rPr lang="en-US" altLang="zh-CN" sz="21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altLang="zh-CN" sz="21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1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altLang="zh-CN" sz="21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1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altLang="zh-CN" sz="21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sample_type</a:t>
            </a:r>
            <a:r>
              <a:rPr lang="en-US" altLang="zh-CN" sz="21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&amp; PERF_SAMPLE_TIME != </a:t>
            </a:r>
            <a:r>
              <a:rPr lang="en-US" altLang="zh-CN" sz="21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 {</a:t>
            </a:r>
            <a:br>
              <a:rPr lang="en-US" altLang="zh-CN" sz="21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1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sz="21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put!(</a:t>
            </a:r>
            <a:r>
              <a:rPr lang="en-US" altLang="zh-CN" sz="21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d.time</a:t>
            </a:r>
            <a:r>
              <a:rPr lang="en-US" altLang="zh-CN" sz="21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altLang="zh-CN" sz="21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1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CN" sz="2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22FFD5-0BC0-3A21-64C6-3C5CD5C340A7}"/>
              </a:ext>
            </a:extLst>
          </p:cNvPr>
          <p:cNvSpPr txBox="1"/>
          <p:nvPr/>
        </p:nvSpPr>
        <p:spPr>
          <a:xfrm>
            <a:off x="838800" y="5076000"/>
            <a:ext cx="1051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去掉 </a:t>
            </a:r>
            <a:r>
              <a:rPr lang="en-US" dirty="0"/>
              <a:t>TIME </a:t>
            </a:r>
            <a:r>
              <a:rPr lang="zh-CN" altLang="en-US" dirty="0"/>
              <a:t>的 </a:t>
            </a:r>
            <a:r>
              <a:rPr lang="en-US" altLang="zh-CN" dirty="0"/>
              <a:t>8 </a:t>
            </a:r>
            <a:r>
              <a:rPr lang="en-US" dirty="0"/>
              <a:t>B：CPU </a:t>
            </a:r>
            <a:r>
              <a:rPr lang="zh-CN" altLang="en-US" dirty="0"/>
              <a:t>偏移由 </a:t>
            </a:r>
            <a:r>
              <a:rPr lang="en-US" altLang="zh-CN" dirty="0"/>
              <a:t>32 </a:t>
            </a:r>
            <a:r>
              <a:rPr lang="zh-CN" altLang="en-US" dirty="0"/>
              <a:t>变为 </a:t>
            </a:r>
            <a:r>
              <a:rPr lang="en-US" altLang="zh-CN" dirty="0"/>
              <a:t>24</a:t>
            </a:r>
            <a:r>
              <a:rPr lang="zh-CN" altLang="en-US" dirty="0"/>
              <a:t>，总长度为 </a:t>
            </a:r>
            <a:r>
              <a:rPr lang="en-US" altLang="zh-CN" dirty="0"/>
              <a:t>72 </a:t>
            </a:r>
            <a:r>
              <a:rPr lang="en-US" dirty="0"/>
              <a:t>B</a:t>
            </a:r>
          </a:p>
          <a:p>
            <a:r>
              <a:rPr lang="en-US" dirty="0"/>
              <a:t>PERIOD </a:t>
            </a:r>
            <a:r>
              <a:rPr lang="zh-CN" altLang="en-US" dirty="0"/>
              <a:t>原来位于偏移 </a:t>
            </a:r>
            <a:r>
              <a:rPr lang="en-US" altLang="zh-CN" dirty="0"/>
              <a:t>40</a:t>
            </a:r>
            <a:r>
              <a:rPr lang="zh-CN" altLang="en-US" dirty="0"/>
              <a:t>，现在应位于哪里？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2369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ea typeface="Microsoft YaHei UI"/>
                <a:cs typeface="Arial"/>
              </a:rPr>
              <a:t>perf </a:t>
            </a:r>
            <a:r>
              <a:rPr lang="zh-CN" altLang="en-US" sz="3200" dirty="0">
                <a:ea typeface="Microsoft YaHei UI"/>
                <a:cs typeface="Arial"/>
              </a:rPr>
              <a:t>请求的字段如何解释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38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7F9AB1-7B56-C85D-7D89-4964884AC8B7}"/>
              </a:ext>
            </a:extLst>
          </p:cNvPr>
          <p:cNvSpPr txBox="1"/>
          <p:nvPr/>
        </p:nvSpPr>
        <p:spPr>
          <a:xfrm>
            <a:off x="838200" y="1513840"/>
            <a:ext cx="1074420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软件探针请求事件数据，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sample_type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包含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1 &lt;&lt; 10</a:t>
            </a:r>
          </a:p>
          <a:p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原实现定义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PERF_SAMPLE_READ = 1 &lt;&lt; 10</a:t>
            </a:r>
          </a:p>
          <a:p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分支判断 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sample_type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&amp; PERF_SAMPLE_READ != 0</a:t>
            </a:r>
            <a:endParaRPr lang="en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8211A0-0627-7ACB-A6F6-1FCB7B715A1A}"/>
              </a:ext>
            </a:extLst>
          </p:cNvPr>
          <p:cNvSpPr txBox="1"/>
          <p:nvPr/>
        </p:nvSpPr>
        <p:spPr>
          <a:xfrm>
            <a:off x="838200" y="2936240"/>
            <a:ext cx="10744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 const</a:t>
            </a:r>
            <a:r>
              <a:rPr lang="en-CN" sz="2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PERF_SAMPLE_READ: u64 = 1 &lt;&lt; 4;</a:t>
            </a:r>
            <a:r>
              <a:rPr lang="zh-CN" altLang="en-US" sz="2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zh-CN" altLang="en-US" sz="2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接口规定</a:t>
            </a:r>
            <a:endParaRPr lang="en-CN" sz="22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N" sz="2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 const</a:t>
            </a:r>
            <a:r>
              <a:rPr lang="en-CN" sz="2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PERF_SAMPLE_RAW: u64 = 1 &lt;&lt; 10;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7B873D-2DAA-D81C-9328-34B1EA5393B4}"/>
              </a:ext>
            </a:extLst>
          </p:cNvPr>
          <p:cNvSpPr txBox="1"/>
          <p:nvPr/>
        </p:nvSpPr>
        <p:spPr>
          <a:xfrm>
            <a:off x="838200" y="4104640"/>
            <a:ext cx="10744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RAW = 1 &lt;&lt; 10</a:t>
            </a:r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READ = 1 &lt;&lt; 4</a:t>
            </a:r>
          </a:p>
          <a:p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自写用例与内核共用了错误位号，外部 </a:t>
            </a: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perf </a:t>
            </a:r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请求暴露差异</a:t>
            </a:r>
            <a:endParaRPr lang="en-CN" sz="2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672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ea typeface="Microsoft YaHei UI"/>
                <a:cs typeface="Arial"/>
              </a:rPr>
              <a:t>内核与 </a:t>
            </a:r>
            <a:r>
              <a:rPr lang="en-US" altLang="zh-CN" sz="3200" dirty="0">
                <a:ea typeface="Microsoft YaHei UI"/>
                <a:cs typeface="Arial"/>
              </a:rPr>
              <a:t>perf </a:t>
            </a:r>
            <a:r>
              <a:rPr lang="zh-CN" altLang="en-US" sz="3200" dirty="0">
                <a:ea typeface="Microsoft YaHei UI"/>
                <a:cs typeface="Arial"/>
              </a:rPr>
              <a:t>共享同一组物理页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39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8800" y="1656000"/>
            <a:ext cx="4896000" cy="12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zh-CN" altLang="en-US" sz="2200" dirty="0">
                <a:solidFill>
                  <a:srgbClr val="000000"/>
                </a:solidFill>
                <a:latin typeface="Arial" panose="020B0604020202020204" pitchFamily="34" charset="0"/>
                <a:ea typeface="Microsoft YaHei UI"/>
                <a:cs typeface="Arial" panose="020B0604020202020204" pitchFamily="34" charset="0"/>
              </a:rPr>
              <a:t>内核虚拟地址空间</a:t>
            </a:r>
          </a:p>
          <a:p>
            <a:pPr algn="ctr"/>
            <a:r>
              <a:rPr lang="en-US" altLang="zh-CN" sz="2200" dirty="0" err="1">
                <a:solidFill>
                  <a:srgbClr val="000000"/>
                </a:solidFill>
                <a:latin typeface="Arial" panose="020B0604020202020204" pitchFamily="34" charset="0"/>
                <a:ea typeface="Microsoft YaHei UI"/>
                <a:cs typeface="Arial" panose="020B0604020202020204" pitchFamily="34" charset="0"/>
              </a:rPr>
              <a:t>ring_vaddr</a:t>
            </a:r>
            <a:endParaRPr lang="en-US" altLang="zh-CN" sz="2200" dirty="0">
              <a:solidFill>
                <a:srgbClr val="000000"/>
              </a:solidFill>
              <a:latin typeface="Arial" panose="020B0604020202020204" pitchFamily="34" charset="0"/>
              <a:ea typeface="Microsoft YaHei UI"/>
              <a:cs typeface="Arial" panose="020B0604020202020204" pitchFamily="34" charset="0"/>
            </a:endParaRPr>
          </a:p>
          <a:p>
            <a:pPr algn="ctr"/>
            <a:r>
              <a:rPr lang="zh-CN" altLang="en-US" sz="2200" dirty="0">
                <a:solidFill>
                  <a:srgbClr val="000000"/>
                </a:solidFill>
                <a:latin typeface="Arial" panose="020B0604020202020204" pitchFamily="34" charset="0"/>
                <a:ea typeface="Microsoft YaHei UI"/>
                <a:cs typeface="Arial" panose="020B0604020202020204" pitchFamily="34" charset="0"/>
              </a:rPr>
              <a:t>写入记录</a:t>
            </a:r>
            <a:endParaRPr lang="zh-CN" altLang="en-US" sz="2200" b="0" dirty="0">
              <a:solidFill>
                <a:srgbClr val="000000"/>
              </a:solidFill>
              <a:latin typeface="Arial" panose="020B0604020202020204" pitchFamily="34" charset="0"/>
              <a:ea typeface="Microsoft YaHei UI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1686FC-8EDB-F288-A2CF-945E52EE3BC0}"/>
              </a:ext>
            </a:extLst>
          </p:cNvPr>
          <p:cNvSpPr/>
          <p:nvPr/>
        </p:nvSpPr>
        <p:spPr>
          <a:xfrm>
            <a:off x="6454800" y="1656000"/>
            <a:ext cx="4896000" cy="12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en-US" altLang="zh-CN" sz="2200" dirty="0">
                <a:solidFill>
                  <a:srgbClr val="000000"/>
                </a:solidFill>
                <a:latin typeface="Arial" panose="020B0604020202020204" pitchFamily="34" charset="0"/>
                <a:ea typeface="Microsoft YaHei UI"/>
                <a:cs typeface="Arial" panose="020B0604020202020204" pitchFamily="34" charset="0"/>
              </a:rPr>
              <a:t>perf </a:t>
            </a:r>
            <a:r>
              <a:rPr lang="zh-CN" altLang="en-US" sz="2200" dirty="0">
                <a:solidFill>
                  <a:srgbClr val="000000"/>
                </a:solidFill>
                <a:latin typeface="Arial" panose="020B0604020202020204" pitchFamily="34" charset="0"/>
                <a:ea typeface="Microsoft YaHei UI"/>
                <a:cs typeface="Arial" panose="020B0604020202020204" pitchFamily="34" charset="0"/>
              </a:rPr>
              <a:t>虚拟地址空间</a:t>
            </a:r>
          </a:p>
          <a:p>
            <a:pPr algn="ctr"/>
            <a:r>
              <a:rPr lang="en-US" altLang="zh-CN" sz="2200" dirty="0" err="1">
                <a:solidFill>
                  <a:srgbClr val="000000"/>
                </a:solidFill>
                <a:latin typeface="Arial" panose="020B0604020202020204" pitchFamily="34" charset="0"/>
                <a:ea typeface="Microsoft YaHei UI"/>
                <a:cs typeface="Arial" panose="020B0604020202020204" pitchFamily="34" charset="0"/>
              </a:rPr>
              <a:t>mmap</a:t>
            </a:r>
            <a:r>
              <a:rPr lang="en-US" altLang="zh-CN" sz="2200" dirty="0">
                <a:solidFill>
                  <a:srgbClr val="000000"/>
                </a:solidFill>
                <a:latin typeface="Arial" panose="020B0604020202020204" pitchFamily="34" charset="0"/>
                <a:ea typeface="Microsoft YaHei UI"/>
                <a:cs typeface="Arial" panose="020B0604020202020204" pitchFamily="34" charset="0"/>
              </a:rPr>
              <a:t> </a:t>
            </a:r>
            <a:r>
              <a:rPr lang="zh-CN" altLang="en-US" sz="2200" dirty="0">
                <a:solidFill>
                  <a:srgbClr val="000000"/>
                </a:solidFill>
                <a:latin typeface="Arial" panose="020B0604020202020204" pitchFamily="34" charset="0"/>
                <a:ea typeface="Microsoft YaHei UI"/>
                <a:cs typeface="Arial" panose="020B0604020202020204" pitchFamily="34" charset="0"/>
              </a:rPr>
              <a:t>返回地址</a:t>
            </a:r>
          </a:p>
          <a:p>
            <a:pPr algn="ctr"/>
            <a:r>
              <a:rPr lang="zh-CN" altLang="en-US" sz="2200" dirty="0">
                <a:solidFill>
                  <a:srgbClr val="000000"/>
                </a:solidFill>
                <a:latin typeface="Arial" panose="020B0604020202020204" pitchFamily="34" charset="0"/>
                <a:ea typeface="Microsoft YaHei UI"/>
                <a:cs typeface="Arial" panose="020B0604020202020204" pitchFamily="34" charset="0"/>
              </a:rPr>
              <a:t>读取记录</a:t>
            </a:r>
            <a:endParaRPr lang="zh-CN" altLang="en-US" sz="2200" b="0" dirty="0">
              <a:solidFill>
                <a:srgbClr val="000000"/>
              </a:solidFill>
              <a:latin typeface="Arial" panose="020B0604020202020204" pitchFamily="34" charset="0"/>
              <a:ea typeface="Microsoft YaHei UI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537BE3-01B0-CA69-7AB3-B6EEB26BD960}"/>
              </a:ext>
            </a:extLst>
          </p:cNvPr>
          <p:cNvSpPr/>
          <p:nvPr/>
        </p:nvSpPr>
        <p:spPr>
          <a:xfrm>
            <a:off x="838800" y="3744000"/>
            <a:ext cx="10512000" cy="1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zh-CN" altLang="en-US" sz="2200" dirty="0">
                <a:solidFill>
                  <a:srgbClr val="000000"/>
                </a:solidFill>
                <a:latin typeface="Arial" panose="020B0604020202020204" pitchFamily="34" charset="0"/>
                <a:ea typeface="Microsoft YaHei UI"/>
                <a:cs typeface="Arial" panose="020B0604020202020204" pitchFamily="34" charset="0"/>
              </a:rPr>
              <a:t>同一组物理页面</a:t>
            </a:r>
          </a:p>
          <a:p>
            <a:pPr algn="ctr"/>
            <a:r>
              <a:rPr lang="zh-CN" altLang="en-US" sz="2200" dirty="0">
                <a:solidFill>
                  <a:srgbClr val="000000"/>
                </a:solidFill>
                <a:latin typeface="Arial" panose="020B0604020202020204" pitchFamily="34" charset="0"/>
                <a:ea typeface="Microsoft YaHei UI"/>
                <a:cs typeface="Arial" panose="020B0604020202020204" pitchFamily="34" charset="0"/>
              </a:rPr>
              <a:t>第 </a:t>
            </a:r>
            <a:r>
              <a:rPr lang="en-US" altLang="zh-CN" sz="2200" dirty="0">
                <a:solidFill>
                  <a:srgbClr val="000000"/>
                </a:solidFill>
                <a:latin typeface="Arial" panose="020B0604020202020204" pitchFamily="34" charset="0"/>
                <a:ea typeface="Microsoft YaHei UI"/>
                <a:cs typeface="Arial" panose="020B0604020202020204" pitchFamily="34" charset="0"/>
              </a:rPr>
              <a:t>0 </a:t>
            </a:r>
            <a:r>
              <a:rPr lang="zh-CN" altLang="en-US" sz="2200" dirty="0">
                <a:solidFill>
                  <a:srgbClr val="000000"/>
                </a:solidFill>
                <a:latin typeface="Arial" panose="020B0604020202020204" pitchFamily="34" charset="0"/>
                <a:ea typeface="Microsoft YaHei UI"/>
                <a:cs typeface="Arial" panose="020B0604020202020204" pitchFamily="34" charset="0"/>
              </a:rPr>
              <a:t>页   </a:t>
            </a:r>
            <a:r>
              <a:rPr lang="en-US" altLang="zh-CN" sz="2200" dirty="0" err="1">
                <a:solidFill>
                  <a:srgbClr val="000000"/>
                </a:solidFill>
                <a:latin typeface="Arial" panose="020B0604020202020204" pitchFamily="34" charset="0"/>
                <a:ea typeface="Microsoft YaHei UI"/>
                <a:cs typeface="Arial" panose="020B0604020202020204" pitchFamily="34" charset="0"/>
              </a:rPr>
              <a:t>data_head</a:t>
            </a:r>
            <a:r>
              <a:rPr lang="en-US" altLang="zh-CN" sz="2200" dirty="0">
                <a:solidFill>
                  <a:srgbClr val="000000"/>
                </a:solidFill>
                <a:latin typeface="Arial" panose="020B0604020202020204" pitchFamily="34" charset="0"/>
                <a:ea typeface="Microsoft YaHei UI"/>
                <a:cs typeface="Arial" panose="020B0604020202020204" pitchFamily="34" charset="0"/>
              </a:rPr>
              <a:t> / </a:t>
            </a:r>
            <a:r>
              <a:rPr lang="en-US" altLang="zh-CN" sz="2200" dirty="0" err="1">
                <a:solidFill>
                  <a:srgbClr val="000000"/>
                </a:solidFill>
                <a:latin typeface="Arial" panose="020B0604020202020204" pitchFamily="34" charset="0"/>
                <a:ea typeface="Microsoft YaHei UI"/>
                <a:cs typeface="Arial" panose="020B0604020202020204" pitchFamily="34" charset="0"/>
              </a:rPr>
              <a:t>data_tail</a:t>
            </a:r>
            <a:r>
              <a:rPr lang="en-US" altLang="zh-CN" sz="2200" dirty="0">
                <a:solidFill>
                  <a:srgbClr val="000000"/>
                </a:solidFill>
                <a:latin typeface="Arial" panose="020B0604020202020204" pitchFamily="34" charset="0"/>
                <a:ea typeface="Microsoft YaHei UI"/>
                <a:cs typeface="Arial" panose="020B0604020202020204" pitchFamily="34" charset="0"/>
              </a:rPr>
              <a:t> / </a:t>
            </a:r>
            <a:r>
              <a:rPr lang="en-US" altLang="zh-CN" sz="2200" dirty="0" err="1">
                <a:solidFill>
                  <a:srgbClr val="000000"/>
                </a:solidFill>
                <a:latin typeface="Arial" panose="020B0604020202020204" pitchFamily="34" charset="0"/>
                <a:ea typeface="Microsoft YaHei UI"/>
                <a:cs typeface="Arial" panose="020B0604020202020204" pitchFamily="34" charset="0"/>
              </a:rPr>
              <a:t>data_offset</a:t>
            </a:r>
            <a:r>
              <a:rPr lang="en-US" altLang="zh-CN" sz="2200" dirty="0">
                <a:solidFill>
                  <a:srgbClr val="000000"/>
                </a:solidFill>
                <a:latin typeface="Arial" panose="020B0604020202020204" pitchFamily="34" charset="0"/>
                <a:ea typeface="Microsoft YaHei UI"/>
                <a:cs typeface="Arial" panose="020B0604020202020204" pitchFamily="34" charset="0"/>
              </a:rPr>
              <a:t> / </a:t>
            </a:r>
            <a:r>
              <a:rPr lang="en-US" altLang="zh-CN" sz="2200" dirty="0" err="1">
                <a:solidFill>
                  <a:srgbClr val="000000"/>
                </a:solidFill>
                <a:latin typeface="Arial" panose="020B0604020202020204" pitchFamily="34" charset="0"/>
                <a:ea typeface="Microsoft YaHei UI"/>
                <a:cs typeface="Arial" panose="020B0604020202020204" pitchFamily="34" charset="0"/>
              </a:rPr>
              <a:t>data_size</a:t>
            </a:r>
            <a:endParaRPr lang="en-US" altLang="zh-CN" sz="2200" dirty="0">
              <a:solidFill>
                <a:srgbClr val="000000"/>
              </a:solidFill>
              <a:latin typeface="Arial" panose="020B0604020202020204" pitchFamily="34" charset="0"/>
              <a:ea typeface="Microsoft YaHei UI"/>
              <a:cs typeface="Arial" panose="020B0604020202020204" pitchFamily="34" charset="0"/>
            </a:endParaRPr>
          </a:p>
          <a:p>
            <a:pPr algn="ctr"/>
            <a:r>
              <a:rPr lang="zh-CN" altLang="en-US" sz="2200" dirty="0">
                <a:solidFill>
                  <a:srgbClr val="000000"/>
                </a:solidFill>
                <a:latin typeface="Arial" panose="020B0604020202020204" pitchFamily="34" charset="0"/>
                <a:ea typeface="Microsoft YaHei UI"/>
                <a:cs typeface="Arial" panose="020B0604020202020204" pitchFamily="34" charset="0"/>
              </a:rPr>
              <a:t>第 </a:t>
            </a:r>
            <a:r>
              <a:rPr lang="en-US" altLang="zh-CN" sz="2200" dirty="0">
                <a:solidFill>
                  <a:srgbClr val="000000"/>
                </a:solidFill>
                <a:latin typeface="Arial" panose="020B0604020202020204" pitchFamily="34" charset="0"/>
                <a:ea typeface="Microsoft YaHei UI"/>
                <a:cs typeface="Arial" panose="020B0604020202020204" pitchFamily="34" charset="0"/>
              </a:rPr>
              <a:t>1 </a:t>
            </a:r>
            <a:r>
              <a:rPr lang="zh-CN" altLang="en-US" sz="2200" dirty="0">
                <a:solidFill>
                  <a:srgbClr val="000000"/>
                </a:solidFill>
                <a:latin typeface="Arial" panose="020B0604020202020204" pitchFamily="34" charset="0"/>
                <a:ea typeface="Microsoft YaHei UI"/>
                <a:cs typeface="Arial" panose="020B0604020202020204" pitchFamily="34" charset="0"/>
              </a:rPr>
              <a:t>页起   </a:t>
            </a:r>
            <a:r>
              <a:rPr lang="en-US" altLang="zh-CN" sz="2200" dirty="0">
                <a:solidFill>
                  <a:srgbClr val="000000"/>
                </a:solidFill>
                <a:latin typeface="Arial" panose="020B0604020202020204" pitchFamily="34" charset="0"/>
                <a:ea typeface="Microsoft YaHei UI"/>
                <a:cs typeface="Arial" panose="020B0604020202020204" pitchFamily="34" charset="0"/>
              </a:rPr>
              <a:t>SAMPLE / MMAP2 / LOST</a:t>
            </a:r>
            <a:endParaRPr lang="zh-CN" altLang="en-US" sz="2200" b="0" dirty="0">
              <a:solidFill>
                <a:srgbClr val="000000"/>
              </a:solidFill>
              <a:latin typeface="Arial" panose="020B0604020202020204" pitchFamily="34" charset="0"/>
              <a:ea typeface="Microsoft YaHei UI"/>
              <a:cs typeface="Arial" panose="020B06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745249-CD88-4A9C-5C24-0AB9400DADA0}"/>
              </a:ext>
            </a:extLst>
          </p:cNvPr>
          <p:cNvCxnSpPr>
            <a:cxnSpLocks/>
          </p:cNvCxnSpPr>
          <p:nvPr/>
        </p:nvCxnSpPr>
        <p:spPr>
          <a:xfrm flipH="1">
            <a:off x="3286800" y="2952000"/>
            <a:ext cx="0" cy="79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B6BA9B3-4B68-A84F-6EC8-71376E2E1A96}"/>
              </a:ext>
            </a:extLst>
          </p:cNvPr>
          <p:cNvCxnSpPr>
            <a:cxnSpLocks/>
          </p:cNvCxnSpPr>
          <p:nvPr/>
        </p:nvCxnSpPr>
        <p:spPr>
          <a:xfrm flipH="1">
            <a:off x="8902800" y="2952000"/>
            <a:ext cx="0" cy="79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6307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3896B-D9EA-9C63-918F-3B1B9553A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464851-906D-41F5-C79F-72B99E950F7E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ea typeface="Microsoft YaHei UI"/>
                <a:cs typeface="Arial"/>
              </a:rPr>
              <a:t>共享页面为什么读到 </a:t>
            </a:r>
            <a:r>
              <a:rPr lang="en-US" altLang="zh-CN" sz="3200" dirty="0">
                <a:ea typeface="Microsoft YaHei UI"/>
                <a:cs typeface="Arial"/>
              </a:rPr>
              <a:t>0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585BA8-6957-00EA-9904-71F2149C79B5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40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D94FBE-F904-73F8-E949-6EA6CFEAEA28}"/>
              </a:ext>
            </a:extLst>
          </p:cNvPr>
          <p:cNvSpPr txBox="1"/>
          <p:nvPr/>
        </p:nvSpPr>
        <p:spPr>
          <a:xfrm>
            <a:off x="838200" y="1513840"/>
            <a:ext cx="10744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RK3588 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采样没有输出，用户侧 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data_head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一直为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同时读取两侧 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data_size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和动态 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data_head</a:t>
            </a:r>
            <a:endParaRPr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data_size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由初始化写入，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data_head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随记录写入而变化</a:t>
            </a:r>
            <a:endParaRPr lang="en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4F4E6B-64AE-7F1B-6B8C-B3643E0A041C}"/>
              </a:ext>
            </a:extLst>
          </p:cNvPr>
          <p:cNvSpPr txBox="1"/>
          <p:nvPr/>
        </p:nvSpPr>
        <p:spPr>
          <a:xfrm>
            <a:off x="838200" y="2936240"/>
            <a:ext cx="10744200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内核映射 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Normal / Write-Back</a:t>
            </a:r>
          </a:p>
          <a:p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用户映射 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Physical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（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UNCACHED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）改为 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PhysicalCached</a:t>
            </a:r>
            <a:endParaRPr lang="en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F38A44-D66C-4E90-6D42-41B3C1EC0FD1}"/>
              </a:ext>
            </a:extLst>
          </p:cNvPr>
          <p:cNvSpPr txBox="1"/>
          <p:nvPr/>
        </p:nvSpPr>
        <p:spPr>
          <a:xfrm>
            <a:off x="838200" y="4104640"/>
            <a:ext cx="10744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00" dirty="0" err="1">
                <a:latin typeface="Consolas" panose="020B0609020204030204" pitchFamily="49" charset="0"/>
                <a:cs typeface="Consolas" panose="020B0609020204030204" pitchFamily="49" charset="0"/>
              </a:rPr>
              <a:t>data_size</a:t>
            </a: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正常只说明初始化值可见</a:t>
            </a:r>
          </a:p>
          <a:p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继续比较两侧 </a:t>
            </a: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head</a:t>
            </a:r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、物理页地址及映射属性</a:t>
            </a:r>
            <a:endParaRPr lang="en-CN" sz="2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609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FF5BA-F03E-16FD-39DA-E29B6CECC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C5AA8F-9148-9C74-25DD-70890BCE7BF7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zh-CN" altLang="en-US" sz="3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固定间隔采样的板级检查</a:t>
            </a:r>
            <a:endParaRPr lang="en-CN" sz="3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0D6B96-0896-5EDC-8B80-F135DD984326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41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4115C3-3F41-CE07-0362-59B796A7CFDE}"/>
              </a:ext>
            </a:extLst>
          </p:cNvPr>
          <p:cNvSpPr txBox="1"/>
          <p:nvPr/>
        </p:nvSpPr>
        <p:spPr>
          <a:xfrm>
            <a:off x="838200" y="1513840"/>
            <a:ext cx="10744200" cy="1323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a.type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PERF_TYPE_RAW; // ARM 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事件编码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a.config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EV_CPU_CYCLES;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a.sample_period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1000000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a.sample_type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SAMPLE_IP;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记录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IP 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字段</a:t>
            </a:r>
            <a:endParaRPr lang="en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782197-6623-6580-8C32-9726AD5A3819}"/>
              </a:ext>
            </a:extLst>
          </p:cNvPr>
          <p:cNvSpPr txBox="1"/>
          <p:nvPr/>
        </p:nvSpPr>
        <p:spPr>
          <a:xfrm>
            <a:off x="838200" y="3240000"/>
            <a:ext cx="10744200" cy="4308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SAMP-1 PASS samples=2048 </a:t>
            </a:r>
            <a:r>
              <a:rPr lang="en-US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in_loop_range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=2022</a:t>
            </a:r>
            <a:endParaRPr lang="en-CN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FD62F1-5EC6-7A75-590C-EBA21A44FF4B}"/>
              </a:ext>
            </a:extLst>
          </p:cNvPr>
          <p:cNvSpPr txBox="1"/>
          <p:nvPr/>
        </p:nvSpPr>
        <p:spPr>
          <a:xfrm>
            <a:off x="838200" y="4746324"/>
            <a:ext cx="107442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2 </a:t>
            </a:r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亿次循环，停用后读取，要求至少 </a:t>
            </a: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8 </a:t>
            </a:r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条</a:t>
            </a:r>
          </a:p>
          <a:p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地址检查范围为 </a:t>
            </a: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busy </a:t>
            </a:r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至 </a:t>
            </a: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busy+4096</a:t>
            </a:r>
          </a:p>
          <a:p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8 × 4096 B ÷ </a:t>
            </a:r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每条 </a:t>
            </a: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16 B = 2048 </a:t>
            </a:r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条，恰好达到容量</a:t>
            </a:r>
            <a:endParaRPr lang="en-CN" sz="2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004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D4031-832D-3A27-AC02-8051DDB4F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3CE217-7ACE-E59F-C190-6B4C266C7439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ea typeface="Microsoft YaHei UI"/>
                <a:cs typeface="Arial"/>
              </a:rPr>
              <a:t>写入前检查环形缓冲区容量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127F9C-85A1-8F53-BFA0-356749214902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42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BEB573-021F-A449-D0AC-C3D96AAF5C77}"/>
              </a:ext>
            </a:extLst>
          </p:cNvPr>
          <p:cNvSpPr txBox="1"/>
          <p:nvPr/>
        </p:nvSpPr>
        <p:spPr>
          <a:xfrm>
            <a:off x="838800" y="2880000"/>
            <a:ext cx="1051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ea typeface="Microsoft YaHei UI"/>
                <a:cs typeface="Arial"/>
              </a:rPr>
              <a:t>head = 14   tail = 6   </a:t>
            </a:r>
            <a:r>
              <a:rPr lang="zh-CN" altLang="en-US" sz="2200" dirty="0">
                <a:ea typeface="Microsoft YaHei UI"/>
                <a:cs typeface="Arial"/>
              </a:rPr>
              <a:t>待写入 </a:t>
            </a:r>
            <a:r>
              <a:rPr lang="en-US" altLang="zh-CN" sz="2200" dirty="0">
                <a:ea typeface="Microsoft YaHei UI"/>
                <a:cs typeface="Arial"/>
              </a:rPr>
              <a:t>A B C D E F</a:t>
            </a:r>
            <a:r>
              <a:rPr lang="zh-CN" altLang="en-US" sz="2200" dirty="0">
                <a:ea typeface="Microsoft YaHei UI"/>
                <a:cs typeface="Arial"/>
              </a:rPr>
              <a:t>（</a:t>
            </a:r>
            <a:r>
              <a:rPr lang="en-US" altLang="zh-CN" sz="2200" dirty="0">
                <a:ea typeface="Microsoft YaHei UI"/>
                <a:cs typeface="Arial"/>
              </a:rPr>
              <a:t>6 B</a:t>
            </a:r>
            <a:r>
              <a:rPr lang="zh-CN" altLang="en-US" sz="2200" dirty="0">
                <a:ea typeface="Microsoft YaHei UI"/>
                <a:cs typeface="Arial"/>
              </a:rPr>
              <a:t>）</a:t>
            </a:r>
          </a:p>
          <a:p>
            <a:r>
              <a:rPr lang="en-US" altLang="zh-CN" sz="2200" dirty="0">
                <a:ea typeface="Microsoft YaHei UI"/>
                <a:cs typeface="Arial"/>
              </a:rPr>
              <a:t>X0–X7 </a:t>
            </a:r>
            <a:r>
              <a:rPr lang="zh-CN" altLang="en-US" sz="2200" dirty="0">
                <a:ea typeface="Microsoft YaHei UI"/>
                <a:cs typeface="Arial"/>
              </a:rPr>
              <a:t>尚未读取，空白格子可以写入</a:t>
            </a:r>
            <a:endParaRPr lang="zh-CN" altLang="en-US" sz="2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8C1583-4F6E-3952-3679-F81571200C43}"/>
              </a:ext>
            </a:extLst>
          </p:cNvPr>
          <p:cNvSpPr txBox="1"/>
          <p:nvPr/>
        </p:nvSpPr>
        <p:spPr>
          <a:xfrm>
            <a:off x="838200" y="3698240"/>
            <a:ext cx="10744200" cy="17851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2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altLang="zh-CN" sz="22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head.</a:t>
            </a:r>
            <a:r>
              <a:rPr lang="en-US" altLang="zh-CN" sz="22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wrapping_sub</a:t>
            </a:r>
            <a: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(tail).</a:t>
            </a:r>
            <a:r>
              <a:rPr lang="en-US" altLang="zh-CN" sz="22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wrapping_add</a:t>
            </a:r>
            <a: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2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2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 </a:t>
            </a:r>
            <a: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u64)</a:t>
            </a:r>
            <a:b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&gt; </a:t>
            </a:r>
            <a:r>
              <a:rPr lang="en-US" altLang="zh-CN" sz="2200" b="0" i="0" u="none" strike="noStrike" baseline="0" dirty="0" err="1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data_size</a:t>
            </a:r>
            <a: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2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 </a:t>
            </a:r>
            <a: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u64 {</a:t>
            </a:r>
            <a:b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sz="22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false;</a:t>
            </a:r>
            <a:br>
              <a:rPr lang="en-US" altLang="zh-CN" sz="22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2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altLang="zh-CN" sz="22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200" b="0" i="0" u="none" strike="noStrike" baseline="0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14 - 6 + 6 = 14 &lt;= 16</a:t>
            </a:r>
            <a:r>
              <a:rPr lang="zh-CN" altLang="en-US" sz="2200" b="0" i="0" u="none" strike="noStrike" baseline="0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，可以写入</a:t>
            </a:r>
            <a:endParaRPr lang="en-US" altLang="zh-CN" sz="2200" dirty="0">
              <a:solidFill>
                <a:srgbClr val="165AB8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23C57C1-1C8D-3567-E3D6-50B5DE83D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401071"/>
              </p:ext>
            </p:extLst>
          </p:nvPr>
        </p:nvGraphicFramePr>
        <p:xfrm>
          <a:off x="838800" y="1800000"/>
          <a:ext cx="10512000" cy="792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657000">
                  <a:extLst>
                    <a:ext uri="{9D8B030D-6E8A-4147-A177-3AD203B41FA5}">
                      <a16:colId xmlns:a16="http://schemas.microsoft.com/office/drawing/2014/main" val="3899651061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294789553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334563107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4213274049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369436361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2221959478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059241651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3930661906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2327035326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2333318867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4130576031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2652544186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500081629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3808394888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754849433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4311472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024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X0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X1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X2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X3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X4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X5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X6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X7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77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05093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FC409-3769-99C0-DFBE-4A12A28DD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DB98146-8306-A4BE-7236-79EE99384487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ea typeface="Microsoft YaHei UI"/>
                <a:cs typeface="Arial"/>
              </a:rPr>
              <a:t>第一段复制到数据区末尾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F29E8A-F60B-7FA6-1400-4FBE635140D6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43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C16FE4-AA5A-F19C-3865-340486CBC1BE}"/>
              </a:ext>
            </a:extLst>
          </p:cNvPr>
          <p:cNvSpPr txBox="1"/>
          <p:nvPr/>
        </p:nvSpPr>
        <p:spPr>
          <a:xfrm>
            <a:off x="838800" y="2880000"/>
            <a:ext cx="1051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dirty="0">
                <a:ea typeface="Microsoft YaHei UI"/>
                <a:cs typeface="Arial"/>
              </a:rPr>
              <a:t>累计 </a:t>
            </a:r>
            <a:r>
              <a:rPr lang="en-US" altLang="zh-CN" sz="2200" dirty="0">
                <a:ea typeface="Microsoft YaHei UI"/>
                <a:cs typeface="Arial"/>
              </a:rPr>
              <a:t>head = 14</a:t>
            </a:r>
            <a:r>
              <a:rPr lang="zh-CN" altLang="en-US" sz="2200" dirty="0">
                <a:ea typeface="Microsoft YaHei UI"/>
                <a:cs typeface="Arial"/>
              </a:rPr>
              <a:t>，</a:t>
            </a:r>
            <a:r>
              <a:rPr lang="en-US" altLang="zh-CN" sz="2200" dirty="0">
                <a:ea typeface="Microsoft YaHei UI"/>
                <a:cs typeface="Arial"/>
              </a:rPr>
              <a:t>tail = 6</a:t>
            </a:r>
          </a:p>
          <a:p>
            <a:r>
              <a:rPr lang="en-US" altLang="zh-CN" sz="2200" dirty="0">
                <a:ea typeface="Microsoft YaHei UI"/>
                <a:cs typeface="Arial"/>
              </a:rPr>
              <a:t>A</a:t>
            </a:r>
            <a:r>
              <a:rPr lang="zh-CN" altLang="en-US" sz="2200" dirty="0">
                <a:ea typeface="Microsoft YaHei UI"/>
                <a:cs typeface="Arial"/>
              </a:rPr>
              <a:t>、</a:t>
            </a:r>
            <a:r>
              <a:rPr lang="en-US" altLang="zh-CN" sz="2200" dirty="0">
                <a:ea typeface="Microsoft YaHei UI"/>
                <a:cs typeface="Arial"/>
              </a:rPr>
              <a:t>B </a:t>
            </a:r>
            <a:r>
              <a:rPr lang="zh-CN" altLang="en-US" sz="2200" dirty="0">
                <a:ea typeface="Microsoft YaHei UI"/>
                <a:cs typeface="Arial"/>
              </a:rPr>
              <a:t>写入偏移 </a:t>
            </a:r>
            <a:r>
              <a:rPr lang="en-US" altLang="zh-CN" sz="2200" dirty="0">
                <a:ea typeface="Microsoft YaHei UI"/>
                <a:cs typeface="Arial"/>
              </a:rPr>
              <a:t>14</a:t>
            </a:r>
            <a:r>
              <a:rPr lang="zh-CN" altLang="en-US" sz="2200" dirty="0">
                <a:ea typeface="Microsoft YaHei UI"/>
                <a:cs typeface="Arial"/>
              </a:rPr>
              <a:t>、</a:t>
            </a:r>
            <a:r>
              <a:rPr lang="en-US" altLang="zh-CN" sz="2200" dirty="0">
                <a:ea typeface="Microsoft YaHei UI"/>
                <a:cs typeface="Arial"/>
              </a:rPr>
              <a:t>15</a:t>
            </a:r>
            <a:r>
              <a:rPr lang="zh-CN" altLang="en-US" sz="2200" dirty="0">
                <a:ea typeface="Microsoft YaHei UI"/>
                <a:cs typeface="Arial"/>
              </a:rPr>
              <a:t>，新增内容尚未发布</a:t>
            </a:r>
            <a:endParaRPr lang="zh-CN" altLang="en-US" sz="2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461DD7-EEA4-06F0-4A29-ED9559437115}"/>
              </a:ext>
            </a:extLst>
          </p:cNvPr>
          <p:cNvSpPr txBox="1"/>
          <p:nvPr/>
        </p:nvSpPr>
        <p:spPr>
          <a:xfrm>
            <a:off x="838200" y="3698240"/>
            <a:ext cx="10744200" cy="14465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2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 start = (head % </a:t>
            </a:r>
            <a:r>
              <a:rPr lang="en-US" altLang="zh-CN" sz="22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data_size</a:t>
            </a:r>
            <a:r>
              <a:rPr lang="en-US" altLang="zh-CN" sz="22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as </a:t>
            </a:r>
            <a: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u64) </a:t>
            </a:r>
            <a:r>
              <a:rPr lang="en-US" altLang="zh-CN" sz="22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 </a:t>
            </a:r>
            <a:r>
              <a:rPr lang="en-US" altLang="zh-CN" sz="2200" b="0" i="0" u="none" strike="noStrike" baseline="0" dirty="0" err="1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usize</a:t>
            </a:r>
            <a: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2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 first = core::</a:t>
            </a:r>
            <a:r>
              <a:rPr lang="en-US" altLang="zh-CN" sz="22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cmp</a:t>
            </a:r>
            <a:r>
              <a:rPr lang="en-US" altLang="zh-CN" sz="22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min(</a:t>
            </a:r>
            <a:r>
              <a:rPr lang="en-US" altLang="zh-CN" sz="22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22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data_size</a:t>
            </a:r>
            <a: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 start);</a:t>
            </a:r>
            <a:b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core::</a:t>
            </a:r>
            <a:r>
              <a:rPr lang="en-US" altLang="zh-CN" sz="22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altLang="zh-CN" sz="22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copy_nonoverlapping</a:t>
            </a:r>
            <a: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b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sz="22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record.as_ptr</a:t>
            </a:r>
            <a: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(), (</a:t>
            </a:r>
            <a:r>
              <a:rPr lang="en-US" altLang="zh-CN" sz="22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data_base</a:t>
            </a:r>
            <a:r>
              <a:rPr lang="en-US" altLang="zh-CN" sz="22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start) </a:t>
            </a:r>
            <a:r>
              <a:rPr lang="en-US" altLang="zh-CN" sz="22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 *mut </a:t>
            </a:r>
            <a:r>
              <a:rPr lang="en-US" altLang="zh-CN" sz="22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u8, first);</a:t>
            </a:r>
            <a:endParaRPr lang="en-US" altLang="zh-CN" sz="2200" dirty="0">
              <a:solidFill>
                <a:srgbClr val="165AB8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6E9DFF5-961F-293A-1270-1E2FEBC9F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798652"/>
              </p:ext>
            </p:extLst>
          </p:nvPr>
        </p:nvGraphicFramePr>
        <p:xfrm>
          <a:off x="838800" y="1800000"/>
          <a:ext cx="10512000" cy="792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657000">
                  <a:extLst>
                    <a:ext uri="{9D8B030D-6E8A-4147-A177-3AD203B41FA5}">
                      <a16:colId xmlns:a16="http://schemas.microsoft.com/office/drawing/2014/main" val="3899651061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294789553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334563107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4213274049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369436361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2221959478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059241651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3930661906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2327035326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2333318867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4130576031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2652544186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500081629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3808394888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754849433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4311472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024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X0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X1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X2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X3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X4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X5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X6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X7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B</a:t>
                      </a:r>
                      <a:endParaRPr lang="en-C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77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97133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D0718-B65D-637F-7712-1AC98FBC3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D3396E-FCA3-EA49-B2A9-25C7C9A25B92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ea typeface="Microsoft YaHei UI"/>
                <a:cs typeface="Arial"/>
              </a:rPr>
              <a:t>第二段回到数据区开头</a:t>
            </a:r>
            <a:endParaRPr lang="en-US" altLang="zh-CN" sz="3200" dirty="0">
              <a:ea typeface="Microsoft YaHei UI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E0D2BD-8002-23B7-EFD4-B8654E86AC56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44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9465C8-AF7F-2D35-0FA1-1D9DC43426D7}"/>
              </a:ext>
            </a:extLst>
          </p:cNvPr>
          <p:cNvSpPr txBox="1"/>
          <p:nvPr/>
        </p:nvSpPr>
        <p:spPr>
          <a:xfrm>
            <a:off x="838800" y="2880000"/>
            <a:ext cx="1051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dirty="0">
                <a:ea typeface="Microsoft YaHei UI"/>
                <a:cs typeface="Arial"/>
              </a:rPr>
              <a:t>累计 </a:t>
            </a:r>
            <a:r>
              <a:rPr lang="en-US" altLang="zh-CN" sz="2200" dirty="0">
                <a:ea typeface="Microsoft YaHei UI"/>
                <a:cs typeface="Arial"/>
              </a:rPr>
              <a:t>head = 14</a:t>
            </a:r>
            <a:r>
              <a:rPr lang="zh-CN" altLang="en-US" sz="2200" dirty="0">
                <a:ea typeface="Microsoft YaHei UI"/>
                <a:cs typeface="Arial"/>
              </a:rPr>
              <a:t>，</a:t>
            </a:r>
            <a:r>
              <a:rPr lang="en-US" altLang="zh-CN" sz="2200" dirty="0">
                <a:ea typeface="Microsoft YaHei UI"/>
                <a:cs typeface="Arial"/>
              </a:rPr>
              <a:t>tail = 6</a:t>
            </a:r>
          </a:p>
          <a:p>
            <a:r>
              <a:rPr lang="en-US" altLang="zh-CN" sz="2200" dirty="0">
                <a:ea typeface="Microsoft YaHei UI"/>
                <a:cs typeface="Arial"/>
              </a:rPr>
              <a:t>C–F </a:t>
            </a:r>
            <a:r>
              <a:rPr lang="zh-CN" altLang="en-US" sz="2200" dirty="0">
                <a:ea typeface="Microsoft YaHei UI"/>
                <a:cs typeface="Arial"/>
              </a:rPr>
              <a:t>写入偏移 </a:t>
            </a:r>
            <a:r>
              <a:rPr lang="en-US" altLang="zh-CN" sz="2200" dirty="0">
                <a:ea typeface="Microsoft YaHei UI"/>
                <a:cs typeface="Arial"/>
              </a:rPr>
              <a:t>0–3</a:t>
            </a:r>
            <a:r>
              <a:rPr lang="zh-CN" altLang="en-US" sz="2200" dirty="0">
                <a:ea typeface="Microsoft YaHei UI"/>
                <a:cs typeface="Arial"/>
              </a:rPr>
              <a:t>，全部字节已复制，新增内容尚未发布</a:t>
            </a:r>
            <a:endParaRPr lang="zh-CN" altLang="en-US" sz="2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D25349-14D8-78FA-10D6-27AEA42EAD2E}"/>
              </a:ext>
            </a:extLst>
          </p:cNvPr>
          <p:cNvSpPr txBox="1"/>
          <p:nvPr/>
        </p:nvSpPr>
        <p:spPr>
          <a:xfrm>
            <a:off x="838200" y="3698240"/>
            <a:ext cx="10744200" cy="23544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1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first &lt; </a:t>
            </a:r>
            <a:r>
              <a:rPr lang="en-US" altLang="zh-CN" sz="21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altLang="zh-CN" sz="21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US" altLang="zh-CN" sz="21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1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core::</a:t>
            </a:r>
            <a:r>
              <a:rPr lang="en-US" altLang="zh-CN" sz="21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altLang="zh-CN" sz="21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altLang="zh-CN" sz="21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copy_nonoverlapping</a:t>
            </a:r>
            <a:r>
              <a:rPr lang="en-US" altLang="zh-CN" sz="21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br>
              <a:rPr lang="en-US" altLang="zh-CN" sz="21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1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-US" altLang="zh-CN" sz="21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record.as_ptr</a:t>
            </a:r>
            <a:r>
              <a:rPr lang="en-US" altLang="zh-CN" sz="21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().add(first),</a:t>
            </a:r>
            <a:br>
              <a:rPr lang="en-US" altLang="zh-CN" sz="21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1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-US" altLang="zh-CN" sz="21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data_base</a:t>
            </a:r>
            <a:r>
              <a:rPr lang="en-US" altLang="zh-CN" sz="21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1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 *mut </a:t>
            </a:r>
            <a:r>
              <a:rPr lang="en-US" altLang="zh-CN" sz="21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u8,</a:t>
            </a:r>
            <a:br>
              <a:rPr lang="en-US" altLang="zh-CN" sz="21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1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-US" altLang="zh-CN" sz="2100" b="0" i="0" u="none" strike="noStrike" baseline="0" dirty="0" err="1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altLang="zh-CN" sz="21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 first,</a:t>
            </a:r>
            <a:br>
              <a:rPr lang="en-US" altLang="zh-CN" sz="21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1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);</a:t>
            </a:r>
            <a:br>
              <a:rPr lang="en-US" altLang="zh-CN" sz="21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1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2100" dirty="0">
              <a:solidFill>
                <a:srgbClr val="165AB8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566AA0-8823-7EB4-2BAB-206D16383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3734"/>
              </p:ext>
            </p:extLst>
          </p:nvPr>
        </p:nvGraphicFramePr>
        <p:xfrm>
          <a:off x="838800" y="1800000"/>
          <a:ext cx="10512000" cy="792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657000">
                  <a:extLst>
                    <a:ext uri="{9D8B030D-6E8A-4147-A177-3AD203B41FA5}">
                      <a16:colId xmlns:a16="http://schemas.microsoft.com/office/drawing/2014/main" val="3899651061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294789553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334563107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4213274049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369436361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2221959478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059241651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3930661906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2327035326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2333318867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4130576031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2652544186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500081629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3808394888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754849433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4311472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024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C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D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E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F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X0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X1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X2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X3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X4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X5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X6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X7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B</a:t>
                      </a:r>
                      <a:endParaRPr lang="en-C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77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90470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54830-BF73-4F3D-180D-07BC661B2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3E3EF2-5A14-C594-3C46-80CF925532DD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ea typeface="Microsoft YaHei UI"/>
                <a:cs typeface="Arial"/>
              </a:rPr>
              <a:t>发布写入位置 </a:t>
            </a:r>
            <a:r>
              <a:rPr lang="en-US" altLang="zh-CN" sz="3200" dirty="0">
                <a:ea typeface="Microsoft YaHei UI"/>
                <a:cs typeface="Arial"/>
              </a:rPr>
              <a:t>head = 20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C2915E-939E-2A95-E338-977B862F53B5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45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EDBFB8-FF80-6345-0080-0519267CDD2E}"/>
              </a:ext>
            </a:extLst>
          </p:cNvPr>
          <p:cNvSpPr txBox="1"/>
          <p:nvPr/>
        </p:nvSpPr>
        <p:spPr>
          <a:xfrm>
            <a:off x="838800" y="2880000"/>
            <a:ext cx="1051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dirty="0">
                <a:ea typeface="Microsoft YaHei UI"/>
                <a:cs typeface="Arial"/>
              </a:rPr>
              <a:t>内核先写完内容，再公布 </a:t>
            </a:r>
            <a:r>
              <a:rPr lang="en-US" altLang="zh-CN" sz="2200" dirty="0">
                <a:ea typeface="Microsoft YaHei UI"/>
                <a:cs typeface="Arial"/>
              </a:rPr>
              <a:t>head = 20</a:t>
            </a:r>
          </a:p>
          <a:p>
            <a:r>
              <a:rPr lang="en-US" altLang="zh-CN" sz="2200" dirty="0">
                <a:ea typeface="Microsoft YaHei UI"/>
                <a:cs typeface="Arial"/>
              </a:rPr>
              <a:t>perf </a:t>
            </a:r>
            <a:r>
              <a:rPr lang="zh-CN" altLang="en-US" sz="2200" dirty="0">
                <a:ea typeface="Microsoft YaHei UI"/>
                <a:cs typeface="Arial"/>
              </a:rPr>
              <a:t>取得新 </a:t>
            </a:r>
            <a:r>
              <a:rPr lang="en-US" altLang="zh-CN" sz="2200" dirty="0">
                <a:ea typeface="Microsoft YaHei UI"/>
                <a:cs typeface="Arial"/>
              </a:rPr>
              <a:t>head </a:t>
            </a:r>
            <a:r>
              <a:rPr lang="zh-CN" altLang="en-US" sz="2200" dirty="0">
                <a:ea typeface="Microsoft YaHei UI"/>
                <a:cs typeface="Arial"/>
              </a:rPr>
              <a:t>后，读取累计位置 </a:t>
            </a:r>
            <a:r>
              <a:rPr lang="en-US" altLang="zh-CN" sz="2200" dirty="0">
                <a:ea typeface="Microsoft YaHei UI"/>
                <a:cs typeface="Arial"/>
              </a:rPr>
              <a:t>6–20 </a:t>
            </a:r>
            <a:r>
              <a:rPr lang="zh-CN" altLang="en-US" sz="2200" dirty="0">
                <a:ea typeface="Microsoft YaHei UI"/>
                <a:cs typeface="Arial"/>
              </a:rPr>
              <a:t>的 </a:t>
            </a:r>
            <a:r>
              <a:rPr lang="en-US" altLang="zh-CN" sz="2200" dirty="0">
                <a:ea typeface="Microsoft YaHei UI"/>
                <a:cs typeface="Arial"/>
              </a:rPr>
              <a:t>14 B</a:t>
            </a:r>
            <a:endParaRPr lang="zh-CN" altLang="en-US" sz="2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E0DD77-B1B9-7CA7-3A94-2E7549685AA5}"/>
              </a:ext>
            </a:extLst>
          </p:cNvPr>
          <p:cNvSpPr txBox="1"/>
          <p:nvPr/>
        </p:nvSpPr>
        <p:spPr>
          <a:xfrm>
            <a:off x="838200" y="3698240"/>
            <a:ext cx="10744200" cy="22159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3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Linux </a:t>
            </a:r>
            <a:r>
              <a:rPr lang="zh-CN" altLang="en-US" sz="23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内核写入端</a:t>
            </a:r>
          </a:p>
          <a:p>
            <a:r>
              <a:rPr lang="en-US" sz="23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smp_wmb</a:t>
            </a:r>
            <a:r>
              <a:rPr lang="en-US" sz="23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US" sz="23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WRITE_ONCE</a:t>
            </a:r>
            <a:r>
              <a:rPr lang="en-US" sz="23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300" dirty="0" err="1">
                <a:latin typeface="Consolas" panose="020B0609020204030204" pitchFamily="49" charset="0"/>
                <a:cs typeface="Consolas" panose="020B0609020204030204" pitchFamily="49" charset="0"/>
              </a:rPr>
              <a:t>rb</a:t>
            </a:r>
            <a:r>
              <a:rPr lang="en-US" sz="2300" dirty="0"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en-US" sz="2300" dirty="0" err="1">
                <a:latin typeface="Consolas" panose="020B0609020204030204" pitchFamily="49" charset="0"/>
                <a:cs typeface="Consolas" panose="020B0609020204030204" pitchFamily="49" charset="0"/>
              </a:rPr>
              <a:t>user_page</a:t>
            </a:r>
            <a:r>
              <a:rPr lang="en-US" sz="2300" dirty="0"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en-US" sz="2300" dirty="0" err="1">
                <a:latin typeface="Consolas" panose="020B0609020204030204" pitchFamily="49" charset="0"/>
                <a:cs typeface="Consolas" panose="020B0609020204030204" pitchFamily="49" charset="0"/>
              </a:rPr>
              <a:t>data_head</a:t>
            </a:r>
            <a:r>
              <a:rPr lang="en-US" sz="2300" dirty="0">
                <a:latin typeface="Consolas" panose="020B0609020204030204" pitchFamily="49" charset="0"/>
                <a:cs typeface="Consolas" panose="020B0609020204030204" pitchFamily="49" charset="0"/>
              </a:rPr>
              <a:t>, head);</a:t>
            </a:r>
          </a:p>
          <a:p>
            <a:endParaRPr lang="en-US" sz="23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3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Linux perf </a:t>
            </a:r>
            <a:r>
              <a:rPr lang="zh-CN" altLang="en-US" sz="23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读取端（</a:t>
            </a:r>
            <a:r>
              <a:rPr lang="en-US" sz="23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AArch64）</a:t>
            </a:r>
          </a:p>
          <a:p>
            <a:r>
              <a:rPr lang="en-US" sz="23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3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smp_load_acquire</a:t>
            </a:r>
            <a:r>
              <a:rPr lang="en-US" sz="2300" dirty="0">
                <a:latin typeface="Consolas" panose="020B0609020204030204" pitchFamily="49" charset="0"/>
                <a:cs typeface="Consolas" panose="020B0609020204030204" pitchFamily="49" charset="0"/>
              </a:rPr>
              <a:t>(&amp;base-&gt;</a:t>
            </a:r>
            <a:r>
              <a:rPr lang="en-US" sz="2300" dirty="0" err="1">
                <a:latin typeface="Consolas" panose="020B0609020204030204" pitchFamily="49" charset="0"/>
                <a:cs typeface="Consolas" panose="020B0609020204030204" pitchFamily="49" charset="0"/>
              </a:rPr>
              <a:t>data_head</a:t>
            </a:r>
            <a:r>
              <a:rPr lang="en-US" sz="23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-CN" sz="23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03A0BD9-CC48-0C17-6A1C-705CECD960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494554"/>
              </p:ext>
            </p:extLst>
          </p:nvPr>
        </p:nvGraphicFramePr>
        <p:xfrm>
          <a:off x="838800" y="1800000"/>
          <a:ext cx="10512000" cy="792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657000">
                  <a:extLst>
                    <a:ext uri="{9D8B030D-6E8A-4147-A177-3AD203B41FA5}">
                      <a16:colId xmlns:a16="http://schemas.microsoft.com/office/drawing/2014/main" val="3899651061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294789553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334563107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4213274049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369436361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2221959478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059241651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3930661906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2327035326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2333318867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4130576031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2652544186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500081629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3808394888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754849433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4311472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024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C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D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E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F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X0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X1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X2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X3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X4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X5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X6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X7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B</a:t>
                      </a:r>
                      <a:endParaRPr lang="en-C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77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36920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4ADD9-5BA2-A31B-41E9-6E7315053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FB0185F-29D9-8DC4-A554-570DA4C92A8D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ea typeface="Microsoft YaHei UI"/>
                <a:cs typeface="Arial"/>
              </a:rPr>
              <a:t>perf </a:t>
            </a:r>
            <a:r>
              <a:rPr lang="zh-CN" altLang="en-US" sz="3200" dirty="0">
                <a:ea typeface="Microsoft YaHei UI"/>
                <a:cs typeface="Arial"/>
              </a:rPr>
              <a:t>保存两段记录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93069-0FA4-1418-E68A-693186A5A62A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46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9DD521-F1D2-2983-880C-D6595EDD9C57}"/>
              </a:ext>
            </a:extLst>
          </p:cNvPr>
          <p:cNvSpPr txBox="1"/>
          <p:nvPr/>
        </p:nvSpPr>
        <p:spPr>
          <a:xfrm>
            <a:off x="838800" y="2880000"/>
            <a:ext cx="1051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ea typeface="Microsoft YaHei UI"/>
                <a:cs typeface="Arial"/>
              </a:rPr>
              <a:t>head = 20</a:t>
            </a:r>
            <a:r>
              <a:rPr lang="zh-CN" altLang="en-US" sz="2200" dirty="0">
                <a:ea typeface="Microsoft YaHei UI"/>
                <a:cs typeface="Arial"/>
              </a:rPr>
              <a:t>，</a:t>
            </a:r>
            <a:r>
              <a:rPr lang="en-US" altLang="zh-CN" sz="2200" dirty="0">
                <a:ea typeface="Microsoft YaHei UI"/>
                <a:cs typeface="Arial"/>
              </a:rPr>
              <a:t>tail = 6</a:t>
            </a:r>
            <a:r>
              <a:rPr lang="zh-CN" altLang="en-US" sz="2200" dirty="0">
                <a:ea typeface="Microsoft YaHei UI"/>
                <a:cs typeface="Arial"/>
              </a:rPr>
              <a:t>，先保存末尾 </a:t>
            </a:r>
            <a:r>
              <a:rPr lang="en-US" altLang="zh-CN" sz="2200" dirty="0">
                <a:ea typeface="Microsoft YaHei UI"/>
                <a:cs typeface="Arial"/>
              </a:rPr>
              <a:t>10 B</a:t>
            </a:r>
          </a:p>
          <a:p>
            <a:r>
              <a:rPr lang="zh-CN" altLang="en-US" sz="2200" dirty="0">
                <a:ea typeface="Microsoft YaHei UI"/>
                <a:cs typeface="Arial"/>
              </a:rPr>
              <a:t>代码继续保存开头 </a:t>
            </a:r>
            <a:r>
              <a:rPr lang="en-US" altLang="zh-CN" sz="2200" dirty="0">
                <a:ea typeface="Microsoft YaHei UI"/>
                <a:cs typeface="Arial"/>
              </a:rPr>
              <a:t>4 B</a:t>
            </a:r>
            <a:r>
              <a:rPr lang="zh-CN" altLang="en-US" sz="2200" dirty="0">
                <a:ea typeface="Microsoft YaHei UI"/>
                <a:cs typeface="Arial"/>
              </a:rPr>
              <a:t>，此时 </a:t>
            </a:r>
            <a:r>
              <a:rPr lang="en-US" altLang="zh-CN" sz="2200" dirty="0">
                <a:ea typeface="Microsoft YaHei UI"/>
                <a:cs typeface="Arial"/>
              </a:rPr>
              <a:t>start = 16</a:t>
            </a:r>
            <a:r>
              <a:rPr lang="zh-CN" altLang="en-US" sz="2200" dirty="0">
                <a:ea typeface="Microsoft YaHei UI"/>
                <a:cs typeface="Arial"/>
              </a:rPr>
              <a:t>、</a:t>
            </a:r>
            <a:r>
              <a:rPr lang="en-US" altLang="zh-CN" sz="2200" dirty="0">
                <a:ea typeface="Microsoft YaHei UI"/>
                <a:cs typeface="Arial"/>
              </a:rPr>
              <a:t>end = 20</a:t>
            </a:r>
            <a:endParaRPr lang="zh-CN" altLang="en-US" sz="2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0A8448-AB1E-1CD0-F321-E64A58B5C1D7}"/>
              </a:ext>
            </a:extLst>
          </p:cNvPr>
          <p:cNvSpPr txBox="1"/>
          <p:nvPr/>
        </p:nvSpPr>
        <p:spPr>
          <a:xfrm>
            <a:off x="838200" y="3698240"/>
            <a:ext cx="10512000" cy="22467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Consolas" panose="020B0609020204030204" pitchFamily="49" charset="0"/>
                <a:ea typeface="Microsoft YaHei UI" panose="020B0503020204020204" pitchFamily="34" charset="-122"/>
                <a:cs typeface="Consolas" panose="020B0609020204030204" pitchFamily="49" charset="0"/>
              </a:rPr>
              <a:t>buf</a:t>
            </a:r>
            <a:r>
              <a:rPr lang="en-US" altLang="zh-CN" sz="2000" dirty="0">
                <a:latin typeface="Consolas" panose="020B0609020204030204" pitchFamily="49" charset="0"/>
                <a:ea typeface="Microsoft YaHei UI" panose="020B0503020204020204" pitchFamily="34" charset="-122"/>
                <a:cs typeface="Consolas" panose="020B0609020204030204" pitchFamily="49" charset="0"/>
              </a:rPr>
              <a:t> = &amp;data[md-&gt;</a:t>
            </a:r>
            <a:r>
              <a:rPr lang="en-US" altLang="zh-CN" sz="2000" dirty="0" err="1">
                <a:latin typeface="Consolas" panose="020B0609020204030204" pitchFamily="49" charset="0"/>
                <a:ea typeface="Microsoft YaHei UI" panose="020B0503020204020204" pitchFamily="34" charset="-122"/>
                <a:cs typeface="Consolas" panose="020B0609020204030204" pitchFamily="49" charset="0"/>
              </a:rPr>
              <a:t>core.start</a:t>
            </a:r>
            <a:r>
              <a:rPr lang="en-US" altLang="zh-CN" sz="2000" dirty="0">
                <a:latin typeface="Consolas" panose="020B0609020204030204" pitchFamily="49" charset="0"/>
                <a:ea typeface="Microsoft YaHei UI" panose="020B0503020204020204" pitchFamily="34" charset="-122"/>
                <a:cs typeface="Consolas" panose="020B0609020204030204" pitchFamily="49" charset="0"/>
              </a:rPr>
              <a:t> &amp; md-&gt;</a:t>
            </a:r>
            <a:r>
              <a:rPr lang="en-US" altLang="zh-CN" sz="2000" dirty="0" err="1">
                <a:latin typeface="Consolas" panose="020B0609020204030204" pitchFamily="49" charset="0"/>
                <a:ea typeface="Microsoft YaHei UI" panose="020B0503020204020204" pitchFamily="34" charset="-122"/>
                <a:cs typeface="Consolas" panose="020B0609020204030204" pitchFamily="49" charset="0"/>
              </a:rPr>
              <a:t>core.mask</a:t>
            </a:r>
            <a:r>
              <a:rPr lang="en-US" altLang="zh-CN" sz="2000" dirty="0">
                <a:latin typeface="Consolas" panose="020B0609020204030204" pitchFamily="49" charset="0"/>
                <a:ea typeface="Microsoft YaHei UI" panose="020B0503020204020204" pitchFamily="34" charset="-122"/>
                <a:cs typeface="Consolas" panose="020B0609020204030204" pitchFamily="49" charset="0"/>
              </a:rPr>
              <a:t>];</a:t>
            </a:r>
          </a:p>
          <a:p>
            <a:r>
              <a:rPr lang="en-US" altLang="zh-CN" sz="2000" dirty="0">
                <a:latin typeface="Consolas" panose="020B0609020204030204" pitchFamily="49" charset="0"/>
                <a:ea typeface="Microsoft YaHei UI" panose="020B0503020204020204" pitchFamily="34" charset="-122"/>
                <a:cs typeface="Consolas" panose="020B0609020204030204" pitchFamily="49" charset="0"/>
              </a:rPr>
              <a:t>size = md-&gt;</a:t>
            </a:r>
            <a:r>
              <a:rPr lang="en-US" altLang="zh-CN" sz="2000" dirty="0" err="1">
                <a:latin typeface="Consolas" panose="020B0609020204030204" pitchFamily="49" charset="0"/>
                <a:ea typeface="Microsoft YaHei UI" panose="020B0503020204020204" pitchFamily="34" charset="-122"/>
                <a:cs typeface="Consolas" panose="020B0609020204030204" pitchFamily="49" charset="0"/>
              </a:rPr>
              <a:t>core.end</a:t>
            </a:r>
            <a:r>
              <a:rPr lang="en-US" altLang="zh-CN" sz="2000" dirty="0">
                <a:latin typeface="Consolas" panose="020B0609020204030204" pitchFamily="49" charset="0"/>
                <a:ea typeface="Microsoft YaHei UI" panose="020B0503020204020204" pitchFamily="34" charset="-122"/>
                <a:cs typeface="Consolas" panose="020B0609020204030204" pitchFamily="49" charset="0"/>
              </a:rPr>
              <a:t> - md-&gt;</a:t>
            </a:r>
            <a:r>
              <a:rPr lang="en-US" altLang="zh-CN" sz="2000" dirty="0" err="1">
                <a:latin typeface="Consolas" panose="020B0609020204030204" pitchFamily="49" charset="0"/>
                <a:ea typeface="Microsoft YaHei UI" panose="020B0503020204020204" pitchFamily="34" charset="-122"/>
                <a:cs typeface="Consolas" panose="020B0609020204030204" pitchFamily="49" charset="0"/>
              </a:rPr>
              <a:t>core.start</a:t>
            </a:r>
            <a:r>
              <a:rPr lang="en-US" altLang="zh-CN" sz="2000" dirty="0">
                <a:latin typeface="Consolas" panose="020B0609020204030204" pitchFamily="49" charset="0"/>
                <a:ea typeface="Microsoft YaHei UI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2000" dirty="0">
                <a:latin typeface="Consolas" panose="020B0609020204030204" pitchFamily="49" charset="0"/>
                <a:ea typeface="Microsoft YaHei UI" panose="020B0503020204020204" pitchFamily="34" charset="-122"/>
                <a:cs typeface="Consolas" panose="020B0609020204030204" pitchFamily="49" charset="0"/>
              </a:rPr>
              <a:t>md-&gt;</a:t>
            </a:r>
            <a:r>
              <a:rPr lang="en-US" altLang="zh-CN" sz="2000" dirty="0" err="1">
                <a:latin typeface="Consolas" panose="020B0609020204030204" pitchFamily="49" charset="0"/>
                <a:ea typeface="Microsoft YaHei UI" panose="020B0503020204020204" pitchFamily="34" charset="-122"/>
                <a:cs typeface="Consolas" panose="020B0609020204030204" pitchFamily="49" charset="0"/>
              </a:rPr>
              <a:t>core.start</a:t>
            </a:r>
            <a:r>
              <a:rPr lang="en-US" altLang="zh-CN" sz="2000" dirty="0">
                <a:latin typeface="Consolas" panose="020B0609020204030204" pitchFamily="49" charset="0"/>
                <a:ea typeface="Microsoft YaHei UI" panose="020B0503020204020204" pitchFamily="34" charset="-122"/>
                <a:cs typeface="Consolas" panose="020B0609020204030204" pitchFamily="49" charset="0"/>
              </a:rPr>
              <a:t> += size;</a:t>
            </a:r>
          </a:p>
          <a:p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Microsoft YaHei UI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2000" dirty="0">
                <a:latin typeface="Consolas" panose="020B0609020204030204" pitchFamily="49" charset="0"/>
                <a:ea typeface="Microsoft YaHei UI" panose="020B0503020204020204" pitchFamily="34" charset="-122"/>
                <a:cs typeface="Consolas" panose="020B0609020204030204" pitchFamily="49" charset="0"/>
              </a:rPr>
              <a:t> (</a:t>
            </a:r>
            <a:r>
              <a:rPr lang="en-US" altLang="zh-CN" sz="2000" dirty="0">
                <a:solidFill>
                  <a:schemeClr val="accent1"/>
                </a:solidFill>
                <a:latin typeface="Consolas" panose="020B0609020204030204" pitchFamily="49" charset="0"/>
                <a:ea typeface="Microsoft YaHei UI" panose="020B0503020204020204" pitchFamily="34" charset="-122"/>
                <a:cs typeface="Consolas" panose="020B0609020204030204" pitchFamily="49" charset="0"/>
              </a:rPr>
              <a:t>push</a:t>
            </a:r>
            <a:r>
              <a:rPr lang="en-US" altLang="zh-CN" sz="2000" dirty="0">
                <a:latin typeface="Consolas" panose="020B0609020204030204" pitchFamily="49" charset="0"/>
                <a:ea typeface="Microsoft YaHei UI" panose="020B0503020204020204" pitchFamily="34" charset="-122"/>
                <a:cs typeface="Consolas" panose="020B0609020204030204" pitchFamily="49" charset="0"/>
              </a:rPr>
              <a:t>(md, to, </a:t>
            </a:r>
            <a:r>
              <a:rPr lang="en-US" altLang="zh-CN" sz="2000" dirty="0" err="1">
                <a:latin typeface="Consolas" panose="020B0609020204030204" pitchFamily="49" charset="0"/>
                <a:ea typeface="Microsoft YaHei UI" panose="020B0503020204020204" pitchFamily="34" charset="-122"/>
                <a:cs typeface="Consolas" panose="020B0609020204030204" pitchFamily="49" charset="0"/>
              </a:rPr>
              <a:t>buf</a:t>
            </a:r>
            <a:r>
              <a:rPr lang="en-US" altLang="zh-CN" sz="2000" dirty="0">
                <a:latin typeface="Consolas" panose="020B0609020204030204" pitchFamily="49" charset="0"/>
                <a:ea typeface="Microsoft YaHei UI" panose="020B0503020204020204" pitchFamily="34" charset="-122"/>
                <a:cs typeface="Consolas" panose="020B0609020204030204" pitchFamily="49" charset="0"/>
              </a:rPr>
              <a:t>, size) &lt; 0) {</a:t>
            </a:r>
          </a:p>
          <a:p>
            <a:r>
              <a:rPr lang="en-US" altLang="zh-CN" sz="2000" dirty="0">
                <a:latin typeface="Consolas" panose="020B0609020204030204" pitchFamily="49" charset="0"/>
                <a:ea typeface="Microsoft YaHei UI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  <a:ea typeface="Microsoft YaHei UI" panose="020B0503020204020204" pitchFamily="34" charset="-122"/>
                <a:cs typeface="Consolas" panose="020B0609020204030204" pitchFamily="49" charset="0"/>
              </a:rPr>
              <a:t>rc</a:t>
            </a:r>
            <a:r>
              <a:rPr lang="en-US" altLang="zh-CN" sz="2000" dirty="0">
                <a:latin typeface="Consolas" panose="020B0609020204030204" pitchFamily="49" charset="0"/>
                <a:ea typeface="Microsoft YaHei UI" panose="020B0503020204020204" pitchFamily="34" charset="-122"/>
                <a:cs typeface="Consolas" panose="020B0609020204030204" pitchFamily="49" charset="0"/>
              </a:rPr>
              <a:t> = -1;</a:t>
            </a:r>
          </a:p>
          <a:p>
            <a:r>
              <a:rPr lang="en-US" altLang="zh-CN" sz="2000" dirty="0">
                <a:latin typeface="Consolas" panose="020B0609020204030204" pitchFamily="49" charset="0"/>
                <a:ea typeface="Microsoft YaHei UI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2000" dirty="0" err="1">
                <a:solidFill>
                  <a:srgbClr val="002060"/>
                </a:solidFill>
                <a:latin typeface="Consolas" panose="020B0609020204030204" pitchFamily="49" charset="0"/>
                <a:ea typeface="Microsoft YaHei UI" panose="020B0503020204020204" pitchFamily="34" charset="-122"/>
                <a:cs typeface="Consolas" panose="020B0609020204030204" pitchFamily="49" charset="0"/>
              </a:rPr>
              <a:t>goto</a:t>
            </a:r>
            <a:r>
              <a:rPr lang="en-US" altLang="zh-CN" sz="2000" dirty="0">
                <a:latin typeface="Consolas" panose="020B0609020204030204" pitchFamily="49" charset="0"/>
                <a:ea typeface="Microsoft YaHei UI" panose="020B0503020204020204" pitchFamily="34" charset="-122"/>
                <a:cs typeface="Consolas" panose="020B0609020204030204" pitchFamily="49" charset="0"/>
              </a:rPr>
              <a:t> out;</a:t>
            </a:r>
          </a:p>
          <a:p>
            <a:r>
              <a:rPr lang="en-US" altLang="zh-CN" sz="2000" dirty="0">
                <a:latin typeface="Consolas" panose="020B0609020204030204" pitchFamily="49" charset="0"/>
                <a:ea typeface="Microsoft YaHei UI" panose="020B0503020204020204" pitchFamily="34" charset="-122"/>
                <a:cs typeface="Consolas" panose="020B0609020204030204" pitchFamily="49" charset="0"/>
              </a:rPr>
              <a:t>}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71A12F4-F7F6-0BFB-08DD-3D28F28B39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08448"/>
              </p:ext>
            </p:extLst>
          </p:nvPr>
        </p:nvGraphicFramePr>
        <p:xfrm>
          <a:off x="838800" y="1800000"/>
          <a:ext cx="10512000" cy="792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657000">
                  <a:extLst>
                    <a:ext uri="{9D8B030D-6E8A-4147-A177-3AD203B41FA5}">
                      <a16:colId xmlns:a16="http://schemas.microsoft.com/office/drawing/2014/main" val="3899651061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294789553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334563107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4213274049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369436361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2221959478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059241651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3930661906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2327035326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2333318867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4130576031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2652544186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500081629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3808394888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754849433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4311472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024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C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D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E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F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X0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X1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X2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X3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X4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X5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X6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X7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B</a:t>
                      </a:r>
                      <a:endParaRPr lang="en-C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77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81527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96886-ABC4-E41C-2C8A-97CE5D8EA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9D6A63-38DD-4073-30E1-C74A3EE6A025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zh-CN" altLang="en-US" sz="3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读取完成后归还空间</a:t>
            </a:r>
            <a:endParaRPr lang="en-CN" sz="3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4E5CBC-2024-5B08-30C4-9EA5A2B9CF83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>
                <a:ea typeface="Microsoft YaHei UI"/>
                <a:cs typeface="Arial"/>
              </a:rPr>
              <a:t>47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E20A97-5332-0EAE-4D2D-A4E5E4173596}"/>
              </a:ext>
            </a:extLst>
          </p:cNvPr>
          <p:cNvSpPr txBox="1"/>
          <p:nvPr/>
        </p:nvSpPr>
        <p:spPr>
          <a:xfrm>
            <a:off x="838200" y="3697200"/>
            <a:ext cx="10744200" cy="1938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perf record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保存成功后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md-&gt;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core.prev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head;</a:t>
            </a:r>
          </a:p>
          <a:p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perf_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mmap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__consume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(&amp;md-&gt;core);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Linux perf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的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AArch64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发布操作</a:t>
            </a:r>
          </a:p>
          <a:p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smp_store_release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(&amp;base-&gt;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data_tail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, tail);</a:t>
            </a:r>
            <a:endParaRPr lang="en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980F36-CEED-856A-39C1-25BB0EFF0E16}"/>
              </a:ext>
            </a:extLst>
          </p:cNvPr>
          <p:cNvSpPr txBox="1"/>
          <p:nvPr/>
        </p:nvSpPr>
        <p:spPr>
          <a:xfrm>
            <a:off x="838200" y="2880000"/>
            <a:ext cx="10744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两段共 </a:t>
            </a: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14 B </a:t>
            </a:r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已保存，</a:t>
            </a: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tail </a:t>
            </a:r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从 </a:t>
            </a: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6 </a:t>
            </a:r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更新为 </a:t>
            </a: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</a:p>
          <a:p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内核观察到新 </a:t>
            </a: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tail </a:t>
            </a:r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后，才可以复用这些位置</a:t>
            </a:r>
            <a:endParaRPr lang="en-CN" sz="2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628823B-618F-970A-0B27-4562ABE9C2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222183"/>
              </p:ext>
            </p:extLst>
          </p:nvPr>
        </p:nvGraphicFramePr>
        <p:xfrm>
          <a:off x="838800" y="1800000"/>
          <a:ext cx="10512000" cy="792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657000">
                  <a:extLst>
                    <a:ext uri="{9D8B030D-6E8A-4147-A177-3AD203B41FA5}">
                      <a16:colId xmlns:a16="http://schemas.microsoft.com/office/drawing/2014/main" val="3899651061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294789553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334563107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4213274049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369436361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2221959478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059241651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3930661906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2327035326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2333318867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4130576031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2652544186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500081629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3808394888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754849433"/>
                    </a:ext>
                  </a:extLst>
                </a:gridCol>
                <a:gridCol w="657000">
                  <a:extLst>
                    <a:ext uri="{9D8B030D-6E8A-4147-A177-3AD203B41FA5}">
                      <a16:colId xmlns:a16="http://schemas.microsoft.com/office/drawing/2014/main" val="14311472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024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C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D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E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F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X0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X1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X2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X3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X4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X5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X6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X7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B</a:t>
                      </a:r>
                      <a:endParaRPr lang="en-C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77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67376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1B20C-A6CD-8A44-B6F8-F4748A221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139D0F-0310-E750-6546-46A7F757DC2B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zh-CN" altLang="en-US" sz="3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采样事件组的创建</a:t>
            </a:r>
            <a:endParaRPr lang="en-CN" sz="3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B7C404-D8F9-391E-3890-E7D133E01AB4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48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745FCA-B64D-610B-A601-DB62A13EECBF}"/>
              </a:ext>
            </a:extLst>
          </p:cNvPr>
          <p:cNvSpPr txBox="1"/>
          <p:nvPr/>
        </p:nvSpPr>
        <p:spPr>
          <a:xfrm>
            <a:off x="838200" y="1513840"/>
            <a:ext cx="10744200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a.sample_period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100000ull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a.sample_type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SAMPLE_IP | SAMPLE_TID |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SAMPLE_TIME | SAMPLE_READ;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a.read_format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FORMAT_GROUP | FORMAT_ID;</a:t>
            </a:r>
          </a:p>
          <a:p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long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leader =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peo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(&amp;a, self, -1, -1, 0);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m.sample_period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0;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m.read_format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FORMAT_GROUP | FORMAT_ID;</a:t>
            </a:r>
          </a:p>
          <a:p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long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member =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peo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(&amp;m, self, -1, leader, 0);</a:t>
            </a:r>
            <a:endParaRPr lang="en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396E6F-A921-4720-0604-126E5669A54D}"/>
              </a:ext>
            </a:extLst>
          </p:cNvPr>
          <p:cNvSpPr txBox="1"/>
          <p:nvPr/>
        </p:nvSpPr>
        <p:spPr>
          <a:xfrm>
            <a:off x="838200" y="5136411"/>
            <a:ext cx="107442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组长与成员均统计 </a:t>
            </a: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CPU </a:t>
            </a:r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周期，创建时保持停用</a:t>
            </a:r>
          </a:p>
          <a:p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SAMPLE_READ </a:t>
            </a:r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选择计数；</a:t>
            </a: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FORMAT_GROUP </a:t>
            </a:r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与 </a:t>
            </a: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FORMAT_ID </a:t>
            </a:r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选择成员列表</a:t>
            </a:r>
          </a:p>
          <a:p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组长每 </a:t>
            </a: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100000 </a:t>
            </a:r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个周期采样，记录中附带整组计数</a:t>
            </a:r>
            <a:endParaRPr lang="en-CN" sz="2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7519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55DCF-2F9F-4E3F-4BB8-0477838E1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D59387-1703-A3D2-3C81-64A70280169E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ea typeface="Microsoft YaHei UI"/>
                <a:cs typeface="Arial"/>
              </a:rPr>
              <a:t>组采样记录的 </a:t>
            </a:r>
            <a:r>
              <a:rPr lang="en-US" altLang="zh-CN" sz="3200" dirty="0">
                <a:ea typeface="Microsoft YaHei UI"/>
                <a:cs typeface="Arial"/>
              </a:rPr>
              <a:t>72 B </a:t>
            </a:r>
            <a:r>
              <a:rPr lang="zh-CN" altLang="en-US" sz="3200" dirty="0">
                <a:ea typeface="Microsoft YaHei UI"/>
                <a:cs typeface="Arial"/>
              </a:rPr>
              <a:t>布局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BE5F89-37E7-8A86-91A3-6A7BD5313FA4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49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4B50D50-00F7-702D-78F6-DE87E1F632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270192"/>
              </p:ext>
            </p:extLst>
          </p:nvPr>
        </p:nvGraphicFramePr>
        <p:xfrm>
          <a:off x="838799" y="1656000"/>
          <a:ext cx="10512000" cy="42696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504000">
                  <a:extLst>
                    <a:ext uri="{9D8B030D-6E8A-4147-A177-3AD203B41FA5}">
                      <a16:colId xmlns:a16="http://schemas.microsoft.com/office/drawing/2014/main" val="364384588"/>
                    </a:ext>
                  </a:extLst>
                </a:gridCol>
                <a:gridCol w="3504000">
                  <a:extLst>
                    <a:ext uri="{9D8B030D-6E8A-4147-A177-3AD203B41FA5}">
                      <a16:colId xmlns:a16="http://schemas.microsoft.com/office/drawing/2014/main" val="393091911"/>
                    </a:ext>
                  </a:extLst>
                </a:gridCol>
                <a:gridCol w="3504000">
                  <a:extLst>
                    <a:ext uri="{9D8B030D-6E8A-4147-A177-3AD203B41FA5}">
                      <a16:colId xmlns:a16="http://schemas.microsoft.com/office/drawing/2014/main" val="3632215602"/>
                    </a:ext>
                  </a:extLst>
                </a:gridCol>
              </a:tblGrid>
              <a:tr h="533700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偏移（</a:t>
                      </a:r>
                      <a:r>
                        <a:rPr lang="en-US" altLang="zh-CN" sz="2000" dirty="0"/>
                        <a:t>B</a:t>
                      </a:r>
                      <a:r>
                        <a:rPr lang="zh-CN" altLang="en-US" sz="2000" dirty="0"/>
                        <a:t>）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字段与长度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内容</a:t>
                      </a:r>
                      <a:endParaRPr lang="en-C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9011626"/>
                  </a:ext>
                </a:extLst>
              </a:tr>
              <a:tr h="533700">
                <a:tc>
                  <a:txBody>
                    <a:bodyPr/>
                    <a:lstStyle/>
                    <a:p>
                      <a:r>
                        <a:rPr lang="en-CN" sz="2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HEADER  8 B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type 9 · size 72</a:t>
                      </a:r>
                      <a:endParaRPr lang="en-C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9446508"/>
                  </a:ext>
                </a:extLst>
              </a:tr>
              <a:tr h="533700">
                <a:tc>
                  <a:txBody>
                    <a:bodyPr/>
                    <a:lstStyle/>
                    <a:p>
                      <a:r>
                        <a:rPr lang="en-CN" sz="20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IP  8 B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采样时的指令地址</a:t>
                      </a:r>
                      <a:endParaRPr lang="en-C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861535"/>
                  </a:ext>
                </a:extLst>
              </a:tr>
              <a:tr h="533700">
                <a:tc>
                  <a:txBody>
                    <a:bodyPr/>
                    <a:lstStyle/>
                    <a:p>
                      <a:r>
                        <a:rPr lang="en-CN" sz="20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PID / TID  8 B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目标进程与线程</a:t>
                      </a:r>
                      <a:endParaRPr lang="en-C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8225293"/>
                  </a:ext>
                </a:extLst>
              </a:tr>
              <a:tr h="533700">
                <a:tc>
                  <a:txBody>
                    <a:bodyPr/>
                    <a:lstStyle/>
                    <a:p>
                      <a:r>
                        <a:rPr lang="en-CN" sz="2000" dirty="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TIME  8 B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采样时间</a:t>
                      </a:r>
                      <a:endParaRPr lang="en-C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5551663"/>
                  </a:ext>
                </a:extLst>
              </a:tr>
              <a:tr h="533700">
                <a:tc>
                  <a:txBody>
                    <a:bodyPr/>
                    <a:lstStyle/>
                    <a:p>
                      <a:r>
                        <a:rPr lang="en-CN" sz="20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nr  8 B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2 </a:t>
                      </a:r>
                      <a:r>
                        <a:rPr lang="zh-CN" altLang="en-US" sz="2000" dirty="0"/>
                        <a:t>个事件</a:t>
                      </a:r>
                      <a:endParaRPr lang="en-C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4300127"/>
                  </a:ext>
                </a:extLst>
              </a:tr>
              <a:tr h="533700">
                <a:tc>
                  <a:txBody>
                    <a:bodyPr/>
                    <a:lstStyle/>
                    <a:p>
                      <a:r>
                        <a:rPr lang="en-CN" sz="2000" dirty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value / ID  16 B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组长累计 </a:t>
                      </a:r>
                      <a:r>
                        <a:rPr lang="en-US" altLang="zh-CN" sz="2000" dirty="0"/>
                        <a:t>period </a:t>
                      </a:r>
                      <a:r>
                        <a:rPr lang="zh-CN" altLang="en-US" sz="2000" dirty="0"/>
                        <a:t>与 </a:t>
                      </a:r>
                      <a:r>
                        <a:rPr lang="en-US" altLang="zh-CN" sz="2000" dirty="0"/>
                        <a:t>ID</a:t>
                      </a:r>
                      <a:endParaRPr lang="en-C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5687258"/>
                  </a:ext>
                </a:extLst>
              </a:tr>
              <a:tr h="533700">
                <a:tc>
                  <a:txBody>
                    <a:bodyPr/>
                    <a:lstStyle/>
                    <a:p>
                      <a:r>
                        <a:rPr lang="en-CN" sz="2000" dirty="0"/>
                        <a:t>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value / ID  16 B</a:t>
                      </a:r>
                      <a:endParaRPr lang="en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成员历史值 </a:t>
                      </a:r>
                      <a:r>
                        <a:rPr lang="en-US" altLang="zh-CN" sz="2000" dirty="0"/>
                        <a:t>+ </a:t>
                      </a:r>
                      <a:r>
                        <a:rPr lang="zh-CN" altLang="en-US" sz="2000" dirty="0"/>
                        <a:t>硬件增量、</a:t>
                      </a:r>
                      <a:r>
                        <a:rPr lang="en-US" altLang="zh-CN" sz="2000" dirty="0"/>
                        <a:t>ID</a:t>
                      </a:r>
                      <a:endParaRPr lang="en-C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1431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37267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1F5AD-F06A-C8C8-128D-706808DA3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CA142C-446F-0BA5-630A-80CA9C610F47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altLang="zh-CN" sz="32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SampleSlot</a:t>
            </a:r>
            <a:r>
              <a:rPr lang="en-US" altLang="zh-CN" sz="3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 sz="3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保存成员计数的地址</a:t>
            </a:r>
            <a:endParaRPr lang="en-CN" sz="3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D593E6-4773-E3B9-4C71-E0C26C4784FA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>
                <a:ea typeface="Microsoft YaHei UI"/>
                <a:cs typeface="Arial"/>
              </a:rPr>
              <a:t>50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782EED-E7F0-8C62-C914-888F15AE973D}"/>
              </a:ext>
            </a:extLst>
          </p:cNvPr>
          <p:cNvSpPr txBox="1"/>
          <p:nvPr/>
        </p:nvSpPr>
        <p:spPr>
          <a:xfrm>
            <a:off x="838200" y="1513840"/>
            <a:ext cx="10744200" cy="29136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sz="20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Some(m) = 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weak.upgrade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else {</a:t>
            </a:r>
          </a:p>
          <a:p>
            <a:pPr>
              <a:lnSpc>
                <a:spcPts val="2200"/>
              </a:lnSpc>
            </a:pP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continue;</a:t>
            </a:r>
          </a:p>
          <a:p>
            <a:pPr>
              <a:lnSpc>
                <a:spcPts val="2200"/>
              </a:lnSpc>
            </a:pP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pPr>
              <a:lnSpc>
                <a:spcPts val="2200"/>
              </a:lnSpc>
            </a:pP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out[n] = sampling::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GroupMember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>
              <a:lnSpc>
                <a:spcPts val="2200"/>
              </a:lnSpc>
            </a:pP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id: 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m.sample_id.load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(Ordering::Relaxed),</a:t>
            </a:r>
          </a:p>
          <a:p>
            <a:pPr>
              <a:lnSpc>
                <a:spcPts val="2200"/>
              </a:lnSpc>
            </a:pP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accumulated: &amp;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m.accumulated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as *const AtomicU64 as *const (),</a:t>
            </a:r>
          </a:p>
          <a:p>
            <a:pPr>
              <a:lnSpc>
                <a:spcPts val="2200"/>
              </a:lnSpc>
            </a:pP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slot: &amp;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m.slot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as *const 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AtomicUsize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as *const (),</a:t>
            </a:r>
          </a:p>
          <a:p>
            <a:pPr>
              <a:lnSpc>
                <a:spcPts val="2200"/>
              </a:lnSpc>
            </a:pP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last_cpu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&amp;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m.last_cpu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as *const 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AtomicUsize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as *const (),</a:t>
            </a:r>
          </a:p>
          <a:p>
            <a:pPr>
              <a:lnSpc>
                <a:spcPts val="2200"/>
              </a:lnSpc>
            </a:pP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running: &amp;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m.running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as *const 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AtomicBool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as *const (),</a:t>
            </a:r>
          </a:p>
          <a:p>
            <a:pPr>
              <a:lnSpc>
                <a:spcPts val="2200"/>
              </a:lnSpc>
            </a:pP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en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A5F72B-64AB-9A1B-978A-4E29248CB76F}"/>
              </a:ext>
            </a:extLst>
          </p:cNvPr>
          <p:cNvSpPr txBox="1"/>
          <p:nvPr/>
        </p:nvSpPr>
        <p:spPr>
          <a:xfrm>
            <a:off x="838200" y="5328000"/>
            <a:ext cx="10744200" cy="7386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1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 acc = (*(</a:t>
            </a:r>
            <a:r>
              <a:rPr lang="en-US" altLang="zh-CN" sz="2100" dirty="0" err="1">
                <a:latin typeface="Consolas" panose="020B0609020204030204" pitchFamily="49" charset="0"/>
                <a:cs typeface="Consolas" panose="020B0609020204030204" pitchFamily="49" charset="0"/>
              </a:rPr>
              <a:t>m.accumulated</a:t>
            </a: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1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lang="en-US" altLang="zh-CN" sz="21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 AtomicU64))</a:t>
            </a:r>
          </a:p>
          <a:p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    .load(Ordering::Relaxed);</a:t>
            </a:r>
            <a:endParaRPr lang="en-CN" sz="2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9C2012-C71F-8883-D899-932855FA1960}"/>
              </a:ext>
            </a:extLst>
          </p:cNvPr>
          <p:cNvSpPr txBox="1"/>
          <p:nvPr/>
        </p:nvSpPr>
        <p:spPr>
          <a:xfrm>
            <a:off x="838800" y="4536000"/>
            <a:ext cx="1074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准备采样时 </a:t>
            </a:r>
            <a:r>
              <a:rPr lang="en-US" altLang="zh-CN" dirty="0"/>
              <a:t>m </a:t>
            </a:r>
            <a:r>
              <a:rPr lang="zh-CN" altLang="en-US" dirty="0"/>
              <a:t>是临时强引用，登记表只保存字段地址</a:t>
            </a:r>
          </a:p>
          <a:p>
            <a:r>
              <a:rPr lang="zh-CN" altLang="en-US" dirty="0"/>
              <a:t>中断中 </a:t>
            </a:r>
            <a:r>
              <a:rPr lang="en-US" altLang="zh-CN" dirty="0"/>
              <a:t>m </a:t>
            </a:r>
            <a:r>
              <a:rPr lang="zh-CN" altLang="en-US" dirty="0"/>
              <a:t>为登记信息，</a:t>
            </a:r>
            <a:r>
              <a:rPr lang="en-US" altLang="zh-CN" dirty="0"/>
              <a:t>acc </a:t>
            </a:r>
            <a:r>
              <a:rPr lang="zh-CN" altLang="en-US"/>
              <a:t>为历史值，当前硬件增量另行加入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8334424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D74FF-F43A-AEF8-9714-CB96810C6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024C62-897C-660E-5F1E-D2B870C2F721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ea typeface="Microsoft YaHei UI"/>
                <a:cs typeface="Arial"/>
              </a:rPr>
              <a:t>跨线程成员释放后的采样引用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702D12-7112-29B6-3BDA-6A50225226D9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51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DFFF40-A807-AE3E-8B55-A283B29DA532}"/>
              </a:ext>
            </a:extLst>
          </p:cNvPr>
          <p:cNvSpPr/>
          <p:nvPr/>
        </p:nvSpPr>
        <p:spPr>
          <a:xfrm>
            <a:off x="1738200" y="1830000"/>
            <a:ext cx="32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zh-CN" altLang="en-US" sz="2200" dirty="0">
                <a:solidFill>
                  <a:srgbClr val="000000"/>
                </a:solidFill>
                <a:ea typeface="Microsoft YaHei UI"/>
                <a:cs typeface="Arial"/>
              </a:rPr>
              <a:t>线程 </a:t>
            </a:r>
            <a:r>
              <a:rPr lang="en-US" altLang="zh-CN" sz="2200" dirty="0">
                <a:solidFill>
                  <a:srgbClr val="000000"/>
                </a:solidFill>
                <a:ea typeface="Microsoft YaHei UI"/>
                <a:cs typeface="Arial"/>
              </a:rPr>
              <a:t>A</a:t>
            </a:r>
            <a:endParaRPr lang="zh-CN" altLang="en-US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F86E83-877E-2B03-921D-2B4771AE7C37}"/>
              </a:ext>
            </a:extLst>
          </p:cNvPr>
          <p:cNvSpPr/>
          <p:nvPr/>
        </p:nvSpPr>
        <p:spPr>
          <a:xfrm>
            <a:off x="4938200" y="1830000"/>
            <a:ext cx="3200000" cy="5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en-US" altLang="zh-CN" sz="2200" dirty="0" err="1">
                <a:solidFill>
                  <a:srgbClr val="000000"/>
                </a:solidFill>
                <a:ea typeface="Microsoft YaHei UI"/>
                <a:cs typeface="Arial"/>
              </a:rPr>
              <a:t>SampleSlot</a:t>
            </a:r>
            <a:endParaRPr lang="en-US" altLang="zh-CN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9964DF-E6B6-D486-3F82-5D833BE63B6E}"/>
              </a:ext>
            </a:extLst>
          </p:cNvPr>
          <p:cNvSpPr/>
          <p:nvPr/>
        </p:nvSpPr>
        <p:spPr>
          <a:xfrm>
            <a:off x="8138200" y="1830000"/>
            <a:ext cx="32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zh-CN" altLang="en-US" sz="2200" dirty="0">
                <a:solidFill>
                  <a:srgbClr val="000000"/>
                </a:solidFill>
                <a:ea typeface="Microsoft YaHei UI"/>
                <a:cs typeface="Arial"/>
              </a:rPr>
              <a:t>线程 </a:t>
            </a:r>
            <a:r>
              <a:rPr lang="en-US" altLang="zh-CN" sz="2200" dirty="0">
                <a:solidFill>
                  <a:srgbClr val="000000"/>
                </a:solidFill>
                <a:ea typeface="Microsoft YaHei UI"/>
                <a:cs typeface="Arial"/>
              </a:rPr>
              <a:t>B</a:t>
            </a:r>
            <a:r>
              <a:rPr lang="zh-CN" altLang="en-US" sz="2200" dirty="0">
                <a:solidFill>
                  <a:srgbClr val="000000"/>
                </a:solidFill>
                <a:ea typeface="Microsoft YaHei UI"/>
                <a:cs typeface="Arial"/>
              </a:rPr>
              <a:t>：成员 </a:t>
            </a:r>
            <a:r>
              <a:rPr lang="en-US" altLang="zh-CN" sz="2200" dirty="0">
                <a:solidFill>
                  <a:srgbClr val="000000"/>
                </a:solidFill>
                <a:ea typeface="Microsoft YaHei UI"/>
                <a:cs typeface="Arial"/>
              </a:rPr>
              <a:t>M</a:t>
            </a:r>
            <a:endParaRPr lang="zh-CN" altLang="en-US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9EC747-F14C-B96B-5211-679B999F2F58}"/>
              </a:ext>
            </a:extLst>
          </p:cNvPr>
          <p:cNvSpPr txBox="1"/>
          <p:nvPr/>
        </p:nvSpPr>
        <p:spPr>
          <a:xfrm>
            <a:off x="838200" y="1910000"/>
            <a:ext cx="9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ea typeface="Microsoft YaHei UI"/>
                <a:cs typeface="Arial"/>
              </a:rPr>
              <a:t>事件组</a:t>
            </a:r>
            <a:endParaRPr lang="zh-CN" altLang="en-US" sz="14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9D3DCD-EBE7-7F87-8CB5-FDBF0FEFB5EF}"/>
              </a:ext>
            </a:extLst>
          </p:cNvPr>
          <p:cNvSpPr txBox="1"/>
          <p:nvPr/>
        </p:nvSpPr>
        <p:spPr>
          <a:xfrm>
            <a:off x="1738200" y="2430000"/>
            <a:ext cx="320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>
                <a:ea typeface="Microsoft YaHei UI"/>
                <a:cs typeface="Arial"/>
              </a:rPr>
              <a:t>拥有组长 </a:t>
            </a:r>
            <a:r>
              <a:rPr lang="en-US" altLang="zh-CN" sz="2200" dirty="0">
                <a:ea typeface="Microsoft YaHei UI"/>
                <a:cs typeface="Arial"/>
              </a:rPr>
              <a:t>L</a:t>
            </a:r>
          </a:p>
          <a:p>
            <a:r>
              <a:rPr lang="zh-CN" altLang="en-US" sz="2200" dirty="0">
                <a:ea typeface="Microsoft YaHei UI"/>
                <a:cs typeface="Arial"/>
              </a:rPr>
              <a:t>继续运行采样事件</a:t>
            </a:r>
            <a:endParaRPr lang="zh-CN" altLang="en-US" sz="2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09C746-B62D-31B7-C85B-3A9FD639E0F1}"/>
              </a:ext>
            </a:extLst>
          </p:cNvPr>
          <p:cNvSpPr txBox="1"/>
          <p:nvPr/>
        </p:nvSpPr>
        <p:spPr>
          <a:xfrm>
            <a:off x="4938200" y="2430000"/>
            <a:ext cx="320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>
                <a:ea typeface="Microsoft YaHei UI"/>
                <a:cs typeface="Arial"/>
              </a:rPr>
              <a:t>仍保存 </a:t>
            </a:r>
            <a:r>
              <a:rPr lang="en-US" altLang="zh-CN" sz="2200" dirty="0">
                <a:ea typeface="Microsoft YaHei UI"/>
                <a:cs typeface="Arial"/>
              </a:rPr>
              <a:t>M </a:t>
            </a:r>
            <a:r>
              <a:rPr lang="zh-CN" altLang="en-US" sz="2200" dirty="0">
                <a:ea typeface="Microsoft YaHei UI"/>
                <a:cs typeface="Arial"/>
              </a:rPr>
              <a:t>的计数地址</a:t>
            </a:r>
          </a:p>
          <a:p>
            <a:r>
              <a:rPr lang="zh-CN" altLang="en-US" sz="2200" dirty="0">
                <a:ea typeface="Microsoft YaHei UI"/>
                <a:cs typeface="Arial"/>
              </a:rPr>
              <a:t>中断将读取该地址</a:t>
            </a:r>
            <a:endParaRPr lang="zh-CN" altLang="en-US" sz="2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98F2F9-8A3D-2BB6-4F6A-81E8270D02F8}"/>
              </a:ext>
            </a:extLst>
          </p:cNvPr>
          <p:cNvSpPr txBox="1"/>
          <p:nvPr/>
        </p:nvSpPr>
        <p:spPr>
          <a:xfrm>
            <a:off x="8138200" y="2430000"/>
            <a:ext cx="3200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dirty="0">
                <a:ea typeface="Microsoft YaHei UI"/>
                <a:cs typeface="Arial"/>
              </a:rPr>
              <a:t>成员线程退出</a:t>
            </a:r>
          </a:p>
          <a:p>
            <a:r>
              <a:rPr lang="en-US" altLang="zh-CN" sz="2200" dirty="0">
                <a:ea typeface="Microsoft YaHei UI"/>
                <a:cs typeface="Arial"/>
              </a:rPr>
              <a:t>perf </a:t>
            </a:r>
            <a:r>
              <a:rPr lang="zh-CN" altLang="en-US" sz="2200" dirty="0">
                <a:ea typeface="Microsoft YaHei UI"/>
                <a:cs typeface="Arial"/>
              </a:rPr>
              <a:t>关闭成员 </a:t>
            </a:r>
            <a:r>
              <a:rPr lang="en-US" altLang="zh-CN" sz="2200" dirty="0" err="1">
                <a:ea typeface="Microsoft YaHei UI"/>
                <a:cs typeface="Arial"/>
              </a:rPr>
              <a:t>fd</a:t>
            </a:r>
            <a:endParaRPr lang="en-US" altLang="zh-CN" sz="2200" dirty="0">
              <a:ea typeface="Microsoft YaHei UI"/>
              <a:cs typeface="Arial"/>
            </a:endParaRPr>
          </a:p>
          <a:p>
            <a:r>
              <a:rPr lang="zh-CN" altLang="en-US" sz="2200" dirty="0">
                <a:ea typeface="Microsoft YaHei UI"/>
                <a:cs typeface="Arial"/>
              </a:rPr>
              <a:t>最后一个 </a:t>
            </a:r>
            <a:r>
              <a:rPr lang="en-US" altLang="zh-CN" sz="2200" dirty="0">
                <a:ea typeface="Microsoft YaHei UI"/>
                <a:cs typeface="Arial"/>
              </a:rPr>
              <a:t>Arc </a:t>
            </a:r>
            <a:r>
              <a:rPr lang="zh-CN" altLang="en-US" sz="2200" dirty="0">
                <a:ea typeface="Microsoft YaHei UI"/>
                <a:cs typeface="Arial"/>
              </a:rPr>
              <a:t>释放</a:t>
            </a:r>
            <a:endParaRPr lang="zh-CN" altLang="en-US" sz="2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75CE52-FF04-D2D5-A42F-E3166F24E2EA}"/>
              </a:ext>
            </a:extLst>
          </p:cNvPr>
          <p:cNvSpPr txBox="1"/>
          <p:nvPr/>
        </p:nvSpPr>
        <p:spPr>
          <a:xfrm>
            <a:off x="838200" y="3698240"/>
            <a:ext cx="10744200" cy="8002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300" dirty="0">
                <a:latin typeface="Consolas" panose="020B0609020204030204" pitchFamily="49" charset="0"/>
                <a:cs typeface="Consolas" panose="020B0609020204030204" pitchFamily="49" charset="0"/>
              </a:rPr>
              <a:t>组长用 </a:t>
            </a:r>
            <a:r>
              <a:rPr lang="en-US" altLang="zh-CN" sz="2300" dirty="0">
                <a:latin typeface="Consolas" panose="020B0609020204030204" pitchFamily="49" charset="0"/>
                <a:cs typeface="Consolas" panose="020B0609020204030204" pitchFamily="49" charset="0"/>
              </a:rPr>
              <a:t>Weak </a:t>
            </a:r>
            <a:r>
              <a:rPr lang="zh-CN" altLang="en-US" sz="2300" dirty="0">
                <a:latin typeface="Consolas" panose="020B0609020204030204" pitchFamily="49" charset="0"/>
                <a:cs typeface="Consolas" panose="020B0609020204030204" pitchFamily="49" charset="0"/>
              </a:rPr>
              <a:t>保存成员，</a:t>
            </a:r>
            <a:r>
              <a:rPr lang="en-US" altLang="zh-CN" sz="2300" dirty="0">
                <a:latin typeface="Consolas" panose="020B0609020204030204" pitchFamily="49" charset="0"/>
                <a:cs typeface="Consolas" panose="020B0609020204030204" pitchFamily="49" charset="0"/>
              </a:rPr>
              <a:t>M </a:t>
            </a:r>
            <a:r>
              <a:rPr lang="zh-CN" altLang="en-US" sz="2300" dirty="0">
                <a:latin typeface="Consolas" panose="020B0609020204030204" pitchFamily="49" charset="0"/>
                <a:cs typeface="Consolas" panose="020B0609020204030204" pitchFamily="49" charset="0"/>
              </a:rPr>
              <a:t>的全部 </a:t>
            </a:r>
            <a:r>
              <a:rPr lang="en-US" altLang="zh-CN" sz="2300" dirty="0">
                <a:latin typeface="Consolas" panose="020B0609020204030204" pitchFamily="49" charset="0"/>
                <a:cs typeface="Consolas" panose="020B0609020204030204" pitchFamily="49" charset="0"/>
              </a:rPr>
              <a:t>Arc </a:t>
            </a:r>
            <a:r>
              <a:rPr lang="zh-CN" altLang="en-US" sz="2300" dirty="0">
                <a:latin typeface="Consolas" panose="020B0609020204030204" pitchFamily="49" charset="0"/>
                <a:cs typeface="Consolas" panose="020B0609020204030204" pitchFamily="49" charset="0"/>
              </a:rPr>
              <a:t>释放后对象销毁</a:t>
            </a:r>
          </a:p>
          <a:p>
            <a:r>
              <a:rPr lang="en-US" altLang="zh-CN" sz="2300" dirty="0" err="1">
                <a:latin typeface="Consolas" panose="020B0609020204030204" pitchFamily="49" charset="0"/>
                <a:cs typeface="Consolas" panose="020B0609020204030204" pitchFamily="49" charset="0"/>
              </a:rPr>
              <a:t>SampleSlot</a:t>
            </a:r>
            <a:r>
              <a:rPr lang="en-US" altLang="zh-CN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en-US" sz="2300" dirty="0">
                <a:latin typeface="Consolas" panose="020B0609020204030204" pitchFamily="49" charset="0"/>
                <a:cs typeface="Consolas" panose="020B0609020204030204" pitchFamily="49" charset="0"/>
              </a:rPr>
              <a:t>仍保存 </a:t>
            </a:r>
            <a:r>
              <a:rPr lang="en-US" altLang="zh-CN" sz="2300" dirty="0">
                <a:latin typeface="Consolas" panose="020B0609020204030204" pitchFamily="49" charset="0"/>
                <a:cs typeface="Consolas" panose="020B0609020204030204" pitchFamily="49" charset="0"/>
              </a:rPr>
              <a:t>M </a:t>
            </a:r>
            <a:r>
              <a:rPr lang="zh-CN" altLang="en-US" sz="2300" dirty="0">
                <a:latin typeface="Consolas" panose="020B0609020204030204" pitchFamily="49" charset="0"/>
                <a:cs typeface="Consolas" panose="020B0609020204030204" pitchFamily="49" charset="0"/>
              </a:rPr>
              <a:t>的原始地址，中断继续读取该地址</a:t>
            </a:r>
            <a:endParaRPr lang="en-US" altLang="zh-CN" sz="23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417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71996-E9C2-DDBC-FA03-B9B3A2DDF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B7491A-9464-7424-98C1-C37B5A0F121C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ea typeface="Microsoft YaHei UI"/>
                <a:cs typeface="Arial"/>
              </a:rPr>
              <a:t>组长与成员属于同一线程</a:t>
            </a:r>
            <a:endParaRPr lang="zh-CN" altLang="en-US" sz="3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FBBEFD-7B6A-F9AC-E500-E1C8F66BFE75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ea typeface="Microsoft YaHei UI"/>
                <a:cs typeface="Arial"/>
              </a:rPr>
              <a:t>52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D3B9A4-9B6F-E43F-B262-13819F7D2F44}"/>
              </a:ext>
            </a:extLst>
          </p:cNvPr>
          <p:cNvSpPr/>
          <p:nvPr/>
        </p:nvSpPr>
        <p:spPr>
          <a:xfrm>
            <a:off x="1738200" y="1830000"/>
            <a:ext cx="32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zh-CN" altLang="en-US" sz="2200" dirty="0">
                <a:solidFill>
                  <a:srgbClr val="000000"/>
                </a:solidFill>
                <a:ea typeface="Microsoft YaHei UI"/>
                <a:cs typeface="Arial"/>
              </a:rPr>
              <a:t>线程 </a:t>
            </a:r>
            <a:r>
              <a:rPr lang="en-US" altLang="zh-CN" sz="2200" dirty="0">
                <a:solidFill>
                  <a:srgbClr val="000000"/>
                </a:solidFill>
                <a:ea typeface="Microsoft YaHei UI"/>
                <a:cs typeface="Arial"/>
              </a:rPr>
              <a:t>A</a:t>
            </a:r>
            <a:endParaRPr lang="zh-CN" altLang="en-US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9580C7-3CBC-985D-915D-BF099E6C4A23}"/>
              </a:ext>
            </a:extLst>
          </p:cNvPr>
          <p:cNvSpPr/>
          <p:nvPr/>
        </p:nvSpPr>
        <p:spPr>
          <a:xfrm>
            <a:off x="4938200" y="1830000"/>
            <a:ext cx="3200000" cy="5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en-US" altLang="zh-CN" sz="2200" dirty="0" err="1">
                <a:solidFill>
                  <a:srgbClr val="000000"/>
                </a:solidFill>
                <a:ea typeface="Microsoft YaHei UI"/>
                <a:cs typeface="Arial"/>
              </a:rPr>
              <a:t>SampleSlot</a:t>
            </a:r>
            <a:endParaRPr lang="en-US" altLang="zh-CN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29D20-3D52-ACFA-06FC-ED4338B68543}"/>
              </a:ext>
            </a:extLst>
          </p:cNvPr>
          <p:cNvSpPr/>
          <p:nvPr/>
        </p:nvSpPr>
        <p:spPr>
          <a:xfrm>
            <a:off x="8138200" y="1830000"/>
            <a:ext cx="32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lang="zh-CN" altLang="en-US" sz="2200" dirty="0">
                <a:solidFill>
                  <a:srgbClr val="000000"/>
                </a:solidFill>
                <a:ea typeface="Microsoft YaHei UI"/>
                <a:cs typeface="Arial"/>
              </a:rPr>
              <a:t>线程 </a:t>
            </a:r>
            <a:r>
              <a:rPr lang="en-US" altLang="zh-CN" sz="2200" dirty="0">
                <a:solidFill>
                  <a:srgbClr val="000000"/>
                </a:solidFill>
                <a:ea typeface="Microsoft YaHei UI"/>
                <a:cs typeface="Arial"/>
              </a:rPr>
              <a:t>B</a:t>
            </a:r>
            <a:endParaRPr lang="zh-CN" altLang="en-US" sz="2200" b="0" dirty="0">
              <a:solidFill>
                <a:srgbClr val="000000"/>
              </a:solidFill>
              <a:latin typeface="Arial"/>
              <a:ea typeface="Microsoft YaHei UI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F9EA35-2FDD-DEC1-133C-2BCDC127845D}"/>
              </a:ext>
            </a:extLst>
          </p:cNvPr>
          <p:cNvSpPr txBox="1"/>
          <p:nvPr/>
        </p:nvSpPr>
        <p:spPr>
          <a:xfrm>
            <a:off x="838200" y="1910000"/>
            <a:ext cx="9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ea typeface="Microsoft YaHei UI"/>
                <a:cs typeface="Arial"/>
              </a:rPr>
              <a:t>事件组</a:t>
            </a:r>
            <a:endParaRPr lang="zh-CN" altLang="en-US" sz="14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C1986A-EF7C-37E6-C262-F63CDA47A363}"/>
              </a:ext>
            </a:extLst>
          </p:cNvPr>
          <p:cNvSpPr txBox="1"/>
          <p:nvPr/>
        </p:nvSpPr>
        <p:spPr>
          <a:xfrm>
            <a:off x="1738200" y="2430000"/>
            <a:ext cx="320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dirty="0">
                <a:ea typeface="Microsoft YaHei UI"/>
                <a:cs typeface="Arial"/>
              </a:rPr>
              <a:t>持有组长 </a:t>
            </a:r>
            <a:r>
              <a:rPr lang="en-US" altLang="zh-CN" sz="2200" dirty="0">
                <a:ea typeface="Microsoft YaHei UI"/>
                <a:cs typeface="Arial"/>
              </a:rPr>
              <a:t>L </a:t>
            </a:r>
            <a:r>
              <a:rPr lang="zh-CN" altLang="en-US" sz="2200" dirty="0">
                <a:ea typeface="Microsoft YaHei UI"/>
                <a:cs typeface="Arial"/>
              </a:rPr>
              <a:t>的 </a:t>
            </a:r>
            <a:r>
              <a:rPr lang="en-US" altLang="zh-CN" sz="2200" dirty="0">
                <a:ea typeface="Microsoft YaHei UI"/>
                <a:cs typeface="Arial"/>
              </a:rPr>
              <a:t>Arc</a:t>
            </a:r>
          </a:p>
          <a:p>
            <a:r>
              <a:rPr lang="zh-CN" altLang="en-US" sz="2200" dirty="0">
                <a:ea typeface="Microsoft YaHei UI"/>
                <a:cs typeface="Arial"/>
              </a:rPr>
              <a:t>持有成员 </a:t>
            </a:r>
            <a:r>
              <a:rPr lang="en-US" altLang="zh-CN" sz="2200" dirty="0">
                <a:ea typeface="Microsoft YaHei UI"/>
                <a:cs typeface="Arial"/>
              </a:rPr>
              <a:t>M </a:t>
            </a:r>
            <a:r>
              <a:rPr lang="zh-CN" altLang="en-US" sz="2200" dirty="0">
                <a:ea typeface="Microsoft YaHei UI"/>
                <a:cs typeface="Arial"/>
              </a:rPr>
              <a:t>的 </a:t>
            </a:r>
            <a:r>
              <a:rPr lang="en-US" altLang="zh-CN" sz="2200" dirty="0">
                <a:ea typeface="Microsoft YaHei UI"/>
                <a:cs typeface="Arial"/>
              </a:rPr>
              <a:t>Arc</a:t>
            </a:r>
            <a:endParaRPr lang="zh-CN" altLang="en-US" sz="2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E99F22-C999-23E6-FE87-D7675853906A}"/>
              </a:ext>
            </a:extLst>
          </p:cNvPr>
          <p:cNvSpPr txBox="1"/>
          <p:nvPr/>
        </p:nvSpPr>
        <p:spPr>
          <a:xfrm>
            <a:off x="4938200" y="2430000"/>
            <a:ext cx="320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dirty="0">
                <a:ea typeface="Microsoft YaHei UI"/>
                <a:cs typeface="Arial"/>
              </a:rPr>
              <a:t>保存 </a:t>
            </a:r>
            <a:r>
              <a:rPr lang="en-US" altLang="zh-CN" sz="2200" dirty="0">
                <a:ea typeface="Microsoft YaHei UI"/>
                <a:cs typeface="Arial"/>
              </a:rPr>
              <a:t>M </a:t>
            </a:r>
            <a:r>
              <a:rPr lang="zh-CN" altLang="en-US" sz="2200" dirty="0">
                <a:ea typeface="Microsoft YaHei UI"/>
                <a:cs typeface="Arial"/>
              </a:rPr>
              <a:t>的计数地址</a:t>
            </a:r>
          </a:p>
          <a:p>
            <a:r>
              <a:rPr lang="zh-CN" altLang="en-US" sz="2200" dirty="0">
                <a:ea typeface="Microsoft YaHei UI"/>
                <a:cs typeface="Arial"/>
              </a:rPr>
              <a:t>中断读取 </a:t>
            </a:r>
            <a:r>
              <a:rPr lang="en-US" altLang="zh-CN" sz="2200" dirty="0">
                <a:ea typeface="Microsoft YaHei UI"/>
                <a:cs typeface="Arial"/>
              </a:rPr>
              <a:t>M </a:t>
            </a:r>
            <a:r>
              <a:rPr lang="zh-CN" altLang="en-US" sz="2200" dirty="0">
                <a:ea typeface="Microsoft YaHei UI"/>
                <a:cs typeface="Arial"/>
              </a:rPr>
              <a:t>的计数</a:t>
            </a:r>
            <a:endParaRPr lang="zh-CN" altLang="en-US" sz="2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B26F51-600A-39BD-975B-BBC7B08B793F}"/>
              </a:ext>
            </a:extLst>
          </p:cNvPr>
          <p:cNvSpPr txBox="1"/>
          <p:nvPr/>
        </p:nvSpPr>
        <p:spPr>
          <a:xfrm>
            <a:off x="8138200" y="2430000"/>
            <a:ext cx="320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dirty="0">
                <a:ea typeface="Microsoft YaHei UI"/>
                <a:cs typeface="Arial"/>
              </a:rPr>
              <a:t>没有组内事件</a:t>
            </a:r>
            <a:endParaRPr lang="zh-CN" altLang="en-US" sz="22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9765D4-F11D-8B1D-698E-5EF81A58CF39}"/>
              </a:ext>
            </a:extLst>
          </p:cNvPr>
          <p:cNvSpPr txBox="1"/>
          <p:nvPr/>
        </p:nvSpPr>
        <p:spPr>
          <a:xfrm>
            <a:off x="838200" y="3888000"/>
            <a:ext cx="10744200" cy="18620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3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300" dirty="0" err="1">
                <a:latin typeface="Consolas" panose="020B0609020204030204" pitchFamily="49" charset="0"/>
                <a:cs typeface="Consolas" panose="020B0609020204030204" pitchFamily="49" charset="0"/>
              </a:rPr>
              <a:t>ptc.is_sampling</a:t>
            </a:r>
            <a:r>
              <a:rPr lang="en-US" altLang="zh-CN" sz="23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US" altLang="zh-CN" sz="23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2300" dirty="0" err="1">
                <a:latin typeface="Consolas" panose="020B0609020204030204" pitchFamily="49" charset="0"/>
                <a:cs typeface="Consolas" panose="020B0609020204030204" pitchFamily="49" charset="0"/>
              </a:rPr>
              <a:t>ax_cpu</a:t>
            </a:r>
            <a:r>
              <a:rPr lang="en-US" altLang="zh-CN" sz="23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altLang="zh-CN" sz="2300" dirty="0" err="1">
                <a:latin typeface="Consolas" panose="020B0609020204030204" pitchFamily="49" charset="0"/>
                <a:cs typeface="Consolas" panose="020B0609020204030204" pitchFamily="49" charset="0"/>
              </a:rPr>
              <a:t>pmu</a:t>
            </a:r>
            <a:r>
              <a:rPr lang="en-US" altLang="zh-CN" sz="2300" dirty="0">
                <a:latin typeface="Consolas" panose="020B0609020204030204" pitchFamily="49" charset="0"/>
                <a:cs typeface="Consolas" panose="020B0609020204030204" pitchFamily="49" charset="0"/>
              </a:rPr>
              <a:t>::counter::disable(n);</a:t>
            </a:r>
          </a:p>
          <a:p>
            <a:r>
              <a:rPr lang="en-US" altLang="zh-CN" sz="23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2300" dirty="0" err="1">
                <a:latin typeface="Consolas" panose="020B0609020204030204" pitchFamily="49" charset="0"/>
                <a:cs typeface="Consolas" panose="020B0609020204030204" pitchFamily="49" charset="0"/>
              </a:rPr>
              <a:t>ax_cpu</a:t>
            </a:r>
            <a:r>
              <a:rPr lang="en-US" altLang="zh-CN" sz="23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altLang="zh-CN" sz="2300" dirty="0" err="1">
                <a:latin typeface="Consolas" panose="020B0609020204030204" pitchFamily="49" charset="0"/>
                <a:cs typeface="Consolas" panose="020B0609020204030204" pitchFamily="49" charset="0"/>
              </a:rPr>
              <a:t>pmu</a:t>
            </a:r>
            <a:r>
              <a:rPr lang="en-US" altLang="zh-CN" sz="2300" dirty="0">
                <a:latin typeface="Consolas" panose="020B0609020204030204" pitchFamily="49" charset="0"/>
                <a:cs typeface="Consolas" panose="020B0609020204030204" pitchFamily="49" charset="0"/>
              </a:rPr>
              <a:t>::overflow::</a:t>
            </a:r>
            <a:r>
              <a:rPr lang="en-US" altLang="zh-CN" sz="2300" dirty="0" err="1">
                <a:latin typeface="Consolas" panose="020B0609020204030204" pitchFamily="49" charset="0"/>
                <a:cs typeface="Consolas" panose="020B0609020204030204" pitchFamily="49" charset="0"/>
              </a:rPr>
              <a:t>disable_irq</a:t>
            </a:r>
            <a:r>
              <a:rPr lang="en-US" altLang="zh-CN" sz="2300" dirty="0">
                <a:latin typeface="Consolas" panose="020B0609020204030204" pitchFamily="49" charset="0"/>
                <a:cs typeface="Consolas" panose="020B0609020204030204" pitchFamily="49" charset="0"/>
              </a:rPr>
              <a:t>(n);</a:t>
            </a:r>
          </a:p>
          <a:p>
            <a:r>
              <a:rPr lang="en-US" altLang="zh-CN" sz="2300" dirty="0">
                <a:latin typeface="Consolas" panose="020B0609020204030204" pitchFamily="49" charset="0"/>
                <a:cs typeface="Consolas" panose="020B0609020204030204" pitchFamily="49" charset="0"/>
              </a:rPr>
              <a:t>    sampling::unregister(n);</a:t>
            </a:r>
          </a:p>
          <a:p>
            <a:r>
              <a:rPr lang="en-US" altLang="zh-CN" sz="23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1EC763-221E-76C1-7348-9459D6CE379C}"/>
              </a:ext>
            </a:extLst>
          </p:cNvPr>
          <p:cNvSpPr txBox="1"/>
          <p:nvPr/>
        </p:nvSpPr>
        <p:spPr>
          <a:xfrm>
            <a:off x="838200" y="3312000"/>
            <a:ext cx="107442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调出时撤销登记；列表引用保留到线程对象销毁</a:t>
            </a:r>
            <a:endParaRPr lang="en-CN" sz="2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5582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E565E-524F-D353-DD20-C2EBA6421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67AA8F51-FC06-80FE-F233-EE5C7C425347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事件组成员的线程归属</a:t>
            </a:r>
            <a:endParaRPr lang="en-US" sz="3200" dirty="0" err="1">
              <a:latin typeface="Arial" panose="020B0604020202020204" pitchFamily="34" charset="0"/>
              <a:ea typeface="Microsoft YaHei U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AB3FC7-18C0-37FD-85B1-AE411E8171AA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53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B7DA47-810A-24D8-8884-0E67DD79DFFA}"/>
              </a:ext>
            </a:extLst>
          </p:cNvPr>
          <p:cNvSpPr txBox="1"/>
          <p:nvPr/>
        </p:nvSpPr>
        <p:spPr>
          <a:xfrm>
            <a:off x="838200" y="2377440"/>
            <a:ext cx="10744200" cy="12464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5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altLang="zh-CN" sz="25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leader.owner_tid</a:t>
            </a:r>
            <a:r>
              <a:rPr lang="en-US" altLang="zh-CN" sz="25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!= </a:t>
            </a:r>
            <a:r>
              <a:rPr lang="en-US" altLang="zh-CN" sz="25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member.owner_tid</a:t>
            </a:r>
            <a:r>
              <a:rPr lang="en-US" altLang="zh-CN" sz="25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US" altLang="zh-CN" sz="25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5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return </a:t>
            </a:r>
            <a:r>
              <a:rPr lang="en-US" altLang="zh-CN" sz="25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Err(</a:t>
            </a:r>
            <a:r>
              <a:rPr lang="en-US" altLang="zh-CN" sz="2500" b="0" i="0" u="none" strike="noStrike" baseline="0" dirty="0" err="1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AxError</a:t>
            </a:r>
            <a:r>
              <a:rPr lang="en-US" altLang="zh-CN" sz="25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altLang="zh-CN" sz="2500" b="0" i="0" u="none" strike="noStrike" baseline="0" dirty="0" err="1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InvalidInput</a:t>
            </a:r>
            <a:r>
              <a:rPr lang="en-US" altLang="zh-CN" sz="25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altLang="zh-CN" sz="25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5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CN" sz="25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3328B2-24BC-458B-D998-64AA061C70DD}"/>
              </a:ext>
            </a:extLst>
          </p:cNvPr>
          <p:cNvSpPr txBox="1"/>
          <p:nvPr/>
        </p:nvSpPr>
        <p:spPr>
          <a:xfrm>
            <a:off x="838200" y="4053840"/>
            <a:ext cx="107442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组长 </a:t>
            </a:r>
            <a:r>
              <a:rPr lang="en-US" altLang="zh-CN" sz="2300" dirty="0">
                <a:latin typeface="Arial" panose="020B0604020202020204" pitchFamily="34" charset="0"/>
                <a:cs typeface="Arial" panose="020B0604020202020204" pitchFamily="34" charset="0"/>
              </a:rPr>
              <a:t>TID 41</a:t>
            </a:r>
            <a:r>
              <a:rPr lang="zh-CN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，成员 </a:t>
            </a:r>
            <a:r>
              <a:rPr lang="en-US" altLang="zh-CN" sz="2300" dirty="0">
                <a:latin typeface="Arial" panose="020B0604020202020204" pitchFamily="34" charset="0"/>
                <a:cs typeface="Arial" panose="020B0604020202020204" pitchFamily="34" charset="0"/>
              </a:rPr>
              <a:t>TID 52</a:t>
            </a:r>
            <a:r>
              <a:rPr lang="zh-CN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　返回 </a:t>
            </a:r>
            <a:r>
              <a:rPr lang="en-US" altLang="zh-CN" sz="2300" dirty="0">
                <a:latin typeface="Arial" panose="020B0604020202020204" pitchFamily="34" charset="0"/>
                <a:cs typeface="Arial" panose="020B0604020202020204" pitchFamily="34" charset="0"/>
              </a:rPr>
              <a:t>EINVAL</a:t>
            </a:r>
          </a:p>
          <a:p>
            <a:r>
              <a:rPr lang="zh-CN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组长 </a:t>
            </a:r>
            <a:r>
              <a:rPr lang="en-US" altLang="zh-CN" sz="2300" dirty="0">
                <a:latin typeface="Arial" panose="020B0604020202020204" pitchFamily="34" charset="0"/>
                <a:cs typeface="Arial" panose="020B0604020202020204" pitchFamily="34" charset="0"/>
              </a:rPr>
              <a:t>TID 41</a:t>
            </a:r>
            <a:r>
              <a:rPr lang="zh-CN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，成员 </a:t>
            </a:r>
            <a:r>
              <a:rPr lang="en-US" altLang="zh-CN" sz="2300" dirty="0">
                <a:latin typeface="Arial" panose="020B0604020202020204" pitchFamily="34" charset="0"/>
                <a:cs typeface="Arial" panose="020B0604020202020204" pitchFamily="34" charset="0"/>
              </a:rPr>
              <a:t>TID 41</a:t>
            </a:r>
            <a:r>
              <a:rPr lang="zh-CN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　继续创建成员</a:t>
            </a:r>
            <a:endParaRPr lang="en-CN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4125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8EB85-66D3-7BE5-23C9-70D92382C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61E1919-56CC-EF15-5EEE-8E5808723790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事件组的回归测试</a:t>
            </a:r>
            <a:endParaRPr lang="en-US" sz="3200" dirty="0" err="1">
              <a:latin typeface="Arial" panose="020B0604020202020204" pitchFamily="34" charset="0"/>
              <a:ea typeface="Microsoft YaHei U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5CE383-0A75-2048-B71A-E56BF42DE174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54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3A4893-A05B-845D-3C16-39DE03C37F59}"/>
              </a:ext>
            </a:extLst>
          </p:cNvPr>
          <p:cNvSpPr txBox="1"/>
          <p:nvPr/>
        </p:nvSpPr>
        <p:spPr>
          <a:xfrm>
            <a:off x="838200" y="1628507"/>
            <a:ext cx="10218683" cy="36009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9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long </a:t>
            </a:r>
            <a:r>
              <a:rPr lang="en-US" altLang="zh-CN" sz="1900" b="0" i="0" u="none" strike="noStrike" baseline="0" dirty="0" err="1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xfd</a:t>
            </a:r>
            <a:r>
              <a:rPr lang="en-US" altLang="zh-CN" sz="19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9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perf_event_open</a:t>
            </a:r>
            <a:r>
              <a:rPr lang="en-US" altLang="zh-CN" sz="19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lang="en-US" altLang="zh-CN" sz="19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mattr</a:t>
            </a:r>
            <a:r>
              <a:rPr lang="en-US" altLang="zh-CN" sz="19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9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s.b_tid</a:t>
            </a:r>
            <a:r>
              <a:rPr lang="en-US" altLang="zh-CN" sz="19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-</a:t>
            </a:r>
            <a:r>
              <a:rPr lang="en-US" altLang="zh-CN" sz="19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1, leader, 0ul);</a:t>
            </a:r>
            <a:br>
              <a:rPr lang="en-US" altLang="zh-CN" sz="19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19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sz="1900" b="0" i="0" u="none" strike="noStrike" baseline="0" dirty="0" err="1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xerr</a:t>
            </a:r>
            <a:r>
              <a:rPr lang="en-US" altLang="zh-CN" sz="19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900" b="0" i="0" u="none" strike="noStrike" baseline="0" dirty="0" err="1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errno</a:t>
            </a:r>
            <a:r>
              <a:rPr lang="en-US" altLang="zh-CN" sz="19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altLang="zh-CN" sz="19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19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US" altLang="zh-CN" sz="19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xfd</a:t>
            </a:r>
            <a:r>
              <a:rPr lang="en-US" altLang="zh-CN" sz="19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&gt;= </a:t>
            </a:r>
            <a:r>
              <a:rPr lang="en-US" altLang="zh-CN" sz="19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0) {</a:t>
            </a:r>
            <a:br>
              <a:rPr lang="en-US" altLang="zh-CN" sz="19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19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sz="1900" b="0" i="0" u="none" strike="noStrike" baseline="0" dirty="0" err="1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rc</a:t>
            </a:r>
            <a:r>
              <a:rPr lang="en-US" altLang="zh-CN" sz="19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  <a:br>
              <a:rPr lang="en-US" altLang="zh-CN" sz="19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19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r>
              <a:rPr lang="en-US" altLang="zh-CN" sz="19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 if (</a:t>
            </a:r>
            <a:r>
              <a:rPr lang="en-US" altLang="zh-CN" sz="19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xerr</a:t>
            </a:r>
            <a:r>
              <a:rPr lang="en-US" altLang="zh-CN" sz="19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!= EINVAL) {</a:t>
            </a:r>
            <a:br>
              <a:rPr lang="en-US" altLang="zh-CN" sz="19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19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sz="19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rc</a:t>
            </a:r>
            <a:r>
              <a:rPr lang="en-US" altLang="zh-CN" sz="19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9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1;</a:t>
            </a:r>
            <a:br>
              <a:rPr lang="en-US" altLang="zh-CN" sz="19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19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altLang="zh-CN" sz="19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altLang="zh-CN" sz="19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19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long </a:t>
            </a:r>
            <a:r>
              <a:rPr lang="en-US" altLang="zh-CN" sz="1900" b="0" i="0" u="none" strike="noStrike" baseline="0" dirty="0" err="1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sfd</a:t>
            </a:r>
            <a:r>
              <a:rPr lang="en-US" altLang="zh-CN" sz="1900" b="0" i="0" u="none" strike="noStrike" baseline="0" dirty="0">
                <a:solidFill>
                  <a:srgbClr val="7D359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9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perf_event_open</a:t>
            </a:r>
            <a:r>
              <a:rPr lang="en-US" altLang="zh-CN" sz="19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lang="en-US" altLang="zh-CN" sz="19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sattr</a:t>
            </a:r>
            <a:r>
              <a:rPr lang="en-US" altLang="zh-CN" sz="19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900" b="0" i="0" u="none" strike="noStrike" baseline="0" dirty="0" err="1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self_tid</a:t>
            </a:r>
            <a:r>
              <a:rPr lang="en-US" altLang="zh-CN" sz="1900" b="0" i="0" u="none" strike="noStrike" baseline="0" dirty="0">
                <a:solidFill>
                  <a:srgbClr val="137E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-</a:t>
            </a:r>
            <a:r>
              <a:rPr lang="en-US" altLang="zh-CN" sz="19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1, leader, 0ul);</a:t>
            </a:r>
            <a:br>
              <a:rPr lang="en-US" altLang="zh-CN" sz="19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19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US" altLang="zh-CN" sz="1900" b="0" i="0" u="none" strike="noStrike" baseline="0" dirty="0" err="1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sfd</a:t>
            </a:r>
            <a:r>
              <a:rPr lang="en-US" altLang="zh-CN" sz="1900" b="0" i="0" u="none" strike="noStrike" baseline="0" dirty="0">
                <a:solidFill>
                  <a:srgbClr val="165AB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US" altLang="zh-CN" sz="19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0) {</a:t>
            </a:r>
            <a:br>
              <a:rPr lang="en-US" altLang="zh-CN" sz="19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19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sz="1900" b="0" i="0" u="none" strike="noStrike" baseline="0" dirty="0" err="1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rc</a:t>
            </a:r>
            <a:r>
              <a:rPr lang="en-US" altLang="zh-CN" sz="19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  <a:br>
              <a:rPr lang="en-US" altLang="zh-CN" sz="19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1900" b="0" i="0" u="none" strike="noStrike" baseline="0" dirty="0">
                <a:solidFill>
                  <a:srgbClr val="A84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CN" sz="19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6C21DA-4E9A-0351-2F41-A74312898ECD}"/>
              </a:ext>
            </a:extLst>
          </p:cNvPr>
          <p:cNvSpPr txBox="1"/>
          <p:nvPr/>
        </p:nvSpPr>
        <p:spPr>
          <a:xfrm>
            <a:off x="838200" y="5436000"/>
            <a:ext cx="1074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GRP-2 PASS cross-thread member EINVAL;</a:t>
            </a:r>
          </a:p>
          <a:p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same-thread member opens (UAF gate holds)</a:t>
            </a:r>
            <a:endParaRPr lang="en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832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76DE3-834B-B209-1EEC-A799BC40A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9AF454-9288-4CC9-C8FF-236340D05855}"/>
              </a:ext>
            </a:extLst>
          </p:cNvPr>
          <p:cNvSpPr txBox="1"/>
          <p:nvPr/>
        </p:nvSpPr>
        <p:spPr>
          <a:xfrm>
            <a:off x="838200" y="659219"/>
            <a:ext cx="1038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zh-CN" altLang="en-US" sz="32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组采样的板级检查</a:t>
            </a:r>
            <a:endParaRPr lang="en-CN" sz="3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6801EE-9EA7-86FE-4680-B76878F48E1A}"/>
              </a:ext>
            </a:extLst>
          </p:cNvPr>
          <p:cNvSpPr txBox="1"/>
          <p:nvPr/>
        </p:nvSpPr>
        <p:spPr>
          <a:xfrm>
            <a:off x="10855842" y="6273209"/>
            <a:ext cx="499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>
                <a:ea typeface="Microsoft YaHei UI"/>
                <a:cs typeface="Arial"/>
              </a:rPr>
              <a:t>55</a:t>
            </a:r>
            <a:endParaRPr lang="zh-CN" altLang="en-US" sz="1100" b="0" dirty="0">
              <a:latin typeface="Arial"/>
              <a:ea typeface="Microsoft YaHei UI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8D7FF2-88CB-F1F3-5DD4-1684DD0E4CCF}"/>
              </a:ext>
            </a:extLst>
          </p:cNvPr>
          <p:cNvSpPr txBox="1"/>
          <p:nvPr/>
        </p:nvSpPr>
        <p:spPr>
          <a:xfrm>
            <a:off x="838200" y="1513840"/>
            <a:ext cx="1074420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ok = !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wr.failed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&amp;&amp;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wr.samples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&gt;= 2 &amp;&amp;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wr.bad_nr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== 0 &amp;&amp;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wr.bad_id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== 0 &amp;&amp;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wr.zero_memb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== 0;</a:t>
            </a:r>
            <a:endParaRPr lang="en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16E938-ADEE-9B3D-92CE-767FD8273AD5}"/>
              </a:ext>
            </a:extLst>
          </p:cNvPr>
          <p:cNvSpPr txBox="1"/>
          <p:nvPr/>
        </p:nvSpPr>
        <p:spPr>
          <a:xfrm>
            <a:off x="838200" y="3240000"/>
            <a:ext cx="10744200" cy="4308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>
                <a:latin typeface="Consolas" panose="020B0609020204030204" pitchFamily="49" charset="0"/>
                <a:cs typeface="Consolas" panose="020B0609020204030204" pitchFamily="49" charset="0"/>
              </a:rPr>
              <a:t>SREAD-2 PASS group-sample samples=244 nr==2 ids-match</a:t>
            </a:r>
            <a:endParaRPr lang="en-CN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D1CB81-5417-B0A6-BD32-B05F02D2AC22}"/>
              </a:ext>
            </a:extLst>
          </p:cNvPr>
          <p:cNvSpPr txBox="1"/>
          <p:nvPr/>
        </p:nvSpPr>
        <p:spPr>
          <a:xfrm>
            <a:off x="838200" y="4746324"/>
            <a:ext cx="107442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负载读取 </a:t>
            </a: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/dev/zero</a:t>
            </a:r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，每次 </a:t>
            </a: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4096 B</a:t>
            </a:r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，循环上限 </a:t>
            </a: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400000 </a:t>
            </a:r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次</a:t>
            </a:r>
          </a:p>
          <a:p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负载期间启用事件组，停用后解析共享缓冲区</a:t>
            </a:r>
          </a:p>
          <a:p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检查已解析样本的 </a:t>
            </a: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nr = 2</a:t>
            </a:r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、事件 </a:t>
            </a:r>
            <a:r>
              <a:rPr lang="en-US" altLang="zh-CN" sz="2100" dirty="0">
                <a:latin typeface="Consolas" panose="020B0609020204030204" pitchFamily="49" charset="0"/>
                <a:cs typeface="Consolas" panose="020B0609020204030204" pitchFamily="49" charset="0"/>
              </a:rPr>
              <a:t>ID </a:t>
            </a:r>
            <a:r>
              <a:rPr lang="zh-CN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与成员计数非零</a:t>
            </a:r>
            <a:endParaRPr lang="en-CN" sz="2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603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11149</TotalTime>
  <Words>4923</Words>
  <Application>Microsoft Macintosh PowerPoint</Application>
  <PresentationFormat>Widescreen</PresentationFormat>
  <Paragraphs>830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0" baseType="lpstr">
      <vt:lpstr>Microsoft YaHei UI</vt:lpstr>
      <vt:lpstr>Aptos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jsph273</dc:creator>
  <cp:lastModifiedBy>jsph273</cp:lastModifiedBy>
  <cp:revision>515</cp:revision>
  <cp:lastPrinted>2026-10-18T08:40:41Z</cp:lastPrinted>
  <dcterms:created xsi:type="dcterms:W3CDTF">2026-09-17T06:43:22Z</dcterms:created>
  <dcterms:modified xsi:type="dcterms:W3CDTF">2026-10-18T11:26:59Z</dcterms:modified>
</cp:coreProperties>
</file>